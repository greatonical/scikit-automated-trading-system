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84" r:id="rId17"/>
    <p:sldId id="283" r:id="rId18"/>
    <p:sldId id="270" r:id="rId19"/>
    <p:sldId id="271" r:id="rId20"/>
    <p:sldId id="272" r:id="rId21"/>
    <p:sldId id="273" r:id="rId22"/>
    <p:sldId id="274" r:id="rId23"/>
    <p:sldId id="275" r:id="rId24"/>
    <p:sldId id="276" r:id="rId25"/>
    <p:sldId id="285" r:id="rId26"/>
    <p:sldId id="277" r:id="rId27"/>
    <p:sldId id="278" r:id="rId28"/>
    <p:sldId id="279" r:id="rId29"/>
    <p:sldId id="280" r:id="rId30"/>
    <p:sldId id="281" r:id="rId31"/>
    <p:sldId id="282" r:id="rId32"/>
  </p:sldIdLst>
  <p:sldSz cx="9144000" cy="5143500" type="screen16x9"/>
  <p:notesSz cx="6858000" cy="9144000"/>
  <p:embeddedFontLst>
    <p:embeddedFont>
      <p:font typeface="Oswald" pitchFamily="2" charset="77"/>
      <p:regular r:id="rId34"/>
      <p:bold r:id="rId35"/>
    </p:embeddedFont>
    <p:embeddedFont>
      <p:font typeface="Source Code Pro" panose="020B0509030403020204"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1B597B-DB9A-4BB6-B02E-52FB25035AD1}">
  <a:tblStyle styleId="{021B597B-DB9A-4BB6-B02E-52FB25035AD1}"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48"/>
  </p:normalViewPr>
  <p:slideViewPr>
    <p:cSldViewPr snapToGrid="0">
      <p:cViewPr varScale="1">
        <p:scale>
          <a:sx n="162" d="100"/>
          <a:sy n="162" d="100"/>
        </p:scale>
        <p:origin x="20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41c9e74907_2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41c9e74907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41c9e74907_2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41c9e74907_2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41c9e74907_2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41c9e74907_2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41c9e74907_2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41c9e74907_2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41c9e74907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41c9e74907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41c9e74907_2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41c9e74907_2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41c9e74907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41c9e74907_2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41c9e74907_2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41c9e74907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41c9e74907_2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41c9e74907_2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41c9e74907_2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41c9e74907_2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41c9e74907_2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41c9e74907_2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41c9e74907_2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41c9e74907_2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41c9e74907_2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41c9e74907_2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41c9e74907_2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41c9e74907_2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6823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41c9e74907_2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41c9e74907_2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38322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41c9e74907_2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41c9e74907_2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41c9e74907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41c9e74907_2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41c9e74907_2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41c9e74907_2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41c9e74907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41c9e74907_2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41c9e74907_2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41c9e74907_2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41c9e74907_2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41c9e74907_2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41c9e74907_2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41c9e74907_2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41c9e74907_2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41c9e74907_2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67567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41c9e74907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41c9e74907_2_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41c9e74907_2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41c9e74907_2_1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1c9e7490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41c9e74907_7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1c9e74907_2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41c9e74907_2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1c9e74907_7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41c9e74907_7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1c9e74907_2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41c9e74907_2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430800" y="1889700"/>
            <a:ext cx="8282400" cy="1516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6" name="Google Shape;26;p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468825"/>
            <a:ext cx="3999900" cy="3099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468825"/>
            <a:ext cx="3999900" cy="3099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35" name="Google Shape;35;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 name="Google Shape;36;p7"/>
          <p:cNvSpPr txBox="1">
            <a:spLocks noGrp="1"/>
          </p:cNvSpPr>
          <p:nvPr>
            <p:ph type="body" idx="1"/>
          </p:nvPr>
        </p:nvSpPr>
        <p:spPr>
          <a:xfrm>
            <a:off x="311700" y="1618204"/>
            <a:ext cx="2808000" cy="2950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90250" y="528900"/>
            <a:ext cx="5678100" cy="40857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44" name="Google Shape;44;p9"/>
          <p:cNvSpPr txBox="1">
            <a:spLocks noGrp="1"/>
          </p:cNvSpPr>
          <p:nvPr>
            <p:ph type="title"/>
          </p:nvPr>
        </p:nvSpPr>
        <p:spPr>
          <a:xfrm>
            <a:off x="265500" y="1078750"/>
            <a:ext cx="4045200" cy="1789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a:endParaRPr/>
          </a:p>
        </p:txBody>
      </p:sp>
      <p:sp>
        <p:nvSpPr>
          <p:cNvPr id="45" name="Google Shape;45;p9"/>
          <p:cNvSpPr txBox="1">
            <a:spLocks noGrp="1"/>
          </p:cNvSpPr>
          <p:nvPr>
            <p:ph type="subTitle" idx="1"/>
          </p:nvPr>
        </p:nvSpPr>
        <p:spPr>
          <a:xfrm>
            <a:off x="265500" y="29214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2"/>
        <p:cNvGrpSpPr/>
        <p:nvPr/>
      </p:nvGrpSpPr>
      <p:grpSpPr>
        <a:xfrm>
          <a:off x="0" y="0"/>
          <a:ext cx="0" cy="0"/>
          <a:chOff x="0" y="0"/>
          <a:chExt cx="0" cy="0"/>
        </a:xfrm>
      </p:grpSpPr>
      <p:sp>
        <p:nvSpPr>
          <p:cNvPr id="63" name="Google Shape;63;p14"/>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4"/>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4"/>
          <p:cNvSpPr txBox="1">
            <a:spLocks noGrp="1"/>
          </p:cNvSpPr>
          <p:nvPr>
            <p:ph type="ctrTitle"/>
          </p:nvPr>
        </p:nvSpPr>
        <p:spPr>
          <a:xfrm>
            <a:off x="411175" y="644300"/>
            <a:ext cx="8282400" cy="210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6" name="Google Shape;66;p14"/>
          <p:cNvSpPr txBox="1">
            <a:spLocks noGrp="1"/>
          </p:cNvSpPr>
          <p:nvPr>
            <p:ph type="subTitle" idx="1"/>
          </p:nvPr>
        </p:nvSpPr>
        <p:spPr>
          <a:xfrm>
            <a:off x="411175" y="3398250"/>
            <a:ext cx="8282400" cy="126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67" name="Google Shape;6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cxnSp>
        <p:nvCxnSpPr>
          <p:cNvPr id="69" name="Google Shape;69;p1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70" name="Google Shape;70;p15"/>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1" name="Google Shape;71;p15"/>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2" name="Google Shape;7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
        <p:cNvGrpSpPr/>
        <p:nvPr/>
      </p:nvGrpSpPr>
      <p:grpSpPr>
        <a:xfrm>
          <a:off x="0" y="0"/>
          <a:ext cx="0" cy="0"/>
          <a:chOff x="0" y="0"/>
          <a:chExt cx="0" cy="0"/>
        </a:xfrm>
      </p:grpSpPr>
      <p:sp>
        <p:nvSpPr>
          <p:cNvPr id="74" name="Google Shape;74;p16"/>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6"/>
          <p:cNvSpPr txBox="1">
            <a:spLocks noGrp="1"/>
          </p:cNvSpPr>
          <p:nvPr>
            <p:ph type="title"/>
          </p:nvPr>
        </p:nvSpPr>
        <p:spPr>
          <a:xfrm>
            <a:off x="430800" y="1889700"/>
            <a:ext cx="8282400" cy="1516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76" name="Google Shape;7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cxnSp>
        <p:nvCxnSpPr>
          <p:cNvPr id="78" name="Google Shape;78;p17"/>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79" name="Google Shape;79;p17"/>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80" name="Google Shape;80;p17"/>
          <p:cNvSpPr txBox="1">
            <a:spLocks noGrp="1"/>
          </p:cNvSpPr>
          <p:nvPr>
            <p:ph type="body" idx="1"/>
          </p:nvPr>
        </p:nvSpPr>
        <p:spPr>
          <a:xfrm>
            <a:off x="311700" y="1468825"/>
            <a:ext cx="3999900" cy="3099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1" name="Google Shape;81;p17"/>
          <p:cNvSpPr txBox="1">
            <a:spLocks noGrp="1"/>
          </p:cNvSpPr>
          <p:nvPr>
            <p:ph type="body" idx="2"/>
          </p:nvPr>
        </p:nvSpPr>
        <p:spPr>
          <a:xfrm>
            <a:off x="4832400" y="1468825"/>
            <a:ext cx="3999900" cy="3099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2" name="Google Shape;8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85" name="Google Shape;85;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6"/>
        <p:cNvGrpSpPr/>
        <p:nvPr/>
      </p:nvGrpSpPr>
      <p:grpSpPr>
        <a:xfrm>
          <a:off x="0" y="0"/>
          <a:ext cx="0" cy="0"/>
          <a:chOff x="0" y="0"/>
          <a:chExt cx="0" cy="0"/>
        </a:xfrm>
      </p:grpSpPr>
      <p:cxnSp>
        <p:nvCxnSpPr>
          <p:cNvPr id="87" name="Google Shape;87;p19"/>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88" name="Google Shape;88;p19"/>
          <p:cNvSpPr txBox="1">
            <a:spLocks noGrp="1"/>
          </p:cNvSpPr>
          <p:nvPr>
            <p:ph type="title"/>
          </p:nvPr>
        </p:nvSpPr>
        <p:spPr>
          <a:xfrm>
            <a:off x="311700" y="6318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9" name="Google Shape;89;p19"/>
          <p:cNvSpPr txBox="1">
            <a:spLocks noGrp="1"/>
          </p:cNvSpPr>
          <p:nvPr>
            <p:ph type="body" idx="1"/>
          </p:nvPr>
        </p:nvSpPr>
        <p:spPr>
          <a:xfrm>
            <a:off x="311700" y="1618204"/>
            <a:ext cx="2808000" cy="29508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90" name="Google Shape;9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490250" y="528900"/>
            <a:ext cx="5678100" cy="408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a:endParaRPr/>
          </a:p>
        </p:txBody>
      </p:sp>
      <p:sp>
        <p:nvSpPr>
          <p:cNvPr id="93" name="Google Shape;9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94"/>
        <p:cNvGrpSpPr/>
        <p:nvPr/>
      </p:nvGrpSpPr>
      <p:grpSpPr>
        <a:xfrm>
          <a:off x="0" y="0"/>
          <a:ext cx="0" cy="0"/>
          <a:chOff x="0" y="0"/>
          <a:chExt cx="0" cy="0"/>
        </a:xfrm>
      </p:grpSpPr>
      <p:sp>
        <p:nvSpPr>
          <p:cNvPr id="95" name="Google Shape;95;p21"/>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6" name="Google Shape;96;p21"/>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97" name="Google Shape;97;p21"/>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a:endParaRPr/>
          </a:p>
        </p:txBody>
      </p:sp>
      <p:sp>
        <p:nvSpPr>
          <p:cNvPr id="98" name="Google Shape;98;p21"/>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99" name="Google Shape;99;p21"/>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00" name="Google Shape;10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1"/>
        <p:cNvGrpSpPr/>
        <p:nvPr/>
      </p:nvGrpSpPr>
      <p:grpSpPr>
        <a:xfrm>
          <a:off x="0" y="0"/>
          <a:ext cx="0" cy="0"/>
          <a:chOff x="0" y="0"/>
          <a:chExt cx="0" cy="0"/>
        </a:xfrm>
      </p:grpSpPr>
      <p:sp>
        <p:nvSpPr>
          <p:cNvPr id="102" name="Google Shape;102;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103" name="Google Shape;103;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4"/>
        <p:cNvGrpSpPr/>
        <p:nvPr/>
      </p:nvGrpSpPr>
      <p:grpSpPr>
        <a:xfrm>
          <a:off x="0" y="0"/>
          <a:ext cx="0" cy="0"/>
          <a:chOff x="0" y="0"/>
          <a:chExt cx="0" cy="0"/>
        </a:xfrm>
      </p:grpSpPr>
      <p:cxnSp>
        <p:nvCxnSpPr>
          <p:cNvPr id="105" name="Google Shape;105;p23"/>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106" name="Google Shape;106;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07" name="Google Shape;107;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08" name="Google Shape;108;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
        <p:nvSpPr>
          <p:cNvPr id="110" name="Google Shape;11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1pPr>
            <a:lvl2pPr marR="0" lvl="1"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2pPr>
            <a:lvl3pPr marR="0" lvl="2"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3pPr>
            <a:lvl4pPr marR="0" lvl="3"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4pPr>
            <a:lvl5pPr marR="0" lvl="4"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5pPr>
            <a:lvl6pPr marR="0" lvl="5"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6pPr>
            <a:lvl7pPr marR="0" lvl="6"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7pPr>
            <a:lvl8pPr marR="0" lvl="7"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8pPr>
            <a:lvl9pPr marR="0" lvl="8"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9pPr>
          </a:lstStyle>
          <a:p>
            <a:endParaRPr/>
          </a:p>
        </p:txBody>
      </p:sp>
      <p:sp>
        <p:nvSpPr>
          <p:cNvPr id="60" name="Google Shape;60;p13"/>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Source Code Pro"/>
              <a:buChar char="●"/>
              <a:defRPr sz="1800" b="0" i="0" u="none" strike="noStrike" cap="none">
                <a:solidFill>
                  <a:schemeClr val="dk2"/>
                </a:solidFill>
                <a:latin typeface="Source Code Pro"/>
                <a:ea typeface="Source Code Pro"/>
                <a:cs typeface="Source Code Pro"/>
                <a:sym typeface="Source Code Pro"/>
              </a:defRPr>
            </a:lvl1pPr>
            <a:lvl2pPr marL="914400" marR="0" lvl="1"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2pPr>
            <a:lvl3pPr marL="1371600" marR="0" lvl="2"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3pPr>
            <a:lvl4pPr marL="1828800" marR="0" lvl="3"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4pPr>
            <a:lvl5pPr marL="2286000" marR="0" lvl="4"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5pPr>
            <a:lvl6pPr marL="2743200" marR="0" lvl="5"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6pPr>
            <a:lvl7pPr marL="3200400" marR="0" lvl="6"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7pPr>
            <a:lvl8pPr marL="3657600" marR="0" lvl="7"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8pPr>
            <a:lvl9pPr marL="4114800" marR="0" lvl="8" indent="-317500" algn="l" rtl="0">
              <a:lnSpc>
                <a:spcPct val="115000"/>
              </a:lnSpc>
              <a:spcBef>
                <a:spcPts val="1600"/>
              </a:spcBef>
              <a:spcAft>
                <a:spcPts val="160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9pPr>
          </a:lstStyle>
          <a:p>
            <a:endParaRPr/>
          </a:p>
        </p:txBody>
      </p:sp>
      <p:sp>
        <p:nvSpPr>
          <p:cNvPr id="61" name="Google Shape;6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www.who.int/mediacentre/factsheets/fs348/en/index.html" TargetMode="External"/><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hyperlink" Target="http://www.countdown2015mnch.org/documents/2012Report/2012-complete-no-profile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5"/>
          <p:cNvSpPr txBox="1">
            <a:spLocks noGrp="1"/>
          </p:cNvSpPr>
          <p:nvPr>
            <p:ph type="ctrTitle"/>
          </p:nvPr>
        </p:nvSpPr>
        <p:spPr>
          <a:xfrm>
            <a:off x="55750" y="0"/>
            <a:ext cx="9023100" cy="308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dirty="0"/>
              <a:t>CPE 503 PRESENTATION</a:t>
            </a:r>
            <a:endParaRPr sz="3000" dirty="0"/>
          </a:p>
          <a:p>
            <a:pPr marL="0" lvl="0" indent="0" algn="ctr" rtl="0">
              <a:spcBef>
                <a:spcPts val="0"/>
              </a:spcBef>
              <a:spcAft>
                <a:spcPts val="0"/>
              </a:spcAft>
              <a:buNone/>
            </a:pPr>
            <a:endParaRPr sz="3000" dirty="0"/>
          </a:p>
          <a:p>
            <a:pPr marL="0" lvl="0" indent="0" algn="ctr" rtl="0">
              <a:spcBef>
                <a:spcPts val="0"/>
              </a:spcBef>
              <a:spcAft>
                <a:spcPts val="0"/>
              </a:spcAft>
              <a:buNone/>
            </a:pPr>
            <a:r>
              <a:rPr lang="en" sz="3000" dirty="0"/>
              <a:t>ON</a:t>
            </a:r>
            <a:endParaRPr sz="3000" dirty="0"/>
          </a:p>
          <a:p>
            <a:pPr marL="0" lvl="0" indent="0" algn="ctr" rtl="0">
              <a:spcBef>
                <a:spcPts val="0"/>
              </a:spcBef>
              <a:spcAft>
                <a:spcPts val="0"/>
              </a:spcAft>
              <a:buNone/>
            </a:pPr>
            <a:endParaRPr sz="3000" dirty="0"/>
          </a:p>
          <a:p>
            <a:pPr marL="0" lvl="0" indent="0" algn="ctr" rtl="0">
              <a:spcBef>
                <a:spcPts val="0"/>
              </a:spcBef>
              <a:spcAft>
                <a:spcPts val="0"/>
              </a:spcAft>
              <a:buNone/>
            </a:pPr>
            <a:r>
              <a:rPr lang="en" sz="3000" dirty="0"/>
              <a:t>Development of an mHealth System to Improve Antenatal Care</a:t>
            </a:r>
            <a:endParaRPr sz="3000" dirty="0"/>
          </a:p>
          <a:p>
            <a:pPr marL="0" lvl="0" indent="0" algn="ctr" rtl="0">
              <a:spcBef>
                <a:spcPts val="0"/>
              </a:spcBef>
              <a:spcAft>
                <a:spcPts val="0"/>
              </a:spcAft>
              <a:buNone/>
            </a:pPr>
            <a:endParaRPr sz="1800" dirty="0"/>
          </a:p>
        </p:txBody>
      </p:sp>
      <p:sp>
        <p:nvSpPr>
          <p:cNvPr id="116" name="Google Shape;116;p25"/>
          <p:cNvSpPr txBox="1">
            <a:spLocks noGrp="1"/>
          </p:cNvSpPr>
          <p:nvPr>
            <p:ph type="subTitle" idx="1"/>
          </p:nvPr>
        </p:nvSpPr>
        <p:spPr>
          <a:xfrm>
            <a:off x="419100" y="3276600"/>
            <a:ext cx="8331300" cy="177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Name: ABIOYE OBALOLUWA P        </a:t>
            </a:r>
            <a:endParaRPr dirty="0"/>
          </a:p>
          <a:p>
            <a:pPr marL="0" lvl="0" indent="0" algn="l" rtl="0">
              <a:spcBef>
                <a:spcPts val="0"/>
              </a:spcBef>
              <a:spcAft>
                <a:spcPts val="0"/>
              </a:spcAft>
              <a:buNone/>
            </a:pPr>
            <a:r>
              <a:rPr lang="en" dirty="0" err="1"/>
              <a:t>MatricNo</a:t>
            </a:r>
            <a:r>
              <a:rPr lang="en" dirty="0"/>
              <a:t>: CSC/2014/002</a:t>
            </a:r>
            <a:endParaRPr dirty="0"/>
          </a:p>
          <a:p>
            <a:pPr marL="0" lvl="0" indent="0" algn="l" rtl="0">
              <a:spcBef>
                <a:spcPts val="0"/>
              </a:spcBef>
              <a:spcAft>
                <a:spcPts val="0"/>
              </a:spcAft>
              <a:buNone/>
            </a:pPr>
            <a:r>
              <a:rPr lang="en" dirty="0"/>
              <a:t>Supervisor: Dr I.P Gambo</a:t>
            </a:r>
            <a:endParaRPr dirty="0"/>
          </a:p>
        </p:txBody>
      </p:sp>
      <p:sp>
        <p:nvSpPr>
          <p:cNvPr id="117" name="Google Shape;11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6"/>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Presentation Outline</a:t>
            </a:r>
            <a:endParaRPr/>
          </a:p>
        </p:txBody>
      </p:sp>
      <p:sp>
        <p:nvSpPr>
          <p:cNvPr id="123" name="Google Shape;123;p26"/>
          <p:cNvSpPr txBox="1">
            <a:spLocks noGrp="1"/>
          </p:cNvSpPr>
          <p:nvPr>
            <p:ph type="body" idx="1"/>
          </p:nvPr>
        </p:nvSpPr>
        <p:spPr>
          <a:xfrm>
            <a:off x="311700" y="1569150"/>
            <a:ext cx="8520600" cy="35241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INTRODUCTION</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LITERATURE REVIEW</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STATEMENT OF PROBLEM</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AIM AND OBJECTIVES</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METHODOLOGY</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JUSTIFICATION</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SCOPE OF PROJECT</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DESIGN SPECIFICATION</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EXPECTED CONTRIBUTION TO KNOWLEDGE</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CONCLUSION</a:t>
            </a:r>
            <a:endParaRPr>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REFERENCES</a:t>
            </a:r>
            <a:endParaRPr>
              <a:solidFill>
                <a:srgbClr val="000000"/>
              </a:solidFill>
              <a:latin typeface="Times New Roman"/>
              <a:ea typeface="Times New Roman"/>
              <a:cs typeface="Times New Roman"/>
              <a:sym typeface="Times New Roman"/>
            </a:endParaRPr>
          </a:p>
        </p:txBody>
      </p:sp>
      <p:sp>
        <p:nvSpPr>
          <p:cNvPr id="124" name="Google Shape;12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7"/>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INTRODUCTION</a:t>
            </a:r>
            <a:endParaRPr dirty="0"/>
          </a:p>
        </p:txBody>
      </p:sp>
      <p:sp>
        <p:nvSpPr>
          <p:cNvPr id="130" name="Google Shape;130;p27"/>
          <p:cNvSpPr txBox="1">
            <a:spLocks noGrp="1"/>
          </p:cNvSpPr>
          <p:nvPr>
            <p:ph type="body" idx="1"/>
          </p:nvPr>
        </p:nvSpPr>
        <p:spPr>
          <a:xfrm>
            <a:off x="311700" y="1397000"/>
            <a:ext cx="8709600" cy="3705600"/>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Around the world, about 287,000 women die every year from mostly preventable entanglements related to pregnancy and childbirth with Africa bearing the highest burden of maternal deaths (WHO, 2012) and Nigeria accounting for about 10-14% of the recorded death  (WHO, 2005; </a:t>
            </a:r>
            <a:r>
              <a:rPr lang="en" dirty="0" err="1">
                <a:solidFill>
                  <a:srgbClr val="000000"/>
                </a:solidFill>
                <a:latin typeface="Times New Roman"/>
                <a:ea typeface="Times New Roman"/>
                <a:cs typeface="Times New Roman"/>
                <a:sym typeface="Times New Roman"/>
              </a:rPr>
              <a:t>Hil</a:t>
            </a:r>
            <a:r>
              <a:rPr lang="en" dirty="0">
                <a:solidFill>
                  <a:srgbClr val="000000"/>
                </a:solidFill>
                <a:latin typeface="Times New Roman"/>
                <a:ea typeface="Times New Roman"/>
                <a:cs typeface="Times New Roman"/>
                <a:sym typeface="Times New Roman"/>
              </a:rPr>
              <a:t> </a:t>
            </a:r>
            <a:r>
              <a:rPr lang="en" i="1" dirty="0">
                <a:solidFill>
                  <a:srgbClr val="000000"/>
                </a:solidFill>
                <a:latin typeface="Times New Roman"/>
                <a:ea typeface="Times New Roman"/>
                <a:cs typeface="Times New Roman"/>
                <a:sym typeface="Times New Roman"/>
              </a:rPr>
              <a:t>et al.</a:t>
            </a:r>
            <a:r>
              <a:rPr lang="en" dirty="0">
                <a:solidFill>
                  <a:srgbClr val="000000"/>
                </a:solidFill>
                <a:latin typeface="Times New Roman"/>
                <a:ea typeface="Times New Roman"/>
                <a:cs typeface="Times New Roman"/>
                <a:sym typeface="Times New Roman"/>
              </a:rPr>
              <a:t>, 2007; FMOH, 2005).</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Major mortality rate related to pregnancy and childbirth can be avoided if the women received adequate and timely antenatal care using ICT as a facilitator.</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Evidence suggests that providing expectant mothers with adequate maternal care using ICT as a medium, birth supervision by skilled attendants, and access to emergency obstetric care in pregnancy and delivery can save lives (Freedman et al., 2007; </a:t>
            </a:r>
            <a:r>
              <a:rPr lang="en" dirty="0" err="1">
                <a:solidFill>
                  <a:srgbClr val="000000"/>
                </a:solidFill>
                <a:latin typeface="Times New Roman"/>
                <a:ea typeface="Times New Roman"/>
                <a:cs typeface="Times New Roman"/>
                <a:sym typeface="Times New Roman"/>
              </a:rPr>
              <a:t>Obiad</a:t>
            </a:r>
            <a:r>
              <a:rPr lang="en" dirty="0">
                <a:solidFill>
                  <a:srgbClr val="000000"/>
                </a:solidFill>
                <a:latin typeface="Times New Roman"/>
                <a:ea typeface="Times New Roman"/>
                <a:cs typeface="Times New Roman"/>
                <a:sym typeface="Times New Roman"/>
              </a:rPr>
              <a:t>, 2007; </a:t>
            </a:r>
            <a:r>
              <a:rPr lang="en" dirty="0" err="1">
                <a:solidFill>
                  <a:srgbClr val="000000"/>
                </a:solidFill>
                <a:latin typeface="Times New Roman"/>
                <a:ea typeface="Times New Roman"/>
                <a:cs typeface="Times New Roman"/>
                <a:sym typeface="Times New Roman"/>
              </a:rPr>
              <a:t>Starrs</a:t>
            </a:r>
            <a:r>
              <a:rPr lang="en" dirty="0">
                <a:solidFill>
                  <a:srgbClr val="000000"/>
                </a:solidFill>
                <a:latin typeface="Times New Roman"/>
                <a:ea typeface="Times New Roman"/>
                <a:cs typeface="Times New Roman"/>
                <a:sym typeface="Times New Roman"/>
              </a:rPr>
              <a:t>, 2007). </a:t>
            </a:r>
            <a:endParaRPr dirty="0">
              <a:solidFill>
                <a:srgbClr val="000000"/>
              </a:solidFill>
              <a:latin typeface="Times New Roman"/>
              <a:ea typeface="Times New Roman"/>
              <a:cs typeface="Times New Roman"/>
              <a:sym typeface="Times New Roman"/>
            </a:endParaRPr>
          </a:p>
        </p:txBody>
      </p:sp>
      <p:sp>
        <p:nvSpPr>
          <p:cNvPr id="131" name="Google Shape;13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8"/>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INTRODUCTION(CONT’D)</a:t>
            </a:r>
            <a:endParaRPr/>
          </a:p>
        </p:txBody>
      </p:sp>
      <p:sp>
        <p:nvSpPr>
          <p:cNvPr id="137" name="Google Shape;137;p28"/>
          <p:cNvSpPr txBox="1">
            <a:spLocks noGrp="1"/>
          </p:cNvSpPr>
          <p:nvPr>
            <p:ph type="body" idx="1"/>
          </p:nvPr>
        </p:nvSpPr>
        <p:spPr>
          <a:xfrm>
            <a:off x="228600" y="1492738"/>
            <a:ext cx="8603700" cy="3052885"/>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sz="1600" dirty="0">
                <a:solidFill>
                  <a:srgbClr val="000000"/>
                </a:solidFill>
                <a:latin typeface="Times New Roman"/>
                <a:ea typeface="Times New Roman"/>
                <a:cs typeface="Times New Roman"/>
                <a:sym typeface="Times New Roman"/>
              </a:rPr>
              <a:t>Antenatal care (ANC) is a major public health intervention that caters for a pregnant woman throughout her gestation period and is aimed at guaranteeing safe pregnancy results. In Nigeria, the recommended minimum of four times ANC attendance is underutilized due to many reasons (</a:t>
            </a:r>
            <a:r>
              <a:rPr lang="en" sz="1600" dirty="0" err="1">
                <a:solidFill>
                  <a:srgbClr val="000000"/>
                </a:solidFill>
                <a:latin typeface="Times New Roman"/>
                <a:ea typeface="Times New Roman"/>
                <a:cs typeface="Times New Roman"/>
                <a:sym typeface="Times New Roman"/>
              </a:rPr>
              <a:t>Adewuyi</a:t>
            </a:r>
            <a:r>
              <a:rPr lang="en" sz="1600" dirty="0">
                <a:solidFill>
                  <a:srgbClr val="000000"/>
                </a:solidFill>
                <a:latin typeface="Times New Roman"/>
                <a:ea typeface="Times New Roman"/>
                <a:cs typeface="Times New Roman"/>
                <a:sym typeface="Times New Roman"/>
              </a:rPr>
              <a:t> </a:t>
            </a:r>
            <a:r>
              <a:rPr lang="en" sz="1600" i="1" dirty="0">
                <a:solidFill>
                  <a:srgbClr val="000000"/>
                </a:solidFill>
                <a:latin typeface="Times New Roman"/>
                <a:ea typeface="Times New Roman"/>
                <a:cs typeface="Times New Roman"/>
                <a:sym typeface="Times New Roman"/>
              </a:rPr>
              <a:t>et al, </a:t>
            </a:r>
            <a:r>
              <a:rPr lang="en" sz="1600" dirty="0">
                <a:solidFill>
                  <a:srgbClr val="000000"/>
                </a:solidFill>
                <a:latin typeface="Times New Roman"/>
                <a:ea typeface="Times New Roman"/>
                <a:cs typeface="Times New Roman"/>
                <a:sym typeface="Times New Roman"/>
              </a:rPr>
              <a:t>2018).   </a:t>
            </a:r>
            <a:endParaRPr sz="16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600" dirty="0">
                <a:solidFill>
                  <a:srgbClr val="000000"/>
                </a:solidFill>
                <a:latin typeface="Times New Roman"/>
                <a:ea typeface="Times New Roman"/>
                <a:cs typeface="Times New Roman"/>
                <a:sym typeface="Times New Roman"/>
              </a:rPr>
              <a:t>One reason for underutilizing ANC is that most of the working class expectant mothers always find it difficult to undergo the proper and recommended antenatal care due to their busy schedules which brings about the need for a mobile health system for antenatal care.</a:t>
            </a:r>
            <a:endParaRPr sz="16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600" dirty="0">
                <a:solidFill>
                  <a:srgbClr val="000000"/>
                </a:solidFill>
                <a:latin typeface="Times New Roman"/>
                <a:ea typeface="Times New Roman"/>
                <a:cs typeface="Times New Roman"/>
                <a:sym typeface="Times New Roman"/>
              </a:rPr>
              <a:t>Mobile health (m-Health) involves utilizing specialized gadgets like mobile telephones, personal digital assistant as well as developing web and mobile applications to meet the need of health care specialists and other consumers (</a:t>
            </a:r>
            <a:r>
              <a:rPr lang="en" sz="1600" dirty="0" err="1">
                <a:solidFill>
                  <a:srgbClr val="000000"/>
                </a:solidFill>
                <a:latin typeface="Times New Roman"/>
                <a:ea typeface="Times New Roman"/>
                <a:cs typeface="Times New Roman"/>
                <a:sym typeface="Times New Roman"/>
              </a:rPr>
              <a:t>Menaka</a:t>
            </a:r>
            <a:r>
              <a:rPr lang="en" sz="1600" dirty="0">
                <a:solidFill>
                  <a:srgbClr val="000000"/>
                </a:solidFill>
                <a:latin typeface="Times New Roman"/>
                <a:ea typeface="Times New Roman"/>
                <a:cs typeface="Times New Roman"/>
                <a:sym typeface="Times New Roman"/>
              </a:rPr>
              <a:t> et al., 2017).  </a:t>
            </a:r>
            <a:endParaRPr sz="1600" dirty="0">
              <a:solidFill>
                <a:srgbClr val="000000"/>
              </a:solidFill>
              <a:latin typeface="Times New Roman"/>
              <a:ea typeface="Times New Roman"/>
              <a:cs typeface="Times New Roman"/>
              <a:sym typeface="Times New Roman"/>
            </a:endParaRPr>
          </a:p>
          <a:p>
            <a:pPr marL="457200" lvl="0" indent="0" algn="just" rtl="0">
              <a:lnSpc>
                <a:spcPct val="150000"/>
              </a:lnSpc>
              <a:spcBef>
                <a:spcPts val="0"/>
              </a:spcBef>
              <a:spcAft>
                <a:spcPts val="0"/>
              </a:spcAft>
              <a:buSzPts val="1800"/>
              <a:buNone/>
            </a:pPr>
            <a:endParaRPr sz="1200" dirty="0">
              <a:solidFill>
                <a:srgbClr val="000000"/>
              </a:solidFill>
              <a:latin typeface="Times New Roman"/>
              <a:ea typeface="Times New Roman"/>
              <a:cs typeface="Times New Roman"/>
              <a:sym typeface="Times New Roman"/>
            </a:endParaRPr>
          </a:p>
        </p:txBody>
      </p:sp>
      <p:sp>
        <p:nvSpPr>
          <p:cNvPr id="138" name="Google Shape;138;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9"/>
          <p:cNvSpPr txBox="1">
            <a:spLocks noGrp="1"/>
          </p:cNvSpPr>
          <p:nvPr>
            <p:ph type="title"/>
          </p:nvPr>
        </p:nvSpPr>
        <p:spPr>
          <a:xfrm>
            <a:off x="260638" y="392175"/>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LITERATURE REVIEW TABLE</a:t>
            </a:r>
            <a:endParaRPr/>
          </a:p>
        </p:txBody>
      </p:sp>
      <p:graphicFrame>
        <p:nvGraphicFramePr>
          <p:cNvPr id="144" name="Google Shape;144;p29"/>
          <p:cNvGraphicFramePr/>
          <p:nvPr/>
        </p:nvGraphicFramePr>
        <p:xfrm>
          <a:off x="51050" y="1266572"/>
          <a:ext cx="9041875" cy="3255750"/>
        </p:xfrm>
        <a:graphic>
          <a:graphicData uri="http://schemas.openxmlformats.org/drawingml/2006/table">
            <a:tbl>
              <a:tblPr>
                <a:noFill/>
                <a:tableStyleId>{021B597B-DB9A-4BB6-B02E-52FB25035AD1}</a:tableStyleId>
              </a:tblPr>
              <a:tblGrid>
                <a:gridCol w="646825">
                  <a:extLst>
                    <a:ext uri="{9D8B030D-6E8A-4147-A177-3AD203B41FA5}">
                      <a16:colId xmlns:a16="http://schemas.microsoft.com/office/drawing/2014/main" val="20000"/>
                    </a:ext>
                  </a:extLst>
                </a:gridCol>
                <a:gridCol w="1279925">
                  <a:extLst>
                    <a:ext uri="{9D8B030D-6E8A-4147-A177-3AD203B41FA5}">
                      <a16:colId xmlns:a16="http://schemas.microsoft.com/office/drawing/2014/main" val="20001"/>
                    </a:ext>
                  </a:extLst>
                </a:gridCol>
                <a:gridCol w="1242900">
                  <a:extLst>
                    <a:ext uri="{9D8B030D-6E8A-4147-A177-3AD203B41FA5}">
                      <a16:colId xmlns:a16="http://schemas.microsoft.com/office/drawing/2014/main" val="20002"/>
                    </a:ext>
                  </a:extLst>
                </a:gridCol>
                <a:gridCol w="2148525">
                  <a:extLst>
                    <a:ext uri="{9D8B030D-6E8A-4147-A177-3AD203B41FA5}">
                      <a16:colId xmlns:a16="http://schemas.microsoft.com/office/drawing/2014/main" val="20003"/>
                    </a:ext>
                  </a:extLst>
                </a:gridCol>
                <a:gridCol w="1535525">
                  <a:extLst>
                    <a:ext uri="{9D8B030D-6E8A-4147-A177-3AD203B41FA5}">
                      <a16:colId xmlns:a16="http://schemas.microsoft.com/office/drawing/2014/main" val="20004"/>
                    </a:ext>
                  </a:extLst>
                </a:gridCol>
                <a:gridCol w="2188175">
                  <a:extLst>
                    <a:ext uri="{9D8B030D-6E8A-4147-A177-3AD203B41FA5}">
                      <a16:colId xmlns:a16="http://schemas.microsoft.com/office/drawing/2014/main" val="20005"/>
                    </a:ext>
                  </a:extLst>
                </a:gridCol>
              </a:tblGrid>
              <a:tr h="615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Author/Title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Problem</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Methodology</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Solution/Results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Comments</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26403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1</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Times New Roman"/>
                          <a:ea typeface="Times New Roman"/>
                          <a:cs typeface="Times New Roman"/>
                          <a:sym typeface="Times New Roman"/>
                        </a:rPr>
                        <a:t>Lund </a:t>
                      </a:r>
                      <a:r>
                        <a:rPr lang="en" sz="1400" i="1" u="none" strike="noStrike" cap="none" dirty="0">
                          <a:latin typeface="Times New Roman"/>
                          <a:ea typeface="Times New Roman"/>
                          <a:cs typeface="Times New Roman"/>
                          <a:sym typeface="Times New Roman"/>
                        </a:rPr>
                        <a:t>et al</a:t>
                      </a:r>
                      <a:r>
                        <a:rPr lang="en" sz="1400" u="none" strike="noStrike" cap="none" dirty="0">
                          <a:latin typeface="Times New Roman"/>
                          <a:ea typeface="Times New Roman"/>
                          <a:cs typeface="Times New Roman"/>
                          <a:sym typeface="Times New Roman"/>
                        </a:rPr>
                        <a:t>. (2015): Mobile phones to improve antenatal care attendance in Zanzibar</a:t>
                      </a:r>
                      <a:endParaRPr sz="14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 declining nature of antenatal care attendance as well as quality of the care provided.</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Mobile phones were provided for the pregnant women and healthcare agents, then a software that automatically sends reminder messages to the registered phone numbers was developed.</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 mobile phone intervention resulted to an increase in antenatal care attendance and easy communication between the women and health agents.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latin typeface="Times New Roman"/>
                          <a:ea typeface="Times New Roman"/>
                          <a:cs typeface="Times New Roman"/>
                          <a:sym typeface="Times New Roman"/>
                        </a:rPr>
                        <a:t>The developed system significantly increased the proportion of women receiving the antenatal care. However, it doesn’t reduce the waiting time at the hospitals but rather increases it.</a:t>
                      </a:r>
                      <a:endParaRPr sz="14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
        <p:nvSpPr>
          <p:cNvPr id="145" name="Google Shape;145;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0"/>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LITERATURE REVIEW TABLE</a:t>
            </a:r>
            <a:endParaRPr/>
          </a:p>
        </p:txBody>
      </p:sp>
      <p:graphicFrame>
        <p:nvGraphicFramePr>
          <p:cNvPr id="151" name="Google Shape;151;p30"/>
          <p:cNvGraphicFramePr/>
          <p:nvPr/>
        </p:nvGraphicFramePr>
        <p:xfrm>
          <a:off x="51050" y="1266572"/>
          <a:ext cx="9041875" cy="4045500"/>
        </p:xfrm>
        <a:graphic>
          <a:graphicData uri="http://schemas.openxmlformats.org/drawingml/2006/table">
            <a:tbl>
              <a:tblPr>
                <a:noFill/>
                <a:tableStyleId>{021B597B-DB9A-4BB6-B02E-52FB25035AD1}</a:tableStyleId>
              </a:tblPr>
              <a:tblGrid>
                <a:gridCol w="646825">
                  <a:extLst>
                    <a:ext uri="{9D8B030D-6E8A-4147-A177-3AD203B41FA5}">
                      <a16:colId xmlns:a16="http://schemas.microsoft.com/office/drawing/2014/main" val="20000"/>
                    </a:ext>
                  </a:extLst>
                </a:gridCol>
                <a:gridCol w="1279925">
                  <a:extLst>
                    <a:ext uri="{9D8B030D-6E8A-4147-A177-3AD203B41FA5}">
                      <a16:colId xmlns:a16="http://schemas.microsoft.com/office/drawing/2014/main" val="20001"/>
                    </a:ext>
                  </a:extLst>
                </a:gridCol>
                <a:gridCol w="1242900">
                  <a:extLst>
                    <a:ext uri="{9D8B030D-6E8A-4147-A177-3AD203B41FA5}">
                      <a16:colId xmlns:a16="http://schemas.microsoft.com/office/drawing/2014/main" val="20002"/>
                    </a:ext>
                  </a:extLst>
                </a:gridCol>
                <a:gridCol w="2148525">
                  <a:extLst>
                    <a:ext uri="{9D8B030D-6E8A-4147-A177-3AD203B41FA5}">
                      <a16:colId xmlns:a16="http://schemas.microsoft.com/office/drawing/2014/main" val="20003"/>
                    </a:ext>
                  </a:extLst>
                </a:gridCol>
                <a:gridCol w="1535525">
                  <a:extLst>
                    <a:ext uri="{9D8B030D-6E8A-4147-A177-3AD203B41FA5}">
                      <a16:colId xmlns:a16="http://schemas.microsoft.com/office/drawing/2014/main" val="20004"/>
                    </a:ext>
                  </a:extLst>
                </a:gridCol>
                <a:gridCol w="2188175">
                  <a:extLst>
                    <a:ext uri="{9D8B030D-6E8A-4147-A177-3AD203B41FA5}">
                      <a16:colId xmlns:a16="http://schemas.microsoft.com/office/drawing/2014/main" val="20005"/>
                    </a:ext>
                  </a:extLst>
                </a:gridCol>
              </a:tblGrid>
              <a:tr h="6622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Source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Problem</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Methodology</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Solution/Results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Comments</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128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Oyeyemi and Wynn (2014): Giving cell phones to pregnant women and improving services may increase primary health facility utilization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 high rate of maternal death in Ondo State as well as delays in seeking healthcare.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Sample retrospective data was collected from hospital records and patient’s case files which was used to determine healthcare facility rate in different locations. After which Closed-Users’ group (CUG) phones were given to pregnant women and health workers. Through these phones, the women could communicate free of charges with the healthcare services. </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There was increase access to health services, increase health facility utilization and reduced missed medical appointments.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Providing CUG cell phones to pregnant women led to express communication with the healthcare team in times of emergency. However, it didn’t cater for delay at the primary health care level.</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
        <p:nvSpPr>
          <p:cNvPr id="152" name="Google Shape;152;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LITERATURE REVIEW TABLE</a:t>
            </a:r>
            <a:endParaRPr/>
          </a:p>
        </p:txBody>
      </p:sp>
      <p:graphicFrame>
        <p:nvGraphicFramePr>
          <p:cNvPr id="158" name="Google Shape;158;p31"/>
          <p:cNvGraphicFramePr/>
          <p:nvPr/>
        </p:nvGraphicFramePr>
        <p:xfrm>
          <a:off x="51050" y="1257447"/>
          <a:ext cx="9041875" cy="2505180"/>
        </p:xfrm>
        <a:graphic>
          <a:graphicData uri="http://schemas.openxmlformats.org/drawingml/2006/table">
            <a:tbl>
              <a:tblPr>
                <a:noFill/>
                <a:tableStyleId>{021B597B-DB9A-4BB6-B02E-52FB25035AD1}</a:tableStyleId>
              </a:tblPr>
              <a:tblGrid>
                <a:gridCol w="646825">
                  <a:extLst>
                    <a:ext uri="{9D8B030D-6E8A-4147-A177-3AD203B41FA5}">
                      <a16:colId xmlns:a16="http://schemas.microsoft.com/office/drawing/2014/main" val="20000"/>
                    </a:ext>
                  </a:extLst>
                </a:gridCol>
                <a:gridCol w="1279925">
                  <a:extLst>
                    <a:ext uri="{9D8B030D-6E8A-4147-A177-3AD203B41FA5}">
                      <a16:colId xmlns:a16="http://schemas.microsoft.com/office/drawing/2014/main" val="20001"/>
                    </a:ext>
                  </a:extLst>
                </a:gridCol>
                <a:gridCol w="1242900">
                  <a:extLst>
                    <a:ext uri="{9D8B030D-6E8A-4147-A177-3AD203B41FA5}">
                      <a16:colId xmlns:a16="http://schemas.microsoft.com/office/drawing/2014/main" val="20002"/>
                    </a:ext>
                  </a:extLst>
                </a:gridCol>
                <a:gridCol w="2148525">
                  <a:extLst>
                    <a:ext uri="{9D8B030D-6E8A-4147-A177-3AD203B41FA5}">
                      <a16:colId xmlns:a16="http://schemas.microsoft.com/office/drawing/2014/main" val="20003"/>
                    </a:ext>
                  </a:extLst>
                </a:gridCol>
                <a:gridCol w="1535525">
                  <a:extLst>
                    <a:ext uri="{9D8B030D-6E8A-4147-A177-3AD203B41FA5}">
                      <a16:colId xmlns:a16="http://schemas.microsoft.com/office/drawing/2014/main" val="20004"/>
                    </a:ext>
                  </a:extLst>
                </a:gridCol>
                <a:gridCol w="2188175">
                  <a:extLst>
                    <a:ext uri="{9D8B030D-6E8A-4147-A177-3AD203B41FA5}">
                      <a16:colId xmlns:a16="http://schemas.microsoft.com/office/drawing/2014/main" val="20005"/>
                    </a:ext>
                  </a:extLst>
                </a:gridCol>
              </a:tblGrid>
              <a:tr h="615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Source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Problem</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Methodology</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Solution/Results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Comments</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569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Menaka</a:t>
                      </a:r>
                      <a:r>
                        <a:rPr lang="en" sz="1400" i="1" u="none" strike="noStrike" cap="none">
                          <a:latin typeface="Times New Roman"/>
                          <a:ea typeface="Times New Roman"/>
                          <a:cs typeface="Times New Roman"/>
                          <a:sym typeface="Times New Roman"/>
                        </a:rPr>
                        <a:t> et al. </a:t>
                      </a:r>
                      <a:r>
                        <a:rPr lang="en" sz="1400" u="none" strike="noStrike" cap="none">
                          <a:latin typeface="Times New Roman"/>
                          <a:ea typeface="Times New Roman"/>
                          <a:cs typeface="Times New Roman"/>
                          <a:sym typeface="Times New Roman"/>
                        </a:rPr>
                        <a:t>(2017): The role of m-health in providing antenatal care in rural areas</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High rate of mortality among pregnant women.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Comparative study was carried out in two different hospitals divided into study and control group, as well as the development of a mobile app for health support. </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 study group had more antenatal visits, better correction of anemia and less numbers of patients who were lost to follow up.</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The mobile health helped in  tracking pregnancy, increased antenatal visits and it helped in timely referrals but does’nt cater for a scheduling an appointment with the health agent.</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
        <p:nvSpPr>
          <p:cNvPr id="159" name="Google Shape;159;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2"/>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LITERATURE REVIEW TABLE</a:t>
            </a:r>
            <a:endParaRPr/>
          </a:p>
        </p:txBody>
      </p:sp>
      <p:graphicFrame>
        <p:nvGraphicFramePr>
          <p:cNvPr id="165" name="Google Shape;165;p32"/>
          <p:cNvGraphicFramePr/>
          <p:nvPr/>
        </p:nvGraphicFramePr>
        <p:xfrm>
          <a:off x="51050" y="1239222"/>
          <a:ext cx="9041875" cy="3785340"/>
        </p:xfrm>
        <a:graphic>
          <a:graphicData uri="http://schemas.openxmlformats.org/drawingml/2006/table">
            <a:tbl>
              <a:tblPr>
                <a:noFill/>
                <a:tableStyleId>{021B597B-DB9A-4BB6-B02E-52FB25035AD1}</a:tableStyleId>
              </a:tblPr>
              <a:tblGrid>
                <a:gridCol w="456325">
                  <a:extLst>
                    <a:ext uri="{9D8B030D-6E8A-4147-A177-3AD203B41FA5}">
                      <a16:colId xmlns:a16="http://schemas.microsoft.com/office/drawing/2014/main" val="20000"/>
                    </a:ext>
                  </a:extLst>
                </a:gridCol>
                <a:gridCol w="1241825">
                  <a:extLst>
                    <a:ext uri="{9D8B030D-6E8A-4147-A177-3AD203B41FA5}">
                      <a16:colId xmlns:a16="http://schemas.microsoft.com/office/drawing/2014/main" val="20001"/>
                    </a:ext>
                  </a:extLst>
                </a:gridCol>
                <a:gridCol w="1446100">
                  <a:extLst>
                    <a:ext uri="{9D8B030D-6E8A-4147-A177-3AD203B41FA5}">
                      <a16:colId xmlns:a16="http://schemas.microsoft.com/office/drawing/2014/main" val="20002"/>
                    </a:ext>
                  </a:extLst>
                </a:gridCol>
                <a:gridCol w="2173925">
                  <a:extLst>
                    <a:ext uri="{9D8B030D-6E8A-4147-A177-3AD203B41FA5}">
                      <a16:colId xmlns:a16="http://schemas.microsoft.com/office/drawing/2014/main" val="20003"/>
                    </a:ext>
                  </a:extLst>
                </a:gridCol>
                <a:gridCol w="1535525">
                  <a:extLst>
                    <a:ext uri="{9D8B030D-6E8A-4147-A177-3AD203B41FA5}">
                      <a16:colId xmlns:a16="http://schemas.microsoft.com/office/drawing/2014/main" val="20004"/>
                    </a:ext>
                  </a:extLst>
                </a:gridCol>
                <a:gridCol w="2188175">
                  <a:extLst>
                    <a:ext uri="{9D8B030D-6E8A-4147-A177-3AD203B41FA5}">
                      <a16:colId xmlns:a16="http://schemas.microsoft.com/office/drawing/2014/main" val="20005"/>
                    </a:ext>
                  </a:extLst>
                </a:gridCol>
              </a:tblGrid>
              <a:tr h="6154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S/N</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Source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Problem</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Methodology</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Solution/Results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Comments</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569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4</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Chib and Chen (2011): Midwives with mobiles: A dialectical perspective on gender arising from technology introduction in rural Indonesia.</a:t>
                      </a:r>
                      <a:endParaRPr sz="14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Poor access to information that would enlighten mid wifes and enable them deliver their best.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Mobile phones were introduced to rural midwives allowing them to contact medical experts and communicate with patients. This study applied a dialectical perspective to supplement the analytical frame of the</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ICT for healthcare development model by addressing the multi-</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dimensionality of benefits and barriers.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It was discovered that midwives to had access to clinical data, as well as other critical health informations, and were able to effectively partake in the information sharing community.</a:t>
                      </a:r>
                      <a:endParaRPr sz="1400" u="none" strike="noStrike" cap="none"/>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Times New Roman"/>
                          <a:ea typeface="Times New Roman"/>
                          <a:cs typeface="Times New Roman"/>
                          <a:sym typeface="Times New Roman"/>
                        </a:rPr>
                        <a:t> It encouraged communication among midwives and doctors and survey the achievability of mobile information gathering. </a:t>
                      </a:r>
                      <a:endParaRPr sz="1400" u="none" strike="noStrike" cap="none"/>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
        <p:nvSpPr>
          <p:cNvPr id="166" name="Google Shape;166;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3"/>
          <p:cNvSpPr txBox="1">
            <a:spLocks noGrp="1"/>
          </p:cNvSpPr>
          <p:nvPr>
            <p:ph type="title"/>
          </p:nvPr>
        </p:nvSpPr>
        <p:spPr>
          <a:xfrm>
            <a:off x="311700" y="3979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STATEMENT OF PROBLEMS</a:t>
            </a:r>
            <a:endParaRPr/>
          </a:p>
        </p:txBody>
      </p:sp>
      <p:sp>
        <p:nvSpPr>
          <p:cNvPr id="172" name="Google Shape;172;p33"/>
          <p:cNvSpPr txBox="1">
            <a:spLocks noGrp="1"/>
          </p:cNvSpPr>
          <p:nvPr>
            <p:ph type="body" idx="1"/>
          </p:nvPr>
        </p:nvSpPr>
        <p:spPr>
          <a:xfrm>
            <a:off x="311700" y="1320800"/>
            <a:ext cx="8654400" cy="3822600"/>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Nigeria accounts for approximately 14% of maternal deaths globally due to poor quality of antenatal care. </a:t>
            </a:r>
            <a:endParaRPr>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Due to the busy work schedule and conflict in free time of some pregnant women or obstetricians, visiting the hospitals and waiting in long queues to see an obstetrician is  untenable.</a:t>
            </a:r>
            <a:endParaRPr>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Lack of access to antenatal care and under utilization of care. Hence there is a great need to improve antenatal care and link up patients to available obstetricians that would cater for their care directly and effectively without going through the stress of the hospitals.</a:t>
            </a:r>
            <a:endParaRPr>
              <a:solidFill>
                <a:srgbClr val="000000"/>
              </a:solidFill>
              <a:latin typeface="Times New Roman"/>
              <a:ea typeface="Times New Roman"/>
              <a:cs typeface="Times New Roman"/>
              <a:sym typeface="Times New Roman"/>
            </a:endParaRPr>
          </a:p>
          <a:p>
            <a:pPr marL="0" lvl="0" indent="0" algn="just" rtl="0">
              <a:lnSpc>
                <a:spcPct val="200000"/>
              </a:lnSpc>
              <a:spcBef>
                <a:spcPts val="0"/>
              </a:spcBef>
              <a:spcAft>
                <a:spcPts val="0"/>
              </a:spcAft>
              <a:buSzPts val="1800"/>
              <a:buNone/>
            </a:pPr>
            <a:endParaRPr sz="1400">
              <a:solidFill>
                <a:srgbClr val="000000"/>
              </a:solidFill>
              <a:latin typeface="Times New Roman"/>
              <a:ea typeface="Times New Roman"/>
              <a:cs typeface="Times New Roman"/>
              <a:sym typeface="Times New Roman"/>
            </a:endParaRPr>
          </a:p>
        </p:txBody>
      </p:sp>
      <p:sp>
        <p:nvSpPr>
          <p:cNvPr id="173" name="Google Shape;17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4"/>
          <p:cNvSpPr txBox="1">
            <a:spLocks noGrp="1"/>
          </p:cNvSpPr>
          <p:nvPr>
            <p:ph type="title"/>
          </p:nvPr>
        </p:nvSpPr>
        <p:spPr>
          <a:xfrm>
            <a:off x="294350" y="535150"/>
            <a:ext cx="7038900" cy="640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AIM AND OBJECTIVES </a:t>
            </a:r>
            <a:endParaRPr/>
          </a:p>
        </p:txBody>
      </p:sp>
      <p:sp>
        <p:nvSpPr>
          <p:cNvPr id="179" name="Google Shape;179;p34"/>
          <p:cNvSpPr txBox="1">
            <a:spLocks noGrp="1"/>
          </p:cNvSpPr>
          <p:nvPr>
            <p:ph type="body" idx="1"/>
          </p:nvPr>
        </p:nvSpPr>
        <p:spPr>
          <a:xfrm>
            <a:off x="146200" y="1488550"/>
            <a:ext cx="8794500" cy="2687796"/>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aim of this project is to develop a system that enables pregnant women to access obstetricians that would be responsible for their antenatal care, thereby improving their antenatal care as well as mitigating the adverse effects caused by their busy schedule. </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Specific objectives are as follows:</a:t>
            </a:r>
            <a:endParaRPr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r>
              <a:rPr lang="en" dirty="0">
                <a:solidFill>
                  <a:srgbClr val="000000"/>
                </a:solidFill>
                <a:latin typeface="Times New Roman"/>
                <a:ea typeface="Times New Roman"/>
                <a:cs typeface="Times New Roman"/>
                <a:sym typeface="Times New Roman"/>
              </a:rPr>
              <a:t>	i)To gather requirements on Antenatal Care.</a:t>
            </a:r>
            <a:endParaRPr dirty="0">
              <a:solidFill>
                <a:srgbClr val="000000"/>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1800"/>
              <a:buNone/>
            </a:pPr>
            <a:r>
              <a:rPr lang="en" dirty="0">
                <a:solidFill>
                  <a:srgbClr val="000000"/>
                </a:solidFill>
                <a:latin typeface="Times New Roman"/>
                <a:ea typeface="Times New Roman"/>
                <a:cs typeface="Times New Roman"/>
                <a:sym typeface="Times New Roman"/>
              </a:rPr>
              <a:t>ii)To design a model based on (i)</a:t>
            </a:r>
            <a:endParaRPr dirty="0">
              <a:solidFill>
                <a:srgbClr val="000000"/>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1800"/>
              <a:buNone/>
            </a:pPr>
            <a:r>
              <a:rPr lang="en" dirty="0">
                <a:solidFill>
                  <a:srgbClr val="000000"/>
                </a:solidFill>
                <a:latin typeface="Times New Roman"/>
                <a:ea typeface="Times New Roman"/>
                <a:cs typeface="Times New Roman"/>
                <a:sym typeface="Times New Roman"/>
              </a:rPr>
              <a:t>iii)To implement a system based on (ii)</a:t>
            </a:r>
            <a:endParaRPr dirty="0">
              <a:solidFill>
                <a:srgbClr val="000000"/>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1800"/>
              <a:buNone/>
            </a:pPr>
            <a:r>
              <a:rPr lang="en" dirty="0">
                <a:solidFill>
                  <a:srgbClr val="000000"/>
                </a:solidFill>
                <a:latin typeface="Times New Roman"/>
                <a:ea typeface="Times New Roman"/>
                <a:cs typeface="Times New Roman"/>
                <a:sym typeface="Times New Roman"/>
              </a:rPr>
              <a:t>iv)To test the system in (iii)</a:t>
            </a:r>
            <a:endParaRPr sz="1400" dirty="0">
              <a:solidFill>
                <a:srgbClr val="000000"/>
              </a:solidFill>
              <a:latin typeface="Times New Roman"/>
              <a:ea typeface="Times New Roman"/>
              <a:cs typeface="Times New Roman"/>
              <a:sym typeface="Times New Roman"/>
            </a:endParaRPr>
          </a:p>
        </p:txBody>
      </p:sp>
      <p:sp>
        <p:nvSpPr>
          <p:cNvPr id="180" name="Google Shape;180;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5"/>
          <p:cNvSpPr txBox="1">
            <a:spLocks noGrp="1"/>
          </p:cNvSpPr>
          <p:nvPr>
            <p:ph type="title"/>
          </p:nvPr>
        </p:nvSpPr>
        <p:spPr>
          <a:xfrm>
            <a:off x="275102" y="257020"/>
            <a:ext cx="7038900" cy="48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METHODOLOGY</a:t>
            </a:r>
            <a:endParaRPr dirty="0"/>
          </a:p>
        </p:txBody>
      </p:sp>
      <p:sp>
        <p:nvSpPr>
          <p:cNvPr id="186" name="Google Shape;186;p35"/>
          <p:cNvSpPr txBox="1">
            <a:spLocks noGrp="1"/>
          </p:cNvSpPr>
          <p:nvPr>
            <p:ph type="body" idx="1"/>
          </p:nvPr>
        </p:nvSpPr>
        <p:spPr>
          <a:xfrm>
            <a:off x="122842" y="834316"/>
            <a:ext cx="8852100" cy="4052163"/>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requirements for the system would be gathered by interviewing the </a:t>
            </a:r>
            <a:r>
              <a:rPr lang="en" dirty="0" err="1">
                <a:solidFill>
                  <a:srgbClr val="000000"/>
                </a:solidFill>
                <a:latin typeface="Times New Roman"/>
                <a:ea typeface="Times New Roman"/>
                <a:cs typeface="Times New Roman"/>
                <a:sym typeface="Times New Roman"/>
              </a:rPr>
              <a:t>stackholders</a:t>
            </a:r>
            <a:r>
              <a:rPr lang="en" dirty="0">
                <a:solidFill>
                  <a:srgbClr val="000000"/>
                </a:solidFill>
                <a:latin typeface="Times New Roman"/>
                <a:ea typeface="Times New Roman"/>
                <a:cs typeface="Times New Roman"/>
                <a:sym typeface="Times New Roman"/>
              </a:rPr>
              <a:t> involved and a brainstorming session with the Experts would also be conducted to </a:t>
            </a:r>
            <a:r>
              <a:rPr lang="en" dirty="0" err="1">
                <a:solidFill>
                  <a:srgbClr val="000000"/>
                </a:solidFill>
                <a:latin typeface="Times New Roman"/>
                <a:ea typeface="Times New Roman"/>
                <a:cs typeface="Times New Roman"/>
                <a:sym typeface="Times New Roman"/>
              </a:rPr>
              <a:t>futher</a:t>
            </a:r>
            <a:r>
              <a:rPr lang="en" dirty="0">
                <a:solidFill>
                  <a:srgbClr val="000000"/>
                </a:solidFill>
                <a:latin typeface="Times New Roman"/>
                <a:ea typeface="Times New Roman"/>
                <a:cs typeface="Times New Roman"/>
                <a:sym typeface="Times New Roman"/>
              </a:rPr>
              <a:t> elicit the requirements for the antenatal care system.</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proposed system would be designed using visual paradigm.</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implementation would be developed using the following: </a:t>
            </a:r>
            <a:endParaRPr dirty="0">
              <a:solidFill>
                <a:srgbClr val="000000"/>
              </a:solidFill>
              <a:latin typeface="Times New Roman"/>
              <a:ea typeface="Times New Roman"/>
              <a:cs typeface="Times New Roman"/>
              <a:sym typeface="Times New Roman"/>
            </a:endParaRPr>
          </a:p>
          <a:p>
            <a:pPr marL="914400" lvl="1" indent="-342900" algn="just"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Android Studio to develop the mobile app, XML would be used for the mobile front end, Java and Kotlin would be used for the backend.</a:t>
            </a:r>
            <a:endParaRPr sz="1800" dirty="0">
              <a:solidFill>
                <a:srgbClr val="000000"/>
              </a:solidFill>
              <a:latin typeface="Times New Roman"/>
              <a:ea typeface="Times New Roman"/>
              <a:cs typeface="Times New Roman"/>
              <a:sym typeface="Times New Roman"/>
            </a:endParaRPr>
          </a:p>
          <a:p>
            <a:pPr marL="914400" lvl="1" indent="-342900" algn="just"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For web application; HTML, CSS, and </a:t>
            </a:r>
            <a:r>
              <a:rPr lang="en" sz="1800" dirty="0" err="1">
                <a:solidFill>
                  <a:srgbClr val="000000"/>
                </a:solidFill>
                <a:latin typeface="Times New Roman"/>
                <a:ea typeface="Times New Roman"/>
                <a:cs typeface="Times New Roman"/>
                <a:sym typeface="Times New Roman"/>
              </a:rPr>
              <a:t>Javascript</a:t>
            </a:r>
            <a:r>
              <a:rPr lang="en" sz="1800" dirty="0">
                <a:solidFill>
                  <a:srgbClr val="000000"/>
                </a:solidFill>
                <a:latin typeface="Times New Roman"/>
                <a:ea typeface="Times New Roman"/>
                <a:cs typeface="Times New Roman"/>
                <a:sym typeface="Times New Roman"/>
              </a:rPr>
              <a:t> would be used for the front end and a python framework(Django) would be used for the backend.</a:t>
            </a:r>
            <a:endParaRPr sz="1800" dirty="0">
              <a:solidFill>
                <a:srgbClr val="000000"/>
              </a:solidFill>
              <a:latin typeface="Times New Roman"/>
              <a:ea typeface="Times New Roman"/>
              <a:cs typeface="Times New Roman"/>
              <a:sym typeface="Times New Roman"/>
            </a:endParaRPr>
          </a:p>
          <a:p>
            <a:pPr marL="914400" lvl="1" indent="-342900" algn="just"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 MySQL would be used for the database.</a:t>
            </a:r>
            <a:endParaRPr sz="18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Unit and Beta Testing would be used to test the system alongside some metrics which includes accuracy, user friendliness, responsiveness and security.</a:t>
            </a:r>
            <a:endParaRPr sz="1800" dirty="0">
              <a:solidFill>
                <a:srgbClr val="000000"/>
              </a:solidFill>
              <a:latin typeface="Times New Roman"/>
              <a:ea typeface="Times New Roman"/>
              <a:cs typeface="Times New Roman"/>
              <a:sym typeface="Times New Roman"/>
            </a:endParaRPr>
          </a:p>
        </p:txBody>
      </p:sp>
      <p:sp>
        <p:nvSpPr>
          <p:cNvPr id="187" name="Google Shape;18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6"/>
          <p:cNvSpPr txBox="1">
            <a:spLocks noGrp="1"/>
          </p:cNvSpPr>
          <p:nvPr>
            <p:ph type="title"/>
          </p:nvPr>
        </p:nvSpPr>
        <p:spPr>
          <a:xfrm>
            <a:off x="179900" y="457250"/>
            <a:ext cx="7038900" cy="533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JUSTIFICATION</a:t>
            </a:r>
            <a:endParaRPr/>
          </a:p>
        </p:txBody>
      </p:sp>
      <p:sp>
        <p:nvSpPr>
          <p:cNvPr id="193" name="Google Shape;193;p36"/>
          <p:cNvSpPr txBox="1">
            <a:spLocks noGrp="1"/>
          </p:cNvSpPr>
          <p:nvPr>
            <p:ph type="body" idx="1"/>
          </p:nvPr>
        </p:nvSpPr>
        <p:spPr>
          <a:xfrm>
            <a:off x="179900" y="1308100"/>
            <a:ext cx="8722800" cy="3748800"/>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The proposed system will solve a major health problem among pregnant women that are too busy to go through the stress of a regular appointment with an Obstetrician in the hospital. </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It caters for their care directly and effectively, previous methods have always been to get registered in the hospital and get appointments manually which has resulted in delayed service. </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Comparing this to the regular queuing method, the system would significantly increase the user’s satisfaction and reduce the total waiting time for antenatal care and medical checkups (</a:t>
            </a:r>
            <a:r>
              <a:rPr lang="en" sz="1700" dirty="0" err="1">
                <a:solidFill>
                  <a:srgbClr val="000000"/>
                </a:solidFill>
                <a:latin typeface="Times New Roman"/>
                <a:ea typeface="Times New Roman"/>
                <a:cs typeface="Times New Roman"/>
                <a:sym typeface="Times New Roman"/>
              </a:rPr>
              <a:t>Nazia</a:t>
            </a:r>
            <a:r>
              <a:rPr lang="en" sz="1700" dirty="0">
                <a:solidFill>
                  <a:srgbClr val="000000"/>
                </a:solidFill>
                <a:latin typeface="Times New Roman"/>
                <a:ea typeface="Times New Roman"/>
                <a:cs typeface="Times New Roman"/>
                <a:sym typeface="Times New Roman"/>
              </a:rPr>
              <a:t> and Ekta, 2014). </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It serves as an intermediary between Obstetricians that are in close proximity to a pregnant woman.</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The approach proposed saves time and is less stressful for pregnant women.</a:t>
            </a:r>
            <a:endParaRPr sz="17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1600"/>
              </a:spcAft>
              <a:buSzPts val="1800"/>
              <a:buNone/>
            </a:pPr>
            <a:endParaRPr sz="1700" dirty="0">
              <a:solidFill>
                <a:srgbClr val="000000"/>
              </a:solidFill>
            </a:endParaRPr>
          </a:p>
        </p:txBody>
      </p:sp>
      <p:sp>
        <p:nvSpPr>
          <p:cNvPr id="194" name="Google Shape;194;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7"/>
          <p:cNvSpPr txBox="1">
            <a:spLocks noGrp="1"/>
          </p:cNvSpPr>
          <p:nvPr>
            <p:ph type="title"/>
          </p:nvPr>
        </p:nvSpPr>
        <p:spPr>
          <a:xfrm>
            <a:off x="332300" y="241350"/>
            <a:ext cx="7038900" cy="914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SCOPE OF THE PROJECT</a:t>
            </a:r>
            <a:endParaRPr/>
          </a:p>
        </p:txBody>
      </p:sp>
      <p:sp>
        <p:nvSpPr>
          <p:cNvPr id="200" name="Google Shape;200;p37"/>
          <p:cNvSpPr txBox="1">
            <a:spLocks noGrp="1"/>
          </p:cNvSpPr>
          <p:nvPr>
            <p:ph type="body" idx="1"/>
          </p:nvPr>
        </p:nvSpPr>
        <p:spPr>
          <a:xfrm>
            <a:off x="1231900" y="1212850"/>
            <a:ext cx="7696200" cy="3930600"/>
          </a:xfrm>
          <a:prstGeom prst="rect">
            <a:avLst/>
          </a:prstGeom>
          <a:noFill/>
          <a:ln>
            <a:noFill/>
          </a:ln>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The system is limited to linking pregnant women and Obstetricians and not including other patients with health related issues.</a:t>
            </a:r>
            <a:endParaRPr>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The system enables pregnant women to schedule appointments with Obstetricians in close proximity to them.</a:t>
            </a:r>
            <a:endParaRPr>
              <a:solidFill>
                <a:srgbClr val="000000"/>
              </a:solidFill>
              <a:latin typeface="Times New Roman"/>
              <a:ea typeface="Times New Roman"/>
              <a:cs typeface="Times New Roman"/>
              <a:sym typeface="Times New Roman"/>
            </a:endParaRPr>
          </a:p>
          <a:p>
            <a:pPr marL="0" lvl="0" indent="0" algn="just" rtl="0">
              <a:lnSpc>
                <a:spcPct val="200000"/>
              </a:lnSpc>
              <a:spcBef>
                <a:spcPts val="0"/>
              </a:spcBef>
              <a:spcAft>
                <a:spcPts val="0"/>
              </a:spcAft>
              <a:buSzPts val="1800"/>
              <a:buNone/>
            </a:pPr>
            <a:r>
              <a:rPr lang="en" sz="1400">
                <a:solidFill>
                  <a:srgbClr val="000000"/>
                </a:solidFill>
                <a:latin typeface="Times New Roman"/>
                <a:ea typeface="Times New Roman"/>
                <a:cs typeface="Times New Roman"/>
                <a:sym typeface="Times New Roman"/>
              </a:rPr>
              <a:t> </a:t>
            </a:r>
            <a:endParaRPr sz="1400">
              <a:solidFill>
                <a:srgbClr val="000000"/>
              </a:solidFill>
            </a:endParaRPr>
          </a:p>
        </p:txBody>
      </p:sp>
      <p:sp>
        <p:nvSpPr>
          <p:cNvPr id="201" name="Google Shape;201;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Work Done</a:t>
            </a:r>
            <a:endParaRPr dirty="0"/>
          </a:p>
        </p:txBody>
      </p:sp>
      <p:sp>
        <p:nvSpPr>
          <p:cNvPr id="207" name="Google Shape;207;p38"/>
          <p:cNvSpPr txBox="1">
            <a:spLocks noGrp="1"/>
          </p:cNvSpPr>
          <p:nvPr>
            <p:ph type="body" idx="1"/>
          </p:nvPr>
        </p:nvSpPr>
        <p:spPr>
          <a:xfrm>
            <a:off x="311700" y="1447800"/>
            <a:ext cx="7701900" cy="3108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Elicited Requirements</a:t>
            </a: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Design Specification</a:t>
            </a: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Context Diagram</a:t>
            </a:r>
            <a:endParaRPr dirty="0">
              <a:solidFill>
                <a:srgbClr val="000000"/>
              </a:solidFill>
              <a:latin typeface="Times New Roman"/>
              <a:ea typeface="Times New Roman"/>
              <a:cs typeface="Times New Roman"/>
              <a:sym typeface="Times New Roman"/>
            </a:endParaRP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System Architecture</a:t>
            </a:r>
            <a:endParaRPr dirty="0">
              <a:solidFill>
                <a:srgbClr val="000000"/>
              </a:solidFill>
              <a:latin typeface="Times New Roman"/>
              <a:ea typeface="Times New Roman"/>
              <a:cs typeface="Times New Roman"/>
              <a:sym typeface="Times New Roman"/>
            </a:endParaRP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Block Diagram</a:t>
            </a:r>
            <a:endParaRPr dirty="0">
              <a:solidFill>
                <a:srgbClr val="000000"/>
              </a:solidFill>
              <a:latin typeface="Times New Roman"/>
              <a:ea typeface="Times New Roman"/>
              <a:cs typeface="Times New Roman"/>
              <a:sym typeface="Times New Roman"/>
            </a:endParaRP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Use case Diagram</a:t>
            </a:r>
            <a:endParaRPr dirty="0">
              <a:solidFill>
                <a:srgbClr val="000000"/>
              </a:solidFill>
              <a:latin typeface="Times New Roman"/>
              <a:ea typeface="Times New Roman"/>
              <a:cs typeface="Times New Roman"/>
              <a:sym typeface="Times New Roman"/>
            </a:endParaRP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Activity Diagram</a:t>
            </a:r>
            <a:endParaRPr dirty="0">
              <a:solidFill>
                <a:srgbClr val="000000"/>
              </a:solidFill>
              <a:latin typeface="Times New Roman"/>
              <a:ea typeface="Times New Roman"/>
              <a:cs typeface="Times New Roman"/>
              <a:sym typeface="Times New Roman"/>
            </a:endParaRPr>
          </a:p>
          <a:p>
            <a:pPr lvl="1" indent="-342900">
              <a:spcBef>
                <a:spcPts val="0"/>
              </a:spcBef>
              <a:buClr>
                <a:srgbClr val="000000"/>
              </a:buClr>
              <a:buSzPts val="1800"/>
              <a:buFont typeface="Arial" panose="020B0604020202020204" pitchFamily="34" charset="0"/>
              <a:buChar char="•"/>
            </a:pPr>
            <a:r>
              <a:rPr lang="en" dirty="0">
                <a:solidFill>
                  <a:srgbClr val="000000"/>
                </a:solidFill>
                <a:latin typeface="Times New Roman"/>
                <a:ea typeface="Times New Roman"/>
                <a:cs typeface="Times New Roman"/>
                <a:sym typeface="Times New Roman"/>
              </a:rPr>
              <a:t>Class Diagram</a:t>
            </a:r>
            <a:endParaRPr dirty="0">
              <a:solidFill>
                <a:srgbClr val="000000"/>
              </a:solidFill>
              <a:latin typeface="Times New Roman"/>
              <a:ea typeface="Times New Roman"/>
              <a:cs typeface="Times New Roman"/>
              <a:sym typeface="Times New Roman"/>
            </a:endParaRPr>
          </a:p>
          <a:p>
            <a:pPr marL="457200" lvl="0" indent="0" algn="l" rtl="0">
              <a:lnSpc>
                <a:spcPct val="115000"/>
              </a:lnSpc>
              <a:spcBef>
                <a:spcPts val="1600"/>
              </a:spcBef>
              <a:spcAft>
                <a:spcPts val="1600"/>
              </a:spcAft>
              <a:buSzPts val="1800"/>
              <a:buNone/>
            </a:pPr>
            <a:endParaRPr dirty="0">
              <a:latin typeface="Times New Roman"/>
              <a:ea typeface="Times New Roman"/>
              <a:cs typeface="Times New Roman"/>
              <a:sym typeface="Times New Roman"/>
            </a:endParaRPr>
          </a:p>
        </p:txBody>
      </p:sp>
      <p:sp>
        <p:nvSpPr>
          <p:cNvPr id="208" name="Google Shape;20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Work Done</a:t>
            </a:r>
            <a:endParaRPr dirty="0"/>
          </a:p>
        </p:txBody>
      </p:sp>
      <p:sp>
        <p:nvSpPr>
          <p:cNvPr id="207" name="Google Shape;207;p38"/>
          <p:cNvSpPr txBox="1">
            <a:spLocks noGrp="1"/>
          </p:cNvSpPr>
          <p:nvPr>
            <p:ph type="body" idx="1"/>
          </p:nvPr>
        </p:nvSpPr>
        <p:spPr>
          <a:xfrm>
            <a:off x="311700" y="1447800"/>
            <a:ext cx="7701900" cy="3108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Elicited Requirements</a:t>
            </a:r>
          </a:p>
          <a:p>
            <a:pPr lvl="1" indent="-342900">
              <a:spcBef>
                <a:spcPts val="0"/>
              </a:spcBef>
              <a:buClr>
                <a:srgbClr val="000000"/>
              </a:buClr>
              <a:buSzPts val="1800"/>
              <a:buFont typeface="Courier New" panose="02070309020205020404" pitchFamily="49" charset="0"/>
              <a:buChar char="o"/>
            </a:pPr>
            <a:r>
              <a:rPr lang="en" dirty="0">
                <a:solidFill>
                  <a:srgbClr val="000000"/>
                </a:solidFill>
                <a:latin typeface="Times New Roman"/>
                <a:ea typeface="Times New Roman"/>
                <a:cs typeface="Times New Roman"/>
                <a:sym typeface="Times New Roman"/>
              </a:rPr>
              <a:t>Present the requirements you have collected/gather, the data you will use for the design/model </a:t>
            </a:r>
            <a:r>
              <a:rPr lang="en" dirty="0" err="1">
                <a:solidFill>
                  <a:srgbClr val="000000"/>
                </a:solidFill>
                <a:latin typeface="Times New Roman"/>
                <a:ea typeface="Times New Roman"/>
                <a:cs typeface="Times New Roman"/>
                <a:sym typeface="Times New Roman"/>
              </a:rPr>
              <a:t>etc</a:t>
            </a:r>
            <a:endParaRPr lang="en" dirty="0">
              <a:solidFill>
                <a:srgbClr val="000000"/>
              </a:solidFill>
              <a:latin typeface="Times New Roman"/>
              <a:ea typeface="Times New Roman"/>
              <a:cs typeface="Times New Roman"/>
              <a:sym typeface="Times New Roman"/>
            </a:endParaRPr>
          </a:p>
        </p:txBody>
      </p:sp>
      <p:sp>
        <p:nvSpPr>
          <p:cNvPr id="208" name="Google Shape;20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spTree>
    <p:extLst>
      <p:ext uri="{BB962C8B-B14F-4D97-AF65-F5344CB8AC3E}">
        <p14:creationId xmlns:p14="http://schemas.microsoft.com/office/powerpoint/2010/main" val="3154144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Work Done: Design Specification</a:t>
            </a:r>
            <a:endParaRPr dirty="0"/>
          </a:p>
        </p:txBody>
      </p:sp>
      <p:sp>
        <p:nvSpPr>
          <p:cNvPr id="207" name="Google Shape;207;p38"/>
          <p:cNvSpPr txBox="1">
            <a:spLocks noGrp="1"/>
          </p:cNvSpPr>
          <p:nvPr>
            <p:ph type="body" idx="1"/>
          </p:nvPr>
        </p:nvSpPr>
        <p:spPr>
          <a:xfrm>
            <a:off x="311700" y="1447800"/>
            <a:ext cx="4928515" cy="2113085"/>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Context Diagram</a:t>
            </a:r>
            <a:endParaRPr dirty="0">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System Architecture</a:t>
            </a:r>
            <a:endParaRPr dirty="0">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Block Diagram</a:t>
            </a:r>
            <a:endParaRPr dirty="0">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Use case Diagram</a:t>
            </a:r>
            <a:endParaRPr dirty="0">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Activity Diagram</a:t>
            </a:r>
            <a:endParaRPr dirty="0">
              <a:solidFill>
                <a:srgbClr val="000000"/>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Class Diagram</a:t>
            </a:r>
            <a:endParaRPr dirty="0">
              <a:solidFill>
                <a:srgbClr val="000000"/>
              </a:solidFill>
              <a:latin typeface="Times New Roman"/>
              <a:ea typeface="Times New Roman"/>
              <a:cs typeface="Times New Roman"/>
              <a:sym typeface="Times New Roman"/>
            </a:endParaRPr>
          </a:p>
          <a:p>
            <a:pPr marL="457200" lvl="0" indent="0" algn="l" rtl="0">
              <a:lnSpc>
                <a:spcPct val="115000"/>
              </a:lnSpc>
              <a:spcBef>
                <a:spcPts val="1600"/>
              </a:spcBef>
              <a:spcAft>
                <a:spcPts val="1600"/>
              </a:spcAft>
              <a:buSzPts val="1800"/>
              <a:buNone/>
            </a:pPr>
            <a:endParaRPr dirty="0">
              <a:latin typeface="Times New Roman"/>
              <a:ea typeface="Times New Roman"/>
              <a:cs typeface="Times New Roman"/>
              <a:sym typeface="Times New Roman"/>
            </a:endParaRPr>
          </a:p>
        </p:txBody>
      </p:sp>
      <p:sp>
        <p:nvSpPr>
          <p:cNvPr id="208" name="Google Shape;20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spTree>
    <p:extLst>
      <p:ext uri="{BB962C8B-B14F-4D97-AF65-F5344CB8AC3E}">
        <p14:creationId xmlns:p14="http://schemas.microsoft.com/office/powerpoint/2010/main" val="384222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9"/>
          <p:cNvSpPr txBox="1">
            <a:spLocks noGrp="1"/>
          </p:cNvSpPr>
          <p:nvPr>
            <p:ph type="title"/>
          </p:nvPr>
        </p:nvSpPr>
        <p:spPr>
          <a:xfrm>
            <a:off x="197400" y="67700"/>
            <a:ext cx="8520600" cy="567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Design Specification(Contd.)</a:t>
            </a:r>
            <a:endParaRPr/>
          </a:p>
        </p:txBody>
      </p:sp>
      <p:sp>
        <p:nvSpPr>
          <p:cNvPr id="214" name="Google Shape;21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sp>
        <p:nvSpPr>
          <p:cNvPr id="215" name="Google Shape;215;p39"/>
          <p:cNvSpPr txBox="1"/>
          <p:nvPr/>
        </p:nvSpPr>
        <p:spPr>
          <a:xfrm>
            <a:off x="3066300" y="4663225"/>
            <a:ext cx="30114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1: Proposed Context Diagram</a:t>
            </a:r>
            <a:endParaRPr sz="1400" b="0" i="0" u="none" strike="noStrike" cap="none">
              <a:solidFill>
                <a:srgbClr val="000000"/>
              </a:solidFill>
              <a:latin typeface="Arial"/>
              <a:ea typeface="Arial"/>
              <a:cs typeface="Arial"/>
              <a:sym typeface="Arial"/>
            </a:endParaRPr>
          </a:p>
        </p:txBody>
      </p:sp>
      <p:pic>
        <p:nvPicPr>
          <p:cNvPr id="216" name="Google Shape;216;p39"/>
          <p:cNvPicPr preferRelativeResize="0"/>
          <p:nvPr/>
        </p:nvPicPr>
        <p:blipFill rotWithShape="1">
          <a:blip r:embed="rId3">
            <a:alphaModFix/>
          </a:blip>
          <a:srcRect/>
          <a:stretch/>
        </p:blipFill>
        <p:spPr>
          <a:xfrm>
            <a:off x="1512278" y="1538654"/>
            <a:ext cx="6286500" cy="30597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228600" y="152400"/>
            <a:ext cx="8603700" cy="584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Design Specification(Contd.)</a:t>
            </a:r>
            <a:endParaRPr/>
          </a:p>
        </p:txBody>
      </p:sp>
      <p:sp>
        <p:nvSpPr>
          <p:cNvPr id="222" name="Google Shape;222;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18</a:t>
            </a:fld>
            <a:endParaRPr/>
          </a:p>
        </p:txBody>
      </p:sp>
      <p:pic>
        <p:nvPicPr>
          <p:cNvPr id="223" name="Google Shape;223;p40"/>
          <p:cNvPicPr preferRelativeResize="0"/>
          <p:nvPr/>
        </p:nvPicPr>
        <p:blipFill rotWithShape="1">
          <a:blip r:embed="rId3">
            <a:alphaModFix/>
          </a:blip>
          <a:srcRect/>
          <a:stretch/>
        </p:blipFill>
        <p:spPr>
          <a:xfrm>
            <a:off x="4406900" y="152400"/>
            <a:ext cx="4305300" cy="4995000"/>
          </a:xfrm>
          <a:prstGeom prst="rect">
            <a:avLst/>
          </a:prstGeom>
          <a:noFill/>
          <a:ln>
            <a:noFill/>
          </a:ln>
        </p:spPr>
      </p:pic>
      <p:sp>
        <p:nvSpPr>
          <p:cNvPr id="224" name="Google Shape;224;p40"/>
          <p:cNvSpPr txBox="1"/>
          <p:nvPr/>
        </p:nvSpPr>
        <p:spPr>
          <a:xfrm>
            <a:off x="406400" y="4572625"/>
            <a:ext cx="36195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2: Proposed Mobile System Architecture Diagram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1"/>
          <p:cNvSpPr txBox="1">
            <a:spLocks noGrp="1"/>
          </p:cNvSpPr>
          <p:nvPr>
            <p:ph type="title"/>
          </p:nvPr>
        </p:nvSpPr>
        <p:spPr>
          <a:xfrm>
            <a:off x="311700" y="131200"/>
            <a:ext cx="8520600" cy="605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Design Specification(Contd.)</a:t>
            </a:r>
            <a:endParaRPr/>
          </a:p>
        </p:txBody>
      </p:sp>
      <p:sp>
        <p:nvSpPr>
          <p:cNvPr id="230" name="Google Shape;230;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pic>
        <p:nvPicPr>
          <p:cNvPr id="231" name="Google Shape;231;p41"/>
          <p:cNvPicPr preferRelativeResize="0"/>
          <p:nvPr/>
        </p:nvPicPr>
        <p:blipFill rotWithShape="1">
          <a:blip r:embed="rId3">
            <a:alphaModFix/>
          </a:blip>
          <a:srcRect/>
          <a:stretch/>
        </p:blipFill>
        <p:spPr>
          <a:xfrm>
            <a:off x="3022600" y="736600"/>
            <a:ext cx="4889500" cy="4102100"/>
          </a:xfrm>
          <a:prstGeom prst="rect">
            <a:avLst/>
          </a:prstGeom>
          <a:noFill/>
          <a:ln>
            <a:noFill/>
          </a:ln>
        </p:spPr>
      </p:pic>
      <p:sp>
        <p:nvSpPr>
          <p:cNvPr id="232" name="Google Shape;232;p41"/>
          <p:cNvSpPr txBox="1"/>
          <p:nvPr/>
        </p:nvSpPr>
        <p:spPr>
          <a:xfrm>
            <a:off x="0" y="4572000"/>
            <a:ext cx="30000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3: Proposed Context Diagram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2"/>
          <p:cNvSpPr txBox="1">
            <a:spLocks noGrp="1"/>
          </p:cNvSpPr>
          <p:nvPr>
            <p:ph type="title"/>
          </p:nvPr>
        </p:nvSpPr>
        <p:spPr>
          <a:xfrm>
            <a:off x="586175" y="158000"/>
            <a:ext cx="7038900" cy="520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Design Specification(Condt.)</a:t>
            </a:r>
            <a:endParaRPr/>
          </a:p>
        </p:txBody>
      </p:sp>
      <p:sp>
        <p:nvSpPr>
          <p:cNvPr id="238" name="Google Shape;238;p42"/>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endParaRPr/>
          </a:p>
        </p:txBody>
      </p:sp>
      <p:sp>
        <p:nvSpPr>
          <p:cNvPr id="239" name="Google Shape;23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pic>
        <p:nvPicPr>
          <p:cNvPr id="240" name="Google Shape;240;p42"/>
          <p:cNvPicPr preferRelativeResize="0"/>
          <p:nvPr/>
        </p:nvPicPr>
        <p:blipFill rotWithShape="1">
          <a:blip r:embed="rId3">
            <a:alphaModFix/>
          </a:blip>
          <a:srcRect/>
          <a:stretch/>
        </p:blipFill>
        <p:spPr>
          <a:xfrm>
            <a:off x="138113" y="900113"/>
            <a:ext cx="8867775" cy="3343275"/>
          </a:xfrm>
          <a:prstGeom prst="rect">
            <a:avLst/>
          </a:prstGeom>
          <a:noFill/>
          <a:ln>
            <a:noFill/>
          </a:ln>
        </p:spPr>
      </p:pic>
      <p:sp>
        <p:nvSpPr>
          <p:cNvPr id="241" name="Google Shape;241;p42"/>
          <p:cNvSpPr txBox="1"/>
          <p:nvPr/>
        </p:nvSpPr>
        <p:spPr>
          <a:xfrm>
            <a:off x="2806700" y="4568725"/>
            <a:ext cx="34035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4: Proposed Block Diagram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3"/>
          <p:cNvSpPr txBox="1">
            <a:spLocks noGrp="1"/>
          </p:cNvSpPr>
          <p:nvPr>
            <p:ph type="title"/>
          </p:nvPr>
        </p:nvSpPr>
        <p:spPr>
          <a:xfrm>
            <a:off x="266700" y="82750"/>
            <a:ext cx="6925500" cy="552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Design Specification(Condt.)</a:t>
            </a:r>
            <a:endParaRPr/>
          </a:p>
        </p:txBody>
      </p:sp>
      <p:sp>
        <p:nvSpPr>
          <p:cNvPr id="247" name="Google Shape;247;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pic>
        <p:nvPicPr>
          <p:cNvPr id="248" name="Google Shape;248;p43"/>
          <p:cNvPicPr preferRelativeResize="0"/>
          <p:nvPr/>
        </p:nvPicPr>
        <p:blipFill rotWithShape="1">
          <a:blip r:embed="rId3">
            <a:alphaModFix/>
          </a:blip>
          <a:srcRect/>
          <a:stretch/>
        </p:blipFill>
        <p:spPr>
          <a:xfrm>
            <a:off x="2349500" y="546100"/>
            <a:ext cx="4842700" cy="4245876"/>
          </a:xfrm>
          <a:prstGeom prst="rect">
            <a:avLst/>
          </a:prstGeom>
          <a:noFill/>
          <a:ln>
            <a:noFill/>
          </a:ln>
        </p:spPr>
      </p:pic>
      <p:sp>
        <p:nvSpPr>
          <p:cNvPr id="249" name="Google Shape;249;p43"/>
          <p:cNvSpPr txBox="1"/>
          <p:nvPr/>
        </p:nvSpPr>
        <p:spPr>
          <a:xfrm>
            <a:off x="3392950" y="4749900"/>
            <a:ext cx="32745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5: Proposed Use Case Diagram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Activity Diagram</a:t>
            </a:r>
            <a:endParaRPr/>
          </a:p>
        </p:txBody>
      </p:sp>
      <p:pic>
        <p:nvPicPr>
          <p:cNvPr id="255" name="Google Shape;255;p44"/>
          <p:cNvPicPr preferRelativeResize="0"/>
          <p:nvPr/>
        </p:nvPicPr>
        <p:blipFill rotWithShape="1">
          <a:blip r:embed="rId3">
            <a:alphaModFix/>
          </a:blip>
          <a:srcRect/>
          <a:stretch/>
        </p:blipFill>
        <p:spPr>
          <a:xfrm>
            <a:off x="3464250" y="0"/>
            <a:ext cx="3968299" cy="5143499"/>
          </a:xfrm>
          <a:prstGeom prst="rect">
            <a:avLst/>
          </a:prstGeom>
          <a:noFill/>
          <a:ln>
            <a:noFill/>
          </a:ln>
        </p:spPr>
      </p:pic>
      <p:sp>
        <p:nvSpPr>
          <p:cNvPr id="256" name="Google Shape;256;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sp>
        <p:nvSpPr>
          <p:cNvPr id="257" name="Google Shape;257;p44"/>
          <p:cNvSpPr txBox="1"/>
          <p:nvPr/>
        </p:nvSpPr>
        <p:spPr>
          <a:xfrm>
            <a:off x="0" y="4663225"/>
            <a:ext cx="34644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6: Proposed Activity Diagram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5"/>
          <p:cNvSpPr txBox="1">
            <a:spLocks noGrp="1"/>
          </p:cNvSpPr>
          <p:nvPr>
            <p:ph type="title"/>
          </p:nvPr>
        </p:nvSpPr>
        <p:spPr>
          <a:xfrm>
            <a:off x="311700" y="2231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Class Diagram</a:t>
            </a:r>
            <a:endParaRPr dirty="0"/>
          </a:p>
        </p:txBody>
      </p:sp>
      <p:pic>
        <p:nvPicPr>
          <p:cNvPr id="263" name="Google Shape;263;p45"/>
          <p:cNvPicPr preferRelativeResize="0"/>
          <p:nvPr/>
        </p:nvPicPr>
        <p:blipFill rotWithShape="1">
          <a:blip r:embed="rId3">
            <a:alphaModFix/>
          </a:blip>
          <a:srcRect/>
          <a:stretch/>
        </p:blipFill>
        <p:spPr>
          <a:xfrm>
            <a:off x="842392" y="843775"/>
            <a:ext cx="6443899" cy="4076625"/>
          </a:xfrm>
          <a:prstGeom prst="rect">
            <a:avLst/>
          </a:prstGeom>
          <a:noFill/>
          <a:ln>
            <a:noFill/>
          </a:ln>
        </p:spPr>
      </p:pic>
      <p:sp>
        <p:nvSpPr>
          <p:cNvPr id="264" name="Google Shape;264;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sp>
        <p:nvSpPr>
          <p:cNvPr id="265" name="Google Shape;265;p45"/>
          <p:cNvSpPr txBox="1"/>
          <p:nvPr/>
        </p:nvSpPr>
        <p:spPr>
          <a:xfrm>
            <a:off x="4572000" y="4771075"/>
            <a:ext cx="3581400" cy="48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Times New Roman"/>
                <a:ea typeface="Times New Roman"/>
                <a:cs typeface="Times New Roman"/>
                <a:sym typeface="Times New Roman"/>
              </a:rPr>
              <a:t>Figure 7: Proposed Class Diagram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5"/>
          <p:cNvSpPr txBox="1">
            <a:spLocks noGrp="1"/>
          </p:cNvSpPr>
          <p:nvPr>
            <p:ph type="title"/>
          </p:nvPr>
        </p:nvSpPr>
        <p:spPr>
          <a:xfrm>
            <a:off x="311700" y="2231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dirty="0"/>
              <a:t>Work Left Undone</a:t>
            </a:r>
            <a:endParaRPr dirty="0"/>
          </a:p>
        </p:txBody>
      </p:sp>
      <p:sp>
        <p:nvSpPr>
          <p:cNvPr id="264" name="Google Shape;264;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24</a:t>
            </a:fld>
            <a:endParaRPr/>
          </a:p>
        </p:txBody>
      </p:sp>
      <p:sp>
        <p:nvSpPr>
          <p:cNvPr id="2" name="Google Shape;271;p46">
            <a:extLst>
              <a:ext uri="{FF2B5EF4-FFF2-40B4-BE49-F238E27FC236}">
                <a16:creationId xmlns:a16="http://schemas.microsoft.com/office/drawing/2014/main" id="{24698DBA-CBE2-821C-B244-79EBCBE0895A}"/>
              </a:ext>
            </a:extLst>
          </p:cNvPr>
          <p:cNvSpPr txBox="1">
            <a:spLocks noGrp="1"/>
          </p:cNvSpPr>
          <p:nvPr>
            <p:ph type="body" idx="1"/>
          </p:nvPr>
        </p:nvSpPr>
        <p:spPr>
          <a:xfrm>
            <a:off x="190500" y="1397000"/>
            <a:ext cx="8641800" cy="2155092"/>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Outline what is left to be done to complete the project.</a:t>
            </a:r>
            <a:endParaRPr dirty="0">
              <a:solidFill>
                <a:srgbClr val="000000"/>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Analysis</a:t>
            </a:r>
          </a:p>
          <a:p>
            <a:pPr marL="914400" lvl="1" indent="-342900" algn="l"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Implementation – what are the tentative choice of </a:t>
            </a:r>
            <a:r>
              <a:rPr lang="en" sz="1800" dirty="0" err="1">
                <a:solidFill>
                  <a:srgbClr val="000000"/>
                </a:solidFill>
                <a:latin typeface="Times New Roman"/>
                <a:ea typeface="Times New Roman"/>
                <a:cs typeface="Times New Roman"/>
                <a:sym typeface="Times New Roman"/>
              </a:rPr>
              <a:t>technolog</a:t>
            </a:r>
            <a:endParaRPr sz="1800" dirty="0">
              <a:solidFill>
                <a:srgbClr val="000000"/>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Evaluation/Testing. </a:t>
            </a:r>
            <a:endParaRPr sz="1800" dirty="0">
              <a:solidFill>
                <a:srgbClr val="000000"/>
              </a:solidFill>
              <a:latin typeface="Times New Roman"/>
              <a:ea typeface="Times New Roman"/>
              <a:cs typeface="Times New Roman"/>
              <a:sym typeface="Times New Roman"/>
            </a:endParaRPr>
          </a:p>
          <a:p>
            <a:pPr marL="457200" lvl="0" indent="0" algn="l" rtl="0">
              <a:lnSpc>
                <a:spcPct val="115000"/>
              </a:lnSpc>
              <a:spcBef>
                <a:spcPts val="1600"/>
              </a:spcBef>
              <a:spcAft>
                <a:spcPts val="1600"/>
              </a:spcAft>
              <a:buSzPts val="1800"/>
              <a:buNone/>
            </a:pPr>
            <a:endParaRPr dirty="0"/>
          </a:p>
        </p:txBody>
      </p:sp>
    </p:spTree>
    <p:extLst>
      <p:ext uri="{BB962C8B-B14F-4D97-AF65-F5344CB8AC3E}">
        <p14:creationId xmlns:p14="http://schemas.microsoft.com/office/powerpoint/2010/main" val="3520614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6"/>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EXPECTED CONTRIBUTION TO KNOWLEDGE</a:t>
            </a:r>
            <a:endParaRPr/>
          </a:p>
        </p:txBody>
      </p:sp>
      <p:sp>
        <p:nvSpPr>
          <p:cNvPr id="271" name="Google Shape;271;p46"/>
          <p:cNvSpPr txBox="1">
            <a:spLocks noGrp="1"/>
          </p:cNvSpPr>
          <p:nvPr>
            <p:ph type="body" idx="1"/>
          </p:nvPr>
        </p:nvSpPr>
        <p:spPr>
          <a:xfrm>
            <a:off x="190500" y="1397000"/>
            <a:ext cx="8641800" cy="3581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project is expected to contribute to knowledge by providing a system:</a:t>
            </a:r>
            <a:endParaRPr dirty="0">
              <a:solidFill>
                <a:srgbClr val="000000"/>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That equates pregnant women to outpatients and provides an avenue for them to get medical attention outside the hospital.</a:t>
            </a:r>
            <a:endParaRPr sz="1800" dirty="0">
              <a:solidFill>
                <a:srgbClr val="000000"/>
              </a:solidFill>
              <a:latin typeface="Times New Roman"/>
              <a:ea typeface="Times New Roman"/>
              <a:cs typeface="Times New Roman"/>
              <a:sym typeface="Times New Roman"/>
            </a:endParaRPr>
          </a:p>
          <a:p>
            <a:pPr marL="914400" lvl="1" indent="-342900" algn="l" rtl="0">
              <a:lnSpc>
                <a:spcPct val="115000"/>
              </a:lnSpc>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That would harness course plotting technology to determine the most suitable obstetrician based on proximity and route with the aid of google map. </a:t>
            </a:r>
            <a:endParaRPr sz="1800" dirty="0">
              <a:solidFill>
                <a:srgbClr val="000000"/>
              </a:solidFill>
              <a:latin typeface="Times New Roman"/>
              <a:ea typeface="Times New Roman"/>
              <a:cs typeface="Times New Roman"/>
              <a:sym typeface="Times New Roman"/>
            </a:endParaRPr>
          </a:p>
          <a:p>
            <a:pPr marL="457200" lvl="0" indent="0" algn="l" rtl="0">
              <a:lnSpc>
                <a:spcPct val="115000"/>
              </a:lnSpc>
              <a:spcBef>
                <a:spcPts val="1600"/>
              </a:spcBef>
              <a:spcAft>
                <a:spcPts val="1600"/>
              </a:spcAft>
              <a:buSzPts val="1800"/>
              <a:buNone/>
            </a:pPr>
            <a:endParaRPr dirty="0"/>
          </a:p>
        </p:txBody>
      </p:sp>
      <p:sp>
        <p:nvSpPr>
          <p:cNvPr id="272" name="Google Shape;272;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7"/>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CONCLUSION</a:t>
            </a:r>
            <a:endParaRPr/>
          </a:p>
        </p:txBody>
      </p:sp>
      <p:sp>
        <p:nvSpPr>
          <p:cNvPr id="278" name="Google Shape;278;p47"/>
          <p:cNvSpPr txBox="1">
            <a:spLocks noGrp="1"/>
          </p:cNvSpPr>
          <p:nvPr>
            <p:ph type="body" idx="1"/>
          </p:nvPr>
        </p:nvSpPr>
        <p:spPr>
          <a:xfrm>
            <a:off x="226208" y="1183000"/>
            <a:ext cx="8520600" cy="3588000"/>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The problem statement, aim and objectives, methodology have been identified; the scope and justification have been presented; the proposed design specification are also represented. Thus, the project addresses an optimized method where pregnant women can access obstetricians from any hospital or health related organizations in close proximity to them for a personal check up, there is no need to visit the hospital again until when necessary or if recommended.</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In anticipation, the proposed system to be implemented will be flexible, thereby making it easy for the Doctor to see the pregnant woman outside the hospital facilities (House, Office).</a:t>
            </a:r>
            <a:endParaRPr dirty="0">
              <a:solidFill>
                <a:srgbClr val="000000"/>
              </a:solidFill>
              <a:latin typeface="Times New Roman"/>
              <a:ea typeface="Times New Roman"/>
              <a:cs typeface="Times New Roman"/>
              <a:sym typeface="Times New Roman"/>
            </a:endParaRPr>
          </a:p>
        </p:txBody>
      </p:sp>
      <p:sp>
        <p:nvSpPr>
          <p:cNvPr id="279" name="Google Shape;279;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8"/>
          <p:cNvSpPr txBox="1">
            <a:spLocks noGrp="1"/>
          </p:cNvSpPr>
          <p:nvPr>
            <p:ph type="title"/>
          </p:nvPr>
        </p:nvSpPr>
        <p:spPr>
          <a:xfrm>
            <a:off x="311700" y="170121"/>
            <a:ext cx="8520600" cy="70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REFERENCES</a:t>
            </a:r>
            <a:endParaRPr/>
          </a:p>
        </p:txBody>
      </p:sp>
      <p:sp>
        <p:nvSpPr>
          <p:cNvPr id="285" name="Google Shape;285;p48"/>
          <p:cNvSpPr txBox="1">
            <a:spLocks noGrp="1"/>
          </p:cNvSpPr>
          <p:nvPr>
            <p:ph type="body" idx="1"/>
          </p:nvPr>
        </p:nvSpPr>
        <p:spPr>
          <a:xfrm>
            <a:off x="189562" y="1115159"/>
            <a:ext cx="8642738" cy="3439256"/>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err="1">
                <a:solidFill>
                  <a:srgbClr val="000000"/>
                </a:solidFill>
                <a:latin typeface="Times New Roman"/>
                <a:ea typeface="Times New Roman"/>
                <a:cs typeface="Times New Roman"/>
                <a:sym typeface="Times New Roman"/>
              </a:rPr>
              <a:t>Adewuyi</a:t>
            </a:r>
            <a:r>
              <a:rPr lang="en" sz="1700" dirty="0">
                <a:solidFill>
                  <a:srgbClr val="000000"/>
                </a:solidFill>
                <a:latin typeface="Times New Roman"/>
                <a:ea typeface="Times New Roman"/>
                <a:cs typeface="Times New Roman"/>
                <a:sym typeface="Times New Roman"/>
              </a:rPr>
              <a:t>, E.O., </a:t>
            </a:r>
            <a:r>
              <a:rPr lang="en" sz="1700" dirty="0" err="1">
                <a:solidFill>
                  <a:srgbClr val="000000"/>
                </a:solidFill>
                <a:latin typeface="Times New Roman"/>
                <a:ea typeface="Times New Roman"/>
                <a:cs typeface="Times New Roman"/>
                <a:sym typeface="Times New Roman"/>
              </a:rPr>
              <a:t>Auta</a:t>
            </a:r>
            <a:r>
              <a:rPr lang="en" sz="1700" dirty="0">
                <a:solidFill>
                  <a:srgbClr val="000000"/>
                </a:solidFill>
                <a:latin typeface="Times New Roman"/>
                <a:ea typeface="Times New Roman"/>
                <a:cs typeface="Times New Roman"/>
                <a:sym typeface="Times New Roman"/>
              </a:rPr>
              <a:t>, A., </a:t>
            </a:r>
            <a:r>
              <a:rPr lang="en" sz="1700" dirty="0" err="1">
                <a:solidFill>
                  <a:srgbClr val="000000"/>
                </a:solidFill>
                <a:latin typeface="Times New Roman"/>
                <a:ea typeface="Times New Roman"/>
                <a:cs typeface="Times New Roman"/>
                <a:sym typeface="Times New Roman"/>
              </a:rPr>
              <a:t>Khanal</a:t>
            </a:r>
            <a:r>
              <a:rPr lang="en" sz="1700" dirty="0">
                <a:solidFill>
                  <a:srgbClr val="000000"/>
                </a:solidFill>
                <a:latin typeface="Times New Roman"/>
                <a:ea typeface="Times New Roman"/>
                <a:cs typeface="Times New Roman"/>
                <a:sym typeface="Times New Roman"/>
              </a:rPr>
              <a:t>, V., Bamidele, O.D., </a:t>
            </a:r>
            <a:r>
              <a:rPr lang="en" sz="1700" dirty="0" err="1">
                <a:solidFill>
                  <a:srgbClr val="000000"/>
                </a:solidFill>
                <a:latin typeface="Times New Roman"/>
                <a:ea typeface="Times New Roman"/>
                <a:cs typeface="Times New Roman"/>
                <a:sym typeface="Times New Roman"/>
              </a:rPr>
              <a:t>Akuoko</a:t>
            </a:r>
            <a:r>
              <a:rPr lang="en" sz="1700" dirty="0">
                <a:solidFill>
                  <a:srgbClr val="000000"/>
                </a:solidFill>
                <a:latin typeface="Times New Roman"/>
                <a:ea typeface="Times New Roman"/>
                <a:cs typeface="Times New Roman"/>
                <a:sym typeface="Times New Roman"/>
              </a:rPr>
              <a:t>, C.P. and </a:t>
            </a:r>
            <a:r>
              <a:rPr lang="en" sz="1700" dirty="0" err="1">
                <a:solidFill>
                  <a:srgbClr val="000000"/>
                </a:solidFill>
                <a:latin typeface="Times New Roman"/>
                <a:ea typeface="Times New Roman"/>
                <a:cs typeface="Times New Roman"/>
                <a:sym typeface="Times New Roman"/>
              </a:rPr>
              <a:t>Adefemi</a:t>
            </a:r>
            <a:r>
              <a:rPr lang="en" sz="1700" dirty="0">
                <a:solidFill>
                  <a:srgbClr val="000000"/>
                </a:solidFill>
                <a:latin typeface="Times New Roman"/>
                <a:ea typeface="Times New Roman"/>
                <a:cs typeface="Times New Roman"/>
                <a:sym typeface="Times New Roman"/>
              </a:rPr>
              <a:t>, K. (2018).  “Prevalence and factors associated with underutilization of antenatal care services in Nigeria: A comparative study of rural and urban  residences based on the 2013 Nigeria demographic and health survey”. </a:t>
            </a:r>
            <a:r>
              <a:rPr lang="en" sz="1700" i="1" dirty="0" err="1">
                <a:solidFill>
                  <a:srgbClr val="000000"/>
                </a:solidFill>
                <a:latin typeface="Times New Roman"/>
                <a:ea typeface="Times New Roman"/>
                <a:cs typeface="Times New Roman"/>
                <a:sym typeface="Times New Roman"/>
              </a:rPr>
              <a:t>PLoS</a:t>
            </a:r>
            <a:r>
              <a:rPr lang="en" sz="1700" i="1" dirty="0">
                <a:solidFill>
                  <a:srgbClr val="000000"/>
                </a:solidFill>
                <a:latin typeface="Times New Roman"/>
                <a:ea typeface="Times New Roman"/>
                <a:cs typeface="Times New Roman"/>
                <a:sym typeface="Times New Roman"/>
              </a:rPr>
              <a:t> ONE</a:t>
            </a:r>
            <a:r>
              <a:rPr lang="en" sz="1700" dirty="0">
                <a:solidFill>
                  <a:srgbClr val="000000"/>
                </a:solidFill>
                <a:latin typeface="Times New Roman"/>
                <a:ea typeface="Times New Roman"/>
                <a:cs typeface="Times New Roman"/>
                <a:sym typeface="Times New Roman"/>
              </a:rPr>
              <a:t> 13(5), pp. 255-303 .</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err="1">
                <a:solidFill>
                  <a:srgbClr val="000000"/>
                </a:solidFill>
                <a:latin typeface="Times New Roman"/>
                <a:ea typeface="Times New Roman"/>
                <a:cs typeface="Times New Roman"/>
                <a:sym typeface="Times New Roman"/>
              </a:rPr>
              <a:t>Chib</a:t>
            </a:r>
            <a:r>
              <a:rPr lang="en" sz="1700" dirty="0">
                <a:solidFill>
                  <a:srgbClr val="000000"/>
                </a:solidFill>
                <a:latin typeface="Times New Roman"/>
                <a:ea typeface="Times New Roman"/>
                <a:cs typeface="Times New Roman"/>
                <a:sym typeface="Times New Roman"/>
              </a:rPr>
              <a:t>, A., Chen, V.H.H. (2011). “Midwives with mobiles: a dialectical perspective on gender arising from technology introduction in rural Indonesia”. </a:t>
            </a:r>
            <a:r>
              <a:rPr lang="en" sz="1700" i="1" dirty="0">
                <a:solidFill>
                  <a:srgbClr val="000000"/>
                </a:solidFill>
                <a:latin typeface="Times New Roman"/>
                <a:ea typeface="Times New Roman"/>
                <a:cs typeface="Times New Roman"/>
                <a:sym typeface="Times New Roman"/>
              </a:rPr>
              <a:t>New Media Society. </a:t>
            </a:r>
            <a:r>
              <a:rPr lang="en" sz="1700" dirty="0">
                <a:solidFill>
                  <a:srgbClr val="000000"/>
                </a:solidFill>
                <a:latin typeface="Times New Roman"/>
                <a:ea typeface="Times New Roman"/>
                <a:cs typeface="Times New Roman"/>
                <a:sym typeface="Times New Roman"/>
              </a:rPr>
              <a:t>13(3)</a:t>
            </a:r>
            <a:r>
              <a:rPr lang="en" sz="1700" b="1" dirty="0">
                <a:solidFill>
                  <a:srgbClr val="000000"/>
                </a:solidFill>
                <a:latin typeface="Times New Roman"/>
                <a:ea typeface="Times New Roman"/>
                <a:cs typeface="Times New Roman"/>
                <a:sym typeface="Times New Roman"/>
              </a:rPr>
              <a:t>, </a:t>
            </a:r>
            <a:r>
              <a:rPr lang="en" sz="1700" dirty="0">
                <a:solidFill>
                  <a:srgbClr val="000000"/>
                </a:solidFill>
                <a:latin typeface="Times New Roman"/>
                <a:ea typeface="Times New Roman"/>
                <a:cs typeface="Times New Roman"/>
                <a:sym typeface="Times New Roman"/>
              </a:rPr>
              <a:t>pp. 486-501.</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Federal Ministry of Health (FMOH) Nigeria (2005). “Road map for accelerating the attainment of the millennium development goals related to maternal and newborn health in Nigeria.” </a:t>
            </a:r>
            <a:r>
              <a:rPr lang="en" sz="1700" i="1" dirty="0">
                <a:solidFill>
                  <a:srgbClr val="000000"/>
                </a:solidFill>
                <a:latin typeface="Times New Roman"/>
                <a:ea typeface="Times New Roman"/>
                <a:cs typeface="Times New Roman"/>
                <a:sym typeface="Times New Roman"/>
              </a:rPr>
              <a:t>Federal Ministry of Health. </a:t>
            </a:r>
            <a:endParaRPr sz="1700" i="1"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endParaRPr sz="1700" dirty="0">
              <a:solidFill>
                <a:srgbClr val="000000"/>
              </a:solidFill>
            </a:endParaRPr>
          </a:p>
        </p:txBody>
      </p:sp>
      <p:sp>
        <p:nvSpPr>
          <p:cNvPr id="286" name="Google Shape;286;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9"/>
          <p:cNvSpPr txBox="1">
            <a:spLocks noGrp="1"/>
          </p:cNvSpPr>
          <p:nvPr>
            <p:ph type="title"/>
          </p:nvPr>
        </p:nvSpPr>
        <p:spPr>
          <a:xfrm>
            <a:off x="311700" y="180754"/>
            <a:ext cx="8520600" cy="680484"/>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REFERENCES</a:t>
            </a:r>
            <a:endParaRPr/>
          </a:p>
        </p:txBody>
      </p:sp>
      <p:sp>
        <p:nvSpPr>
          <p:cNvPr id="292" name="Google Shape;292;p49"/>
          <p:cNvSpPr txBox="1">
            <a:spLocks noGrp="1"/>
          </p:cNvSpPr>
          <p:nvPr>
            <p:ph type="body" idx="1"/>
          </p:nvPr>
        </p:nvSpPr>
        <p:spPr>
          <a:xfrm>
            <a:off x="214923" y="984330"/>
            <a:ext cx="8345458" cy="3801979"/>
          </a:xfrm>
          <a:prstGeom prst="rect">
            <a:avLst/>
          </a:prstGeom>
          <a:noFill/>
          <a:ln>
            <a:noFill/>
          </a:ln>
        </p:spPr>
        <p:txBody>
          <a:bodyPr spcFirstLastPara="1" wrap="square" lIns="91425" tIns="91425" rIns="91425" bIns="91425" anchor="t" anchorCtr="0">
            <a:noAutofit/>
          </a:bodyPr>
          <a:lstStyle/>
          <a:p>
            <a:pPr marL="457200" lvl="0" indent="0" algn="just" rtl="0">
              <a:spcBef>
                <a:spcPts val="0"/>
              </a:spcBef>
              <a:spcAft>
                <a:spcPts val="0"/>
              </a:spcAft>
              <a:buNone/>
            </a:pPr>
            <a:endParaRPr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Freedman, L., Graham, W., and Brazier, E. (2007). ”Practical lessons from global safe motherhood initiatives: time for a new focus on implementation”. </a:t>
            </a:r>
            <a:r>
              <a:rPr lang="en" i="1" dirty="0">
                <a:solidFill>
                  <a:srgbClr val="000000"/>
                </a:solidFill>
                <a:latin typeface="Times New Roman"/>
                <a:ea typeface="Times New Roman"/>
                <a:cs typeface="Times New Roman"/>
                <a:sym typeface="Times New Roman"/>
              </a:rPr>
              <a:t>Lancet</a:t>
            </a:r>
            <a:r>
              <a:rPr lang="en" dirty="0">
                <a:solidFill>
                  <a:srgbClr val="000000"/>
                </a:solidFill>
                <a:latin typeface="Times New Roman"/>
                <a:ea typeface="Times New Roman"/>
                <a:cs typeface="Times New Roman"/>
                <a:sym typeface="Times New Roman"/>
              </a:rPr>
              <a:t>, 370 pp. 383–391.</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Hill, K., Thomas, K., and Abou, Z.C., On behalf of the Maternal Mortality Working Group, </a:t>
            </a:r>
            <a:r>
              <a:rPr lang="en" i="1" dirty="0">
                <a:solidFill>
                  <a:srgbClr val="000000"/>
                </a:solidFill>
                <a:latin typeface="Times New Roman"/>
                <a:ea typeface="Times New Roman"/>
                <a:cs typeface="Times New Roman"/>
                <a:sym typeface="Times New Roman"/>
              </a:rPr>
              <a:t>et al. </a:t>
            </a:r>
            <a:r>
              <a:rPr lang="en" dirty="0">
                <a:solidFill>
                  <a:srgbClr val="000000"/>
                </a:solidFill>
                <a:latin typeface="Times New Roman"/>
                <a:ea typeface="Times New Roman"/>
                <a:cs typeface="Times New Roman"/>
                <a:sym typeface="Times New Roman"/>
              </a:rPr>
              <a:t>(2007). “Estimates of maternal mortality worldwide between 1990 and 2005: An assessment of the available data.” </a:t>
            </a:r>
            <a:r>
              <a:rPr lang="en" i="1" dirty="0">
                <a:solidFill>
                  <a:srgbClr val="000000"/>
                </a:solidFill>
                <a:latin typeface="Times New Roman"/>
                <a:ea typeface="Times New Roman"/>
                <a:cs typeface="Times New Roman"/>
                <a:sym typeface="Times New Roman"/>
              </a:rPr>
              <a:t>Lancet</a:t>
            </a:r>
            <a:r>
              <a:rPr lang="en" dirty="0">
                <a:solidFill>
                  <a:srgbClr val="000000"/>
                </a:solidFill>
                <a:latin typeface="Times New Roman"/>
                <a:ea typeface="Times New Roman"/>
                <a:cs typeface="Times New Roman"/>
                <a:sym typeface="Times New Roman"/>
              </a:rPr>
              <a:t>, 370, pp. 1311–1319.</a:t>
            </a: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Lund, </a:t>
            </a:r>
            <a:r>
              <a:rPr lang="en" dirty="0" err="1">
                <a:solidFill>
                  <a:srgbClr val="000000"/>
                </a:solidFill>
                <a:latin typeface="Times New Roman"/>
                <a:ea typeface="Times New Roman"/>
                <a:cs typeface="Times New Roman"/>
                <a:sym typeface="Times New Roman"/>
              </a:rPr>
              <a:t>B.,Nielsen</a:t>
            </a:r>
            <a:r>
              <a:rPr lang="en" dirty="0">
                <a:solidFill>
                  <a:srgbClr val="000000"/>
                </a:solidFill>
                <a:latin typeface="Times New Roman"/>
                <a:ea typeface="Times New Roman"/>
                <a:cs typeface="Times New Roman"/>
                <a:sym typeface="Times New Roman"/>
              </a:rPr>
              <a:t> B., </a:t>
            </a:r>
            <a:r>
              <a:rPr lang="en" dirty="0" err="1">
                <a:solidFill>
                  <a:srgbClr val="000000"/>
                </a:solidFill>
                <a:latin typeface="Times New Roman"/>
                <a:ea typeface="Times New Roman"/>
                <a:cs typeface="Times New Roman"/>
                <a:sym typeface="Times New Roman"/>
              </a:rPr>
              <a:t>Hemed</a:t>
            </a:r>
            <a:r>
              <a:rPr lang="en" dirty="0">
                <a:solidFill>
                  <a:srgbClr val="000000"/>
                </a:solidFill>
                <a:latin typeface="Times New Roman"/>
                <a:ea typeface="Times New Roman"/>
                <a:cs typeface="Times New Roman"/>
                <a:sym typeface="Times New Roman"/>
              </a:rPr>
              <a:t> M., Boas I.M., Said A. and Said K., (2014). "Mobile phones improve antenatal care attendance in Zanzibar: a cluster randomized controlled trial," </a:t>
            </a:r>
            <a:r>
              <a:rPr lang="en" i="1" dirty="0">
                <a:solidFill>
                  <a:srgbClr val="000000"/>
                </a:solidFill>
                <a:latin typeface="Times New Roman"/>
                <a:ea typeface="Times New Roman"/>
                <a:cs typeface="Times New Roman"/>
                <a:sym typeface="Times New Roman"/>
              </a:rPr>
              <a:t>BMC pregnancy and childbirth</a:t>
            </a:r>
            <a:r>
              <a:rPr lang="en" dirty="0">
                <a:solidFill>
                  <a:srgbClr val="000000"/>
                </a:solidFill>
                <a:latin typeface="Times New Roman"/>
                <a:ea typeface="Times New Roman"/>
                <a:cs typeface="Times New Roman"/>
                <a:sym typeface="Times New Roman"/>
              </a:rPr>
              <a:t>, 14, pp. 29-40.</a:t>
            </a:r>
            <a:endParaRPr dirty="0">
              <a:solidFill>
                <a:srgbClr val="000000"/>
              </a:solidFill>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rgbClr val="000000"/>
              </a:buClr>
              <a:buSzPts val="1800"/>
              <a:buFont typeface="Times New Roman"/>
              <a:buNone/>
            </a:pPr>
            <a:endParaRPr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endParaRPr sz="1400"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sz="1400"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sz="1400"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sz="1200"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sz="1200" dirty="0">
              <a:solidFill>
                <a:srgbClr val="000000"/>
              </a:solidFill>
              <a:latin typeface="Times New Roman"/>
              <a:ea typeface="Times New Roman"/>
              <a:cs typeface="Times New Roman"/>
              <a:sym typeface="Times New Roman"/>
            </a:endParaRPr>
          </a:p>
          <a:p>
            <a:pPr marL="0" lvl="0" indent="0" algn="just" rtl="0">
              <a:lnSpc>
                <a:spcPct val="200000"/>
              </a:lnSpc>
              <a:spcBef>
                <a:spcPts val="0"/>
              </a:spcBef>
              <a:spcAft>
                <a:spcPts val="0"/>
              </a:spcAft>
              <a:buSzPts val="1800"/>
              <a:buNone/>
            </a:pPr>
            <a:endParaRPr sz="1200"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1600"/>
              </a:spcAft>
              <a:buSzPts val="1800"/>
              <a:buNone/>
            </a:pPr>
            <a:endParaRPr dirty="0"/>
          </a:p>
        </p:txBody>
      </p:sp>
      <p:sp>
        <p:nvSpPr>
          <p:cNvPr id="293" name="Google Shape;293;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0"/>
          <p:cNvSpPr txBox="1">
            <a:spLocks noGrp="1"/>
          </p:cNvSpPr>
          <p:nvPr>
            <p:ph type="title"/>
          </p:nvPr>
        </p:nvSpPr>
        <p:spPr>
          <a:xfrm>
            <a:off x="311700" y="180754"/>
            <a:ext cx="8520600" cy="680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REFERENCES</a:t>
            </a:r>
            <a:endParaRPr/>
          </a:p>
        </p:txBody>
      </p:sp>
      <p:sp>
        <p:nvSpPr>
          <p:cNvPr id="299" name="Google Shape;299;p50"/>
          <p:cNvSpPr txBox="1">
            <a:spLocks noGrp="1"/>
          </p:cNvSpPr>
          <p:nvPr>
            <p:ph type="body" idx="1"/>
          </p:nvPr>
        </p:nvSpPr>
        <p:spPr>
          <a:xfrm>
            <a:off x="311700" y="934425"/>
            <a:ext cx="8375100" cy="3925592"/>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endParaRPr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err="1">
                <a:solidFill>
                  <a:srgbClr val="000000"/>
                </a:solidFill>
                <a:latin typeface="Times New Roman"/>
                <a:ea typeface="Times New Roman"/>
                <a:cs typeface="Times New Roman"/>
                <a:sym typeface="Times New Roman"/>
              </a:rPr>
              <a:t>Menaka</a:t>
            </a:r>
            <a:r>
              <a:rPr lang="en" sz="1700" dirty="0">
                <a:solidFill>
                  <a:srgbClr val="000000"/>
                </a:solidFill>
                <a:latin typeface="Times New Roman"/>
                <a:ea typeface="Times New Roman"/>
                <a:cs typeface="Times New Roman"/>
                <a:sym typeface="Times New Roman"/>
              </a:rPr>
              <a:t>, B., </a:t>
            </a:r>
            <a:r>
              <a:rPr lang="en" sz="1700" dirty="0" err="1">
                <a:solidFill>
                  <a:srgbClr val="000000"/>
                </a:solidFill>
                <a:latin typeface="Times New Roman"/>
                <a:ea typeface="Times New Roman"/>
                <a:cs typeface="Times New Roman"/>
                <a:sym typeface="Times New Roman"/>
              </a:rPr>
              <a:t>Kamineni</a:t>
            </a:r>
            <a:r>
              <a:rPr lang="en" sz="1700" dirty="0">
                <a:solidFill>
                  <a:srgbClr val="000000"/>
                </a:solidFill>
                <a:latin typeface="Times New Roman"/>
                <a:ea typeface="Times New Roman"/>
                <a:cs typeface="Times New Roman"/>
                <a:sym typeface="Times New Roman"/>
              </a:rPr>
              <a:t> M.V., (2017) ‘The role of m-health in providing antenatal care in rural areas’. </a:t>
            </a:r>
            <a:r>
              <a:rPr lang="en" sz="1700" i="1" dirty="0">
                <a:solidFill>
                  <a:srgbClr val="000000"/>
                </a:solidFill>
                <a:latin typeface="Times New Roman"/>
                <a:ea typeface="Times New Roman"/>
                <a:cs typeface="Times New Roman"/>
                <a:sym typeface="Times New Roman"/>
              </a:rPr>
              <a:t>International Journal of Reproduction, Contraception, Obstetrics and	 Gynecology.</a:t>
            </a:r>
            <a:r>
              <a:rPr lang="en" sz="1700" dirty="0">
                <a:solidFill>
                  <a:srgbClr val="000000"/>
                </a:solidFill>
                <a:latin typeface="Times New Roman"/>
                <a:ea typeface="Times New Roman"/>
                <a:cs typeface="Times New Roman"/>
                <a:sym typeface="Times New Roman"/>
              </a:rPr>
              <a:t> 6(9), pp 4059.</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err="1">
                <a:solidFill>
                  <a:srgbClr val="000000"/>
                </a:solidFill>
                <a:latin typeface="Times New Roman"/>
                <a:ea typeface="Times New Roman"/>
                <a:cs typeface="Times New Roman"/>
                <a:sym typeface="Times New Roman"/>
              </a:rPr>
              <a:t>Nazia</a:t>
            </a:r>
            <a:r>
              <a:rPr lang="en" sz="1700" dirty="0">
                <a:solidFill>
                  <a:srgbClr val="000000"/>
                </a:solidFill>
                <a:latin typeface="Times New Roman"/>
                <a:ea typeface="Times New Roman"/>
                <a:cs typeface="Times New Roman"/>
                <a:sym typeface="Times New Roman"/>
              </a:rPr>
              <a:t> S., Ekta S., (2014). “Online Appointment Scheduling System for Hospitals–An Analytical Study”. </a:t>
            </a:r>
            <a:r>
              <a:rPr lang="en" sz="1700" i="1" dirty="0">
                <a:solidFill>
                  <a:srgbClr val="000000"/>
                </a:solidFill>
                <a:latin typeface="Times New Roman"/>
                <a:ea typeface="Times New Roman"/>
                <a:cs typeface="Times New Roman"/>
                <a:sym typeface="Times New Roman"/>
              </a:rPr>
              <a:t>International Journal of Innovations in Engineering and Technology (IJIET). </a:t>
            </a:r>
            <a:r>
              <a:rPr lang="en" sz="1700" dirty="0">
                <a:solidFill>
                  <a:srgbClr val="000000"/>
                </a:solidFill>
                <a:latin typeface="Times New Roman"/>
                <a:ea typeface="Times New Roman"/>
                <a:cs typeface="Times New Roman"/>
                <a:sym typeface="Times New Roman"/>
              </a:rPr>
              <a:t>11, pp. 98-108.</a:t>
            </a:r>
            <a:endParaRPr sz="17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Obaid, T., (2007). “No woman should die giving life”. </a:t>
            </a:r>
            <a:r>
              <a:rPr lang="en" sz="1700" i="1" dirty="0">
                <a:solidFill>
                  <a:srgbClr val="000000"/>
                </a:solidFill>
                <a:latin typeface="Times New Roman"/>
                <a:ea typeface="Times New Roman"/>
                <a:cs typeface="Times New Roman"/>
                <a:sym typeface="Times New Roman"/>
              </a:rPr>
              <a:t>Lancet</a:t>
            </a:r>
            <a:r>
              <a:rPr lang="en" sz="1700" dirty="0">
                <a:solidFill>
                  <a:srgbClr val="000000"/>
                </a:solidFill>
                <a:latin typeface="Times New Roman"/>
                <a:ea typeface="Times New Roman"/>
                <a:cs typeface="Times New Roman"/>
                <a:sym typeface="Times New Roman"/>
              </a:rPr>
              <a:t>, 370, pp. 1287–1288. </a:t>
            </a:r>
            <a:endParaRPr sz="17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Oyeyemi, S.O. and Wynn R., (2014) "Giving cell phones to pregnant women and improving services may increase primary health facility utilization: a case–control study of a Nigerian project," </a:t>
            </a:r>
            <a:r>
              <a:rPr lang="en" sz="1700" i="1" dirty="0">
                <a:solidFill>
                  <a:srgbClr val="000000"/>
                </a:solidFill>
                <a:latin typeface="Times New Roman"/>
                <a:ea typeface="Times New Roman"/>
                <a:cs typeface="Times New Roman"/>
                <a:sym typeface="Times New Roman"/>
              </a:rPr>
              <a:t>Reproductive health</a:t>
            </a:r>
            <a:r>
              <a:rPr lang="en" sz="1700" dirty="0">
                <a:solidFill>
                  <a:srgbClr val="000000"/>
                </a:solidFill>
                <a:latin typeface="Times New Roman"/>
                <a:ea typeface="Times New Roman"/>
                <a:cs typeface="Times New Roman"/>
                <a:sym typeface="Times New Roman"/>
              </a:rPr>
              <a:t>, 11, pp. 8.</a:t>
            </a:r>
            <a:endParaRPr sz="17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1700" dirty="0" err="1">
                <a:solidFill>
                  <a:srgbClr val="000000"/>
                </a:solidFill>
                <a:latin typeface="Times New Roman"/>
                <a:ea typeface="Times New Roman"/>
                <a:cs typeface="Times New Roman"/>
                <a:sym typeface="Times New Roman"/>
              </a:rPr>
              <a:t>Starrs</a:t>
            </a:r>
            <a:r>
              <a:rPr lang="en" sz="1700" dirty="0">
                <a:solidFill>
                  <a:srgbClr val="000000"/>
                </a:solidFill>
                <a:latin typeface="Times New Roman"/>
                <a:ea typeface="Times New Roman"/>
                <a:cs typeface="Times New Roman"/>
                <a:sym typeface="Times New Roman"/>
              </a:rPr>
              <a:t>, A., (2007). “ Delivering for women”. </a:t>
            </a:r>
            <a:r>
              <a:rPr lang="en" sz="1700" i="1" dirty="0">
                <a:solidFill>
                  <a:srgbClr val="000000"/>
                </a:solidFill>
                <a:latin typeface="Times New Roman"/>
                <a:ea typeface="Times New Roman"/>
                <a:cs typeface="Times New Roman"/>
                <a:sym typeface="Times New Roman"/>
              </a:rPr>
              <a:t>Lancet</a:t>
            </a:r>
            <a:r>
              <a:rPr lang="en" sz="1700" dirty="0">
                <a:solidFill>
                  <a:srgbClr val="000000"/>
                </a:solidFill>
                <a:latin typeface="Times New Roman"/>
                <a:ea typeface="Times New Roman"/>
                <a:cs typeface="Times New Roman"/>
                <a:sym typeface="Times New Roman"/>
              </a:rPr>
              <a:t>, 370, pp. 1285–1287.</a:t>
            </a:r>
            <a:endParaRPr sz="1700" dirty="0">
              <a:solidFill>
                <a:srgbClr val="000000"/>
              </a:solidFill>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rgbClr val="000000"/>
              </a:buClr>
              <a:buSzPts val="1800"/>
              <a:buFont typeface="Times New Roman"/>
              <a:buNone/>
            </a:pPr>
            <a:endParaRPr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200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1600"/>
              </a:spcAft>
              <a:buSzPts val="1800"/>
              <a:buNone/>
            </a:pPr>
            <a:endParaRPr dirty="0"/>
          </a:p>
        </p:txBody>
      </p:sp>
      <p:sp>
        <p:nvSpPr>
          <p:cNvPr id="300" name="Google Shape;30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REFERENCES</a:t>
            </a:r>
            <a:endParaRPr/>
          </a:p>
        </p:txBody>
      </p:sp>
      <p:sp>
        <p:nvSpPr>
          <p:cNvPr id="306" name="Google Shape;306;p51"/>
          <p:cNvSpPr txBox="1">
            <a:spLocks noGrp="1"/>
          </p:cNvSpPr>
          <p:nvPr>
            <p:ph type="body" idx="1"/>
          </p:nvPr>
        </p:nvSpPr>
        <p:spPr>
          <a:xfrm>
            <a:off x="199350" y="1249325"/>
            <a:ext cx="8690700" cy="3521675"/>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Tufail M., (2018). ‘Online Polyclinic appointment and database management system’ Unpublished M.Sc. Thesis, Department of Information Technology, </a:t>
            </a:r>
            <a:r>
              <a:rPr lang="en" sz="1700" dirty="0" err="1">
                <a:solidFill>
                  <a:srgbClr val="000000"/>
                </a:solidFill>
                <a:latin typeface="Times New Roman"/>
                <a:ea typeface="Times New Roman"/>
                <a:cs typeface="Times New Roman"/>
                <a:sym typeface="Times New Roman"/>
              </a:rPr>
              <a:t>Tampereen</a:t>
            </a:r>
            <a:r>
              <a:rPr lang="en" sz="1700" dirty="0">
                <a:solidFill>
                  <a:srgbClr val="000000"/>
                </a:solidFill>
                <a:latin typeface="Times New Roman"/>
                <a:ea typeface="Times New Roman"/>
                <a:cs typeface="Times New Roman"/>
                <a:sym typeface="Times New Roman"/>
              </a:rPr>
              <a:t> University of Applied Sciences.</a:t>
            </a:r>
            <a:endParaRPr sz="1700" dirty="0">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World Health </a:t>
            </a:r>
            <a:r>
              <a:rPr lang="en" sz="1700" dirty="0" err="1">
                <a:solidFill>
                  <a:srgbClr val="000000"/>
                </a:solidFill>
                <a:latin typeface="Times New Roman"/>
                <a:ea typeface="Times New Roman"/>
                <a:cs typeface="Times New Roman"/>
                <a:sym typeface="Times New Roman"/>
              </a:rPr>
              <a:t>Organisation</a:t>
            </a:r>
            <a:r>
              <a:rPr lang="en" sz="1700" dirty="0">
                <a:solidFill>
                  <a:srgbClr val="000000"/>
                </a:solidFill>
                <a:latin typeface="Times New Roman"/>
                <a:ea typeface="Times New Roman"/>
                <a:cs typeface="Times New Roman"/>
                <a:sym typeface="Times New Roman"/>
              </a:rPr>
              <a:t>. </a:t>
            </a:r>
            <a:r>
              <a:rPr lang="en" sz="1700" i="1" dirty="0">
                <a:solidFill>
                  <a:srgbClr val="000000"/>
                </a:solidFill>
                <a:latin typeface="Times New Roman"/>
                <a:ea typeface="Times New Roman"/>
                <a:cs typeface="Times New Roman"/>
                <a:sym typeface="Times New Roman"/>
              </a:rPr>
              <a:t>“Maternal mortality Fact”</a:t>
            </a:r>
            <a:r>
              <a:rPr lang="en" sz="1700" dirty="0">
                <a:solidFill>
                  <a:srgbClr val="000000"/>
                </a:solidFill>
                <a:latin typeface="Times New Roman"/>
                <a:ea typeface="Times New Roman"/>
                <a:cs typeface="Times New Roman"/>
                <a:sym typeface="Times New Roman"/>
              </a:rPr>
              <a:t>. May 2012. Accessed on July	 20, 2019 at: </a:t>
            </a:r>
            <a:r>
              <a:rPr lang="en" sz="1700" u="sng" dirty="0">
                <a:solidFill>
                  <a:schemeClr val="hlink"/>
                </a:solidFill>
                <a:latin typeface="Times New Roman"/>
                <a:ea typeface="Times New Roman"/>
                <a:cs typeface="Times New Roman"/>
                <a:sym typeface="Times New Roman"/>
                <a:hlinkClick r:id="rId3"/>
              </a:rPr>
              <a:t>http://www.who.int/mediacentre/factsheets/fs348/en/index.html</a:t>
            </a:r>
            <a:r>
              <a:rPr lang="en" sz="1700" dirty="0">
                <a:solidFill>
                  <a:srgbClr val="000000"/>
                </a:solidFill>
                <a:latin typeface="Times New Roman"/>
                <a:ea typeface="Times New Roman"/>
                <a:cs typeface="Times New Roman"/>
                <a:sym typeface="Times New Roman"/>
              </a:rPr>
              <a:t>.</a:t>
            </a:r>
            <a:endParaRPr sz="1700" dirty="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 sz="1700" dirty="0">
                <a:solidFill>
                  <a:srgbClr val="000000"/>
                </a:solidFill>
                <a:latin typeface="Times New Roman"/>
                <a:ea typeface="Times New Roman"/>
                <a:cs typeface="Times New Roman"/>
                <a:sym typeface="Times New Roman"/>
              </a:rPr>
              <a:t>World Health Organization and UNICEF. </a:t>
            </a:r>
            <a:r>
              <a:rPr lang="en" sz="1700" dirty="0" err="1">
                <a:solidFill>
                  <a:srgbClr val="000000"/>
                </a:solidFill>
                <a:latin typeface="Times New Roman"/>
                <a:ea typeface="Times New Roman"/>
                <a:cs typeface="Times New Roman"/>
                <a:sym typeface="Times New Roman"/>
              </a:rPr>
              <a:t>Maternal,newborn</a:t>
            </a:r>
            <a:r>
              <a:rPr lang="en" sz="1700" dirty="0">
                <a:solidFill>
                  <a:srgbClr val="000000"/>
                </a:solidFill>
                <a:latin typeface="Times New Roman"/>
                <a:ea typeface="Times New Roman"/>
                <a:cs typeface="Times New Roman"/>
                <a:sym typeface="Times New Roman"/>
              </a:rPr>
              <a:t> and child survival. Geneva	&amp; New York: Coordination Committee; 2012. Accessed on 5th of July 2019		</a:t>
            </a:r>
            <a:r>
              <a:rPr lang="en" sz="1700" u="sng" dirty="0">
                <a:solidFill>
                  <a:schemeClr val="accent5"/>
                </a:solidFill>
                <a:latin typeface="Times New Roman"/>
                <a:ea typeface="Times New Roman"/>
                <a:cs typeface="Times New Roman"/>
                <a:sym typeface="Times New Roman"/>
                <a:hlinkClick r:id="rId4"/>
              </a:rPr>
              <a:t>http://www.countdown2015mnch.org/documents/2012Report/2012-complete-no	profiles.pdf</a:t>
            </a:r>
            <a:r>
              <a:rPr lang="en" sz="1700" dirty="0">
                <a:solidFill>
                  <a:srgbClr val="000000"/>
                </a:solidFill>
                <a:latin typeface="Times New Roman"/>
                <a:ea typeface="Times New Roman"/>
                <a:cs typeface="Times New Roman"/>
                <a:sym typeface="Times New Roman"/>
              </a:rPr>
              <a:t>.</a:t>
            </a:r>
            <a:endParaRPr sz="17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1700" dirty="0">
                <a:solidFill>
                  <a:srgbClr val="000000"/>
                </a:solidFill>
                <a:latin typeface="Times New Roman"/>
                <a:ea typeface="Times New Roman"/>
                <a:cs typeface="Times New Roman"/>
                <a:sym typeface="Times New Roman"/>
              </a:rPr>
              <a:t>World Health </a:t>
            </a:r>
            <a:r>
              <a:rPr lang="en" sz="1700" dirty="0" err="1">
                <a:solidFill>
                  <a:srgbClr val="000000"/>
                </a:solidFill>
                <a:latin typeface="Times New Roman"/>
                <a:ea typeface="Times New Roman"/>
                <a:cs typeface="Times New Roman"/>
                <a:sym typeface="Times New Roman"/>
              </a:rPr>
              <a:t>Organisation</a:t>
            </a:r>
            <a:r>
              <a:rPr lang="en" sz="1700" dirty="0">
                <a:solidFill>
                  <a:srgbClr val="000000"/>
                </a:solidFill>
                <a:latin typeface="Times New Roman"/>
                <a:ea typeface="Times New Roman"/>
                <a:cs typeface="Times New Roman"/>
                <a:sym typeface="Times New Roman"/>
              </a:rPr>
              <a:t>: Maternal mortality in 2005: estimates developed by WHO, UNICEF, UNFPA, and the World Bank. Geneva: WHO; 2007.</a:t>
            </a:r>
            <a:endParaRPr sz="1700"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endParaRPr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just" rtl="0">
              <a:lnSpc>
                <a:spcPct val="200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a:p>
            <a:pPr marL="0" lvl="0" indent="0" algn="l" rtl="0">
              <a:lnSpc>
                <a:spcPct val="115000"/>
              </a:lnSpc>
              <a:spcBef>
                <a:spcPts val="0"/>
              </a:spcBef>
              <a:spcAft>
                <a:spcPts val="1600"/>
              </a:spcAft>
              <a:buSzPts val="1800"/>
              <a:buNone/>
            </a:pPr>
            <a:endParaRPr dirty="0"/>
          </a:p>
        </p:txBody>
      </p:sp>
      <p:sp>
        <p:nvSpPr>
          <p:cNvPr id="307" name="Google Shape;307;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30</a:t>
            </a:fld>
            <a:endParaRPr/>
          </a:p>
        </p:txBody>
      </p:sp>
    </p:spTree>
  </p:cSld>
  <p:clrMapOvr>
    <a:masterClrMapping/>
  </p:clrMapOvr>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2411</Words>
  <Application>Microsoft Macintosh PowerPoint</Application>
  <PresentationFormat>On-screen Show (16:9)</PresentationFormat>
  <Paragraphs>227</Paragraphs>
  <Slides>30</Slides>
  <Notes>30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Source Code Pro</vt:lpstr>
      <vt:lpstr>Courier New</vt:lpstr>
      <vt:lpstr>Oswald</vt:lpstr>
      <vt:lpstr>Arial</vt:lpstr>
      <vt:lpstr>Times New Roman</vt:lpstr>
      <vt:lpstr>Modern Writer</vt:lpstr>
      <vt:lpstr>Modern Writer</vt:lpstr>
      <vt:lpstr>CPE 503 PRESENTATION  ON  Development of an mHealth System to Improve Antenatal Care </vt:lpstr>
      <vt:lpstr>Presentation Outline</vt:lpstr>
      <vt:lpstr>INTRODUCTION</vt:lpstr>
      <vt:lpstr>INTRODUCTION(CONT’D)</vt:lpstr>
      <vt:lpstr>LITERATURE REVIEW TABLE</vt:lpstr>
      <vt:lpstr>LITERATURE REVIEW TABLE</vt:lpstr>
      <vt:lpstr>LITERATURE REVIEW TABLE</vt:lpstr>
      <vt:lpstr>LITERATURE REVIEW TABLE</vt:lpstr>
      <vt:lpstr>STATEMENT OF PROBLEMS</vt:lpstr>
      <vt:lpstr>AIM AND OBJECTIVES </vt:lpstr>
      <vt:lpstr>METHODOLOGY</vt:lpstr>
      <vt:lpstr>JUSTIFICATION</vt:lpstr>
      <vt:lpstr>SCOPE OF THE PROJECT</vt:lpstr>
      <vt:lpstr>Work Done</vt:lpstr>
      <vt:lpstr>Work Done</vt:lpstr>
      <vt:lpstr>Work Done: Design Specification</vt:lpstr>
      <vt:lpstr>Design Specification(Contd.)</vt:lpstr>
      <vt:lpstr>Design Specification(Contd.)</vt:lpstr>
      <vt:lpstr>Design Specification(Contd.)</vt:lpstr>
      <vt:lpstr>Design Specification(Condt.)</vt:lpstr>
      <vt:lpstr>Design Specification(Condt.)</vt:lpstr>
      <vt:lpstr>Activity Diagram</vt:lpstr>
      <vt:lpstr>Class Diagram</vt:lpstr>
      <vt:lpstr>Work Left Undone</vt:lpstr>
      <vt:lpstr>EXPECTED CONTRIBUTION TO KNOWLEDGE</vt:lpstr>
      <vt:lpstr>CONCLUSION</vt:lpstr>
      <vt:lpstr>REFERENCES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503 PRESENTATION  ON  Development of an mHealth System to Improve Antenatal Care </dc:title>
  <cp:lastModifiedBy>Ishaya Peni Gambo</cp:lastModifiedBy>
  <cp:revision>11</cp:revision>
  <dcterms:modified xsi:type="dcterms:W3CDTF">2023-03-23T10:20:03Z</dcterms:modified>
</cp:coreProperties>
</file>