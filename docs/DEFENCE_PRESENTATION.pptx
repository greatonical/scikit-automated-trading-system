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9144000" cy="51435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Greet the panel. State the title, then one sentence: the system combines a statistical volume filter with a Random Forest, and every number reported comes from held-out data with spread and slippage charged.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fifteen seconds. Point out that the second column is where the evidence lives — design, results, and the live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problem in plain language. The last bullet is the framing the whole defence rests on: the contribution is a measurable method, not a promise of profit.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panel member asks 'why not an LSTM?', this slide is the answer and it is already in Chapter 2. Interpretability is a stated project goal.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fourth bullets are your differentiator. Most projects in this area cannot say them. Say them slowly.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(iv) is the one to emphasise: the project is judged by whether the evaluation is sound, not by whether the numbers are flattering.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'Comment' column is the important one — it shows you engaged with each paper and measured its claim rather than citing it decoratively.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Bailey et al. is your defence against 'did you overfit?'. The answer is a process answer, and it was designed in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anti-leakage tests are worth naming aloud: each one deletes future rows and asserts that past feature values do not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Bullet four is the academic justification; bullet five is the engineering justification. Both matter to this panel.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data limitation yourself before anyone asks. It is a documented property of the data source, not a design flaw.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next twelve slides. Say: 'the design is not a proposal — all of it is built and measured.'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Level-0 DFD: exactly one process, external entities as rectangles, labelled data flows, and no internal data stores at this level. Point out that the broker is an external entity — that is what makes it swappable.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that matters: nothing above Layer 4 knows which broker is in use. That is what makes mock-versus-real a one-line configuration change.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in one sentence per block. Stress that the labeller feeds training only, and the backtester consumes the same pipeline as live trading.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Notation check if asked: actors sit outside the boundary; «include» points from the base use case to the one it always invokes; «extend» points from the optional behaviour back to the base use case it may extend.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system. Both guards must be true; either [no] branch merges to HOLD. Note the strict greater-than on both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generalization triangles point at the abstract class. This is the design decision that let the whole system be built and tested on macOS while the real broker library is Windows-only.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genuine numbers from a dry run, not invented. If asked, the selectivity (1.3% of candles) is deliberate — see Barber &amp; Odean.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asked 'what was your biggest contribution?', this is the answer: changing the question the model is asked, so the training target matches how a trade actually resolves.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hide the two FAILs — lead with them if necessary. A panel trusts a candidate who reports failures precisely far more than one whose every number passes.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wins vivas. You raised the objection before the panel did, quantified it, and showed where the model still adds value.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publishable. Most student projects report only what worked; you can state precisely what did not, and by how much.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strongest single slide for demonstrating research method: a popular technique, implemented faithfully, measured, and rejected on evidence — with an explanation of WHY it failed.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both of these open in a terminal and a browser tab during the defence in case the panel asks you to run it live. Commands are in docs/COMMANDS.md.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'negative result' with confidence. You proved a published approach does not work and documented why — that is a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the direction of transfer: the ARCHITECTURE and the Wine finding transferred. Gadel contains no machine learning and has never run this project's model — do not claim its trading results as yours.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this slide. If a panel member suspects you are borrowing another system's results, this slide answers it before they finish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Redaction is not optional — these are real accounts. Black boxes over account numbers, balances, server hostnames and any token.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'expressed interest', never 'customers' or 'willing to pay' — a waiting-list signup is not a purchase. Overstating this is the one thing that could damage your credibility on an otherwise careful project.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contributions, and four of them are about method rather than performance. That is the right emphasis for a Computer Science degree.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specific about what is unfinished, and why, reads as control. The latency session is limited by market conditions, not by unfinished code.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last bullet and stop talking. It is the strongest sentence you have and it invites exactly the questions you are prepared for.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aloud. They are here so the panel can see the work is grounded in the literature; the full list is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aloud. They are here so the panel can see the work is grounded in the literature; the full list is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docs/DEFENCE_GUIDE.md open on a second screen — it holds prepared answers to the twelve most likely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3" name="TextBox 2"/>
          <p:cNvSpPr txBox="1"/>
          <p:nvPr/>
        </p:nvSpPr>
        <p:spPr>
          <a:xfrm>
            <a:off x="411480" y="685800"/>
            <a:ext cx="8321040" cy="365760"/>
          </a:xfrm>
          <a:prstGeom prst="rect">
            <a:avLst/>
          </a:prstGeom>
          <a:noFill/>
        </p:spPr>
        <p:txBody>
          <a:bodyPr wrap="square" lIns="0" rIns="0" tIns="0" bIns="0" anchor="t">
            <a:spAutoFit/>
          </a:bodyPr>
          <a:lstStyle/>
          <a:p>
            <a:pPr algn="ctr"/>
            <a:r>
              <a:rPr sz="1500" b="1" i="0">
                <a:solidFill>
                  <a:srgbClr val="8A8A8A"/>
                </a:solidFill>
                <a:latin typeface="Montserrat"/>
              </a:rPr>
              <a:t>CSC 504 PRESENTATION</a:t>
            </a:r>
          </a:p>
        </p:txBody>
      </p:sp>
      <p:sp>
        <p:nvSpPr>
          <p:cNvPr id="4" name="TextBox 3"/>
          <p:cNvSpPr txBox="1"/>
          <p:nvPr/>
        </p:nvSpPr>
        <p:spPr>
          <a:xfrm>
            <a:off x="411480" y="1143000"/>
            <a:ext cx="8321040" cy="1371600"/>
          </a:xfrm>
          <a:prstGeom prst="rect">
            <a:avLst/>
          </a:prstGeom>
          <a:noFill/>
        </p:spPr>
        <p:txBody>
          <a:bodyPr wrap="square" lIns="0" rIns="0" tIns="0" bIns="0" anchor="t">
            <a:spAutoFit/>
          </a:bodyPr>
          <a:lstStyle/>
          <a:p>
            <a:pPr algn="ctr"/>
            <a:r>
              <a:rPr sz="2600" b="1" i="0">
                <a:solidFill>
                  <a:srgbClr val="1F3A5F"/>
                </a:solidFill>
                <a:latin typeface="Montserrat"/>
              </a:rPr>
              <a:t>DESIGN AND IMPLEMENTATION OF AN AUTOMATED
FINANCIAL TRADING SYSTEM FOR THE
FOREIGN EXCHANGE MARKET</a:t>
            </a:r>
          </a:p>
        </p:txBody>
      </p:sp>
      <p:sp>
        <p:nvSpPr>
          <p:cNvPr id="5" name="TextBox 4"/>
          <p:cNvSpPr txBox="1"/>
          <p:nvPr/>
        </p:nvSpPr>
        <p:spPr>
          <a:xfrm>
            <a:off x="411480" y="2514600"/>
            <a:ext cx="8321040" cy="822960"/>
          </a:xfrm>
          <a:prstGeom prst="rect">
            <a:avLst/>
          </a:prstGeom>
          <a:noFill/>
        </p:spPr>
        <p:txBody>
          <a:bodyPr wrap="none">
            <a:spAutoFit/>
          </a:bodyPr>
          <a:lstStyle/>
          <a:p>
            <a:pPr algn="ctr"/>
            <a:r>
              <a:rPr sz="1130" b="0" i="1">
                <a:solidFill>
                  <a:srgbClr val="444444"/>
                </a:solidFill>
                <a:latin typeface="Montserrat"/>
              </a:rPr>
              <a:t>A hybrid Volume Z-Score + Random Forest approach,</a:t>
            </a:r>
          </a:p>
          <a:p>
            <a:pPr algn="ctr"/>
            <a:r>
              <a:rPr sz="1130" b="0" i="1">
                <a:solidFill>
                  <a:srgbClr val="444444"/>
                </a:solidFill>
                <a:latin typeface="Montserrat"/>
              </a:rPr>
              <a:t>evaluated on held-out data with transaction costs</a:t>
            </a:r>
          </a:p>
        </p:txBody>
      </p:sp>
      <p:cxnSp>
        <p:nvCxnSpPr>
          <p:cNvPr id="6" name="Connector 5"/>
          <p:cNvCxnSpPr/>
          <p:nvPr/>
        </p:nvCxnSpPr>
        <p:spPr>
          <a:xfrm>
            <a:off x="3291840" y="3401568"/>
            <a:ext cx="256032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11480" y="3566160"/>
            <a:ext cx="8321040" cy="1097280"/>
          </a:xfrm>
          <a:prstGeom prst="rect">
            <a:avLst/>
          </a:prstGeom>
          <a:noFill/>
        </p:spPr>
        <p:txBody>
          <a:bodyPr wrap="none">
            <a:spAutoFit/>
          </a:bodyPr>
          <a:lstStyle/>
          <a:p>
            <a:pPr algn="ctr">
              <a:spcAft>
                <a:spcPts val="300"/>
              </a:spcAft>
            </a:pPr>
            <a:r>
              <a:rPr sz="1130" b="0" i="0">
                <a:solidFill>
                  <a:srgbClr val="8A8A8A"/>
                </a:solidFill>
                <a:latin typeface="Montserrat"/>
              </a:rPr>
              <a:t>Name:  </a:t>
            </a:r>
            <a:r>
              <a:rPr sz="1130" b="1" i="0">
                <a:solidFill>
                  <a:srgbClr val="1A1A1A"/>
                </a:solidFill>
                <a:latin typeface="Montserrat"/>
              </a:rPr>
              <a:t>AWOSUSI GABRIEL AYOMIDE</a:t>
            </a:r>
          </a:p>
          <a:p>
            <a:pPr algn="ctr">
              <a:spcAft>
                <a:spcPts val="300"/>
              </a:spcAft>
            </a:pPr>
            <a:r>
              <a:rPr sz="1130" b="0" i="0">
                <a:solidFill>
                  <a:srgbClr val="8A8A8A"/>
                </a:solidFill>
                <a:latin typeface="Montserrat"/>
              </a:rPr>
              <a:t>Matric No:  </a:t>
            </a:r>
            <a:r>
              <a:rPr sz="1130" b="1" i="0">
                <a:solidFill>
                  <a:srgbClr val="1A1A1A"/>
                </a:solidFill>
                <a:latin typeface="Montserrat"/>
              </a:rPr>
              <a:t>CSC/2019/079</a:t>
            </a:r>
          </a:p>
          <a:p>
            <a:pPr algn="ctr">
              <a:spcAft>
                <a:spcPts val="300"/>
              </a:spcAft>
            </a:pPr>
            <a:r>
              <a:rPr sz="1130" b="0" i="0">
                <a:solidFill>
                  <a:srgbClr val="8A8A8A"/>
                </a:solidFill>
                <a:latin typeface="Montserrat"/>
              </a:rPr>
              <a:t>Supervisor:  </a:t>
            </a:r>
            <a:r>
              <a:rPr sz="1130" b="1" i="0">
                <a:solidFill>
                  <a:srgbClr val="1A1A1A"/>
                </a:solidFill>
                <a:latin typeface="Montserrat"/>
              </a:rPr>
              <a:t>_______________________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Presentation Outline</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a:t>
            </a:r>
          </a:p>
        </p:txBody>
      </p:sp>
      <p:sp>
        <p:nvSpPr>
          <p:cNvPr id="5" name="TextBox 4"/>
          <p:cNvSpPr txBox="1"/>
          <p:nvPr/>
        </p:nvSpPr>
        <p:spPr>
          <a:xfrm>
            <a:off x="411480" y="1069848"/>
            <a:ext cx="4023360" cy="3474720"/>
          </a:xfrm>
          <a:prstGeom prst="rect">
            <a:avLst/>
          </a:prstGeom>
          <a:noFill/>
        </p:spPr>
        <p:txBody>
          <a:bodyPr wrap="square">
            <a:spAutoFit/>
          </a:bodyPr>
          <a:lstStyle/>
          <a:p>
            <a:pPr>
              <a:spcAft>
                <a:spcPts val="900"/>
              </a:spcAft>
            </a:pPr>
            <a:r>
              <a:rPr sz="1130" b="0" i="0">
                <a:solidFill>
                  <a:srgbClr val="1A1A1A"/>
                </a:solidFill>
                <a:latin typeface="Montserrat"/>
              </a:rPr>
              <a:t> 1.   INTRODUCTION</a:t>
            </a:r>
          </a:p>
          <a:p>
            <a:pPr>
              <a:spcAft>
                <a:spcPts val="900"/>
              </a:spcAft>
            </a:pPr>
            <a:r>
              <a:rPr sz="1130" b="0" i="0">
                <a:solidFill>
                  <a:srgbClr val="1A1A1A"/>
                </a:solidFill>
                <a:latin typeface="Montserrat"/>
              </a:rPr>
              <a:t> 2.   STATEMENT OF PROBLEM</a:t>
            </a:r>
          </a:p>
          <a:p>
            <a:pPr>
              <a:spcAft>
                <a:spcPts val="900"/>
              </a:spcAft>
            </a:pPr>
            <a:r>
              <a:rPr sz="1130" b="0" i="0">
                <a:solidFill>
                  <a:srgbClr val="1A1A1A"/>
                </a:solidFill>
                <a:latin typeface="Montserrat"/>
              </a:rPr>
              <a:t> 3.   AIM AND OBJECTIVES</a:t>
            </a:r>
          </a:p>
          <a:p>
            <a:pPr>
              <a:spcAft>
                <a:spcPts val="900"/>
              </a:spcAft>
            </a:pPr>
            <a:r>
              <a:rPr sz="1130" b="0" i="0">
                <a:solidFill>
                  <a:srgbClr val="1A1A1A"/>
                </a:solidFill>
                <a:latin typeface="Montserrat"/>
              </a:rPr>
              <a:t> 4.   LITERATURE REVIEW</a:t>
            </a:r>
          </a:p>
          <a:p>
            <a:pPr>
              <a:spcAft>
                <a:spcPts val="900"/>
              </a:spcAft>
            </a:pPr>
            <a:r>
              <a:rPr sz="1130" b="0" i="0">
                <a:solidFill>
                  <a:srgbClr val="1A1A1A"/>
                </a:solidFill>
                <a:latin typeface="Montserrat"/>
              </a:rPr>
              <a:t> 5.   METHODOLOGY</a:t>
            </a:r>
          </a:p>
          <a:p>
            <a:pPr>
              <a:spcAft>
                <a:spcPts val="900"/>
              </a:spcAft>
            </a:pPr>
            <a:r>
              <a:rPr sz="1130" b="0" i="0">
                <a:solidFill>
                  <a:srgbClr val="1A1A1A"/>
                </a:solidFill>
                <a:latin typeface="Montserrat"/>
              </a:rPr>
              <a:t> 6.   JUSTIFICATION</a:t>
            </a:r>
          </a:p>
          <a:p>
            <a:pPr>
              <a:spcAft>
                <a:spcPts val="900"/>
              </a:spcAft>
            </a:pPr>
            <a:r>
              <a:rPr sz="1130" b="0" i="0">
                <a:solidFill>
                  <a:srgbClr val="1A1A1A"/>
                </a:solidFill>
                <a:latin typeface="Montserrat"/>
              </a:rPr>
              <a:t> 7.   SCOPE OF PROJECT</a:t>
            </a:r>
          </a:p>
        </p:txBody>
      </p:sp>
      <p:sp>
        <p:nvSpPr>
          <p:cNvPr id="6" name="TextBox 5"/>
          <p:cNvSpPr txBox="1"/>
          <p:nvPr/>
        </p:nvSpPr>
        <p:spPr>
          <a:xfrm>
            <a:off x="4709160" y="1069848"/>
            <a:ext cx="4023360" cy="3474720"/>
          </a:xfrm>
          <a:prstGeom prst="rect">
            <a:avLst/>
          </a:prstGeom>
          <a:noFill/>
        </p:spPr>
        <p:txBody>
          <a:bodyPr wrap="square">
            <a:spAutoFit/>
          </a:bodyPr>
          <a:lstStyle/>
          <a:p>
            <a:pPr>
              <a:spcAft>
                <a:spcPts val="900"/>
              </a:spcAft>
            </a:pPr>
            <a:r>
              <a:rPr sz="1130" b="0" i="0">
                <a:solidFill>
                  <a:srgbClr val="1A1A1A"/>
                </a:solidFill>
                <a:latin typeface="Montserrat"/>
              </a:rPr>
              <a:t> 8.   WORK DONE — DESIGN SPECIFICATION</a:t>
            </a:r>
          </a:p>
          <a:p>
            <a:pPr>
              <a:spcAft>
                <a:spcPts val="900"/>
              </a:spcAft>
            </a:pPr>
            <a:r>
              <a:rPr sz="1130" b="0" i="0">
                <a:solidFill>
                  <a:srgbClr val="1A1A1A"/>
                </a:solidFill>
                <a:latin typeface="Montserrat"/>
              </a:rPr>
              <a:t> 9.   WORK DONE — IMPLEMENTATION &amp; RESULTS</a:t>
            </a:r>
          </a:p>
          <a:p>
            <a:pPr>
              <a:spcAft>
                <a:spcPts val="900"/>
              </a:spcAft>
            </a:pPr>
            <a:r>
              <a:rPr sz="1130" b="0" i="0">
                <a:solidFill>
                  <a:srgbClr val="1A1A1A"/>
                </a:solidFill>
                <a:latin typeface="Montserrat"/>
              </a:rPr>
              <a:t>10.   FROM RESEARCH TO A LIVE PRODUCT</a:t>
            </a:r>
          </a:p>
          <a:p>
            <a:pPr>
              <a:spcAft>
                <a:spcPts val="900"/>
              </a:spcAft>
            </a:pPr>
            <a:r>
              <a:rPr sz="1130" b="0" i="0">
                <a:solidFill>
                  <a:srgbClr val="1A1A1A"/>
                </a:solidFill>
                <a:latin typeface="Montserrat"/>
              </a:rPr>
              <a:t>11.   CONTRIBUTION TO KNOWLEDGE</a:t>
            </a:r>
          </a:p>
          <a:p>
            <a:pPr>
              <a:spcAft>
                <a:spcPts val="900"/>
              </a:spcAft>
            </a:pPr>
            <a:r>
              <a:rPr sz="1130" b="0" i="0">
                <a:solidFill>
                  <a:srgbClr val="1A1A1A"/>
                </a:solidFill>
                <a:latin typeface="Montserrat"/>
              </a:rPr>
              <a:t>12.   WORK LEFT UNDONE</a:t>
            </a:r>
          </a:p>
          <a:p>
            <a:pPr>
              <a:spcAft>
                <a:spcPts val="900"/>
              </a:spcAft>
            </a:pPr>
            <a:r>
              <a:rPr sz="1130" b="0" i="0">
                <a:solidFill>
                  <a:srgbClr val="1A1A1A"/>
                </a:solidFill>
                <a:latin typeface="Montserrat"/>
              </a:rPr>
              <a:t>13.   CONCLUSION</a:t>
            </a:r>
          </a:p>
          <a:p>
            <a:pPr>
              <a:spcAft>
                <a:spcPts val="900"/>
              </a:spcAft>
            </a:pPr>
            <a:r>
              <a:rPr sz="1130" b="0" i="0">
                <a:solidFill>
                  <a:srgbClr val="1A1A1A"/>
                </a:solidFill>
                <a:latin typeface="Montserrat"/>
              </a:rPr>
              <a:t>14.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Introduction</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600"/>
              </a:spcAft>
            </a:pPr>
            <a:r>
              <a:rPr sz="1180" b="0" i="0">
                <a:solidFill>
                  <a:srgbClr val="1A1A1A"/>
                </a:solidFill>
                <a:latin typeface="Montserrat"/>
              </a:rPr>
              <a:t>•  The foreign exchange market is the largest financial market in the world, trading over US$7 trillion per day, and it is open 24 hours a day, five days a week.</a:t>
            </a:r>
          </a:p>
          <a:p>
            <a:pPr>
              <a:spcAft>
                <a:spcPts val="600"/>
              </a:spcAft>
            </a:pPr>
            <a:r>
              <a:rPr sz="1180" b="0" i="0">
                <a:solidFill>
                  <a:srgbClr val="1A1A1A"/>
                </a:solidFill>
                <a:latin typeface="Montserrat"/>
              </a:rPr>
              <a:t>•  Retail participation has grown rapidly, but the outcomes are poor: regulators report that a large majority of retail accounts lose money (ESMA, 2018).</a:t>
            </a:r>
          </a:p>
          <a:p>
            <a:pPr>
              <a:spcAft>
                <a:spcPts val="600"/>
              </a:spcAft>
            </a:pPr>
            <a:r>
              <a:rPr sz="1180" b="0" i="0">
                <a:solidFill>
                  <a:srgbClr val="1A1A1A"/>
                </a:solidFill>
                <a:latin typeface="Montserrat"/>
              </a:rPr>
              <a:t>•  Two causes dominate — emotional decision-making under pressure, and the impossibility of a human monitoring a 24-hour market consistently.</a:t>
            </a:r>
          </a:p>
          <a:p>
            <a:pPr>
              <a:spcAft>
                <a:spcPts val="600"/>
              </a:spcAft>
            </a:pPr>
            <a:r>
              <a:rPr sz="1180" b="0" i="0">
                <a:solidFill>
                  <a:srgbClr val="1A1A1A"/>
                </a:solidFill>
                <a:latin typeface="Montserrat"/>
              </a:rPr>
              <a:t>•  Algorithmic trading removes the emotional element and enforces a rule set identically on every candle, which is why institutional participants adopted it first.</a:t>
            </a:r>
          </a:p>
          <a:p>
            <a:pPr>
              <a:spcAft>
                <a:spcPts val="600"/>
              </a:spcAft>
            </a:pPr>
            <a:r>
              <a:rPr sz="1180" b="1" i="0">
                <a:solidFill>
                  <a:srgbClr val="1A1A1A"/>
                </a:solidFill>
                <a:latin typeface="Montserrat"/>
              </a:rPr>
              <a:t>•  This project asks a narrower, testable question:</a:t>
            </a:r>
          </a:p>
          <a:p>
            <a:pPr lvl="1">
              <a:spcAft>
                <a:spcPts val="600"/>
              </a:spcAft>
            </a:pPr>
            <a:r>
              <a:rPr sz="1080" b="0" i="0">
                <a:solidFill>
                  <a:srgbClr val="333333"/>
                </a:solidFill>
                <a:latin typeface="Montserrat"/>
              </a:rPr>
              <a:t>–  Can a statistical filter combined with a machine-learning classifier produce a trading rule whose performance can be honestly measured on unseen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Introduction (cont'd)</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4</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600"/>
              </a:spcAft>
            </a:pPr>
            <a:r>
              <a:rPr sz="1180" b="1" i="0">
                <a:solidFill>
                  <a:srgbClr val="1A1A1A"/>
                </a:solidFill>
                <a:latin typeface="Montserrat"/>
              </a:rPr>
              <a:t>•  Why a rule filter AND a model, rather than either alone?</a:t>
            </a:r>
          </a:p>
          <a:p>
            <a:pPr lvl="1">
              <a:spcAft>
                <a:spcPts val="600"/>
              </a:spcAft>
            </a:pPr>
            <a:r>
              <a:rPr sz="1080" b="0" i="0">
                <a:solidFill>
                  <a:srgbClr val="333333"/>
                </a:solidFill>
                <a:latin typeface="Montserrat"/>
              </a:rPr>
              <a:t>–  A pure rule system (e.g. moving-average crossover) cannot adapt — it fires the same way in every market condition.</a:t>
            </a:r>
          </a:p>
          <a:p>
            <a:pPr lvl="1">
              <a:spcAft>
                <a:spcPts val="600"/>
              </a:spcAft>
            </a:pPr>
            <a:r>
              <a:rPr sz="1080" b="0" i="0">
                <a:solidFill>
                  <a:srgbClr val="333333"/>
                </a:solidFill>
                <a:latin typeface="Montserrat"/>
              </a:rPr>
              <a:t>–  A pure machine-learning system trades constantly and is hard to defend: it gives no human-readable reason for any single decision.</a:t>
            </a:r>
          </a:p>
          <a:p>
            <a:pPr lvl="1">
              <a:spcAft>
                <a:spcPts val="600"/>
              </a:spcAft>
            </a:pPr>
            <a:r>
              <a:rPr sz="1080" b="0" i="0">
                <a:solidFill>
                  <a:srgbClr val="333333"/>
                </a:solidFill>
                <a:latin typeface="Montserrat"/>
              </a:rPr>
              <a:t>–  The hybrid design requires BOTH to agree, so every trade has a stated statistical reason and a model probability attached to it.</a:t>
            </a:r>
          </a:p>
          <a:p>
            <a:pPr>
              <a:spcAft>
                <a:spcPts val="600"/>
              </a:spcAft>
            </a:pPr>
            <a:r>
              <a:rPr sz="1180" b="1" i="0">
                <a:solidFill>
                  <a:srgbClr val="1A1A1A"/>
                </a:solidFill>
                <a:latin typeface="Montserrat"/>
              </a:rPr>
              <a:t>•  Why the Random Forest and not deep learning?</a:t>
            </a:r>
          </a:p>
          <a:p>
            <a:pPr lvl="1">
              <a:spcAft>
                <a:spcPts val="600"/>
              </a:spcAft>
            </a:pPr>
            <a:r>
              <a:rPr sz="1080" b="0" i="0">
                <a:solidFill>
                  <a:srgbClr val="333333"/>
                </a:solidFill>
                <a:latin typeface="Montserrat"/>
              </a:rPr>
              <a:t>–  Runs on CPU-only hardware; resists overfitting through ensemble averaging; and exposes feature importances, so the model can be interrogated.</a:t>
            </a:r>
          </a:p>
          <a:p>
            <a:pPr lvl="1">
              <a:spcAft>
                <a:spcPts val="600"/>
              </a:spcAft>
            </a:pPr>
            <a:r>
              <a:rPr sz="1080" b="0" i="0">
                <a:solidFill>
                  <a:srgbClr val="333333"/>
                </a:solidFill>
                <a:latin typeface="Montserrat"/>
              </a:rPr>
              <a:t>–  Deep learning (LSTM) was reviewed and deliberately rejected — see Literature Review — on grounds of compute cost and opacity, not ignorance.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Statement of the Problem</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5</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600"/>
              </a:spcAft>
            </a:pPr>
            <a:r>
              <a:rPr sz="1180" b="0" i="0">
                <a:solidFill>
                  <a:srgbClr val="1A1A1A"/>
                </a:solidFill>
                <a:latin typeface="Montserrat"/>
              </a:rPr>
              <a:t>•  Retail traders lose money predominantly because decisions are emotional, inconsistent, and cannot be sustained across a 24-hour market.</a:t>
            </a:r>
          </a:p>
          <a:p>
            <a:pPr>
              <a:spcAft>
                <a:spcPts val="600"/>
              </a:spcAft>
            </a:pPr>
            <a:r>
              <a:rPr sz="1180" b="0" i="0">
                <a:solidFill>
                  <a:srgbClr val="1A1A1A"/>
                </a:solidFill>
                <a:latin typeface="Montserrat"/>
              </a:rPr>
              <a:t>•  Existing retail automation is largely rule-only: it cannot weigh evidence, and it repeats the same behaviour regardless of market state.</a:t>
            </a:r>
          </a:p>
          <a:p>
            <a:pPr>
              <a:spcAft>
                <a:spcPts val="600"/>
              </a:spcAft>
            </a:pPr>
            <a:r>
              <a:rPr sz="1180" b="0" i="0">
                <a:solidFill>
                  <a:srgbClr val="1A1A1A"/>
                </a:solidFill>
                <a:latin typeface="Montserrat"/>
              </a:rPr>
              <a:t>•  Published machine-learning trading results are frequently not reproducible — they omit transaction costs, shuffle time-series data (which leaks the future into training), or report only the best run.</a:t>
            </a:r>
          </a:p>
          <a:p>
            <a:pPr>
              <a:spcAft>
                <a:spcPts val="600"/>
              </a:spcAft>
            </a:pPr>
            <a:r>
              <a:rPr sz="1180" b="0" i="0">
                <a:solidFill>
                  <a:srgbClr val="1A1A1A"/>
                </a:solidFill>
                <a:latin typeface="Montserrat"/>
              </a:rPr>
              <a:t>•  Most critically, results are rarely reported with any measure of uncertainty, so a strong-looking win rate cannot be distinguished from luck.</a:t>
            </a:r>
          </a:p>
          <a:p>
            <a:pPr>
              <a:spcAft>
                <a:spcPts val="600"/>
              </a:spcAft>
            </a:pPr>
            <a:r>
              <a:rPr sz="1180" b="1" i="0">
                <a:solidFill>
                  <a:srgbClr val="1A1A1A"/>
                </a:solidFill>
                <a:latin typeface="Montserrat"/>
              </a:rPr>
              <a:t>•  The gap this project addresses:</a:t>
            </a:r>
          </a:p>
          <a:p>
            <a:pPr lvl="1">
              <a:spcAft>
                <a:spcPts val="600"/>
              </a:spcAft>
            </a:pPr>
            <a:r>
              <a:rPr sz="1080" b="0" i="0">
                <a:solidFill>
                  <a:srgbClr val="333333"/>
                </a:solidFill>
                <a:latin typeface="Montserrat"/>
              </a:rPr>
              <a:t>–  A transparent hybrid system whose every claim is measured on a sealed test set, with costs charged, confidence intervals quoted, and negative results reported rather than discarded.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Aim and Objectives</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6</a:t>
            </a:r>
          </a:p>
        </p:txBody>
      </p:sp>
      <p:sp>
        <p:nvSpPr>
          <p:cNvPr id="5" name="TextBox 4"/>
          <p:cNvSpPr txBox="1"/>
          <p:nvPr/>
        </p:nvSpPr>
        <p:spPr>
          <a:xfrm>
            <a:off x="411480" y="932688"/>
            <a:ext cx="8321040" cy="640080"/>
          </a:xfrm>
          <a:prstGeom prst="rect">
            <a:avLst/>
          </a:prstGeom>
          <a:noFill/>
        </p:spPr>
        <p:txBody>
          <a:bodyPr wrap="square" lIns="0" rIns="0" tIns="0" bIns="0" anchor="t">
            <a:spAutoFit/>
          </a:bodyPr>
          <a:lstStyle/>
          <a:p>
            <a:pPr algn="l"/>
            <a:r>
              <a:rPr sz="1180" b="0" i="0">
                <a:solidFill>
                  <a:srgbClr val="1A1A1A"/>
                </a:solidFill>
                <a:latin typeface="Montserrat"/>
              </a:rPr>
              <a:t>Aim:  to design, implement and evaluate an automated financial trading system for the foreign exchange market that combines statistical filtering with machine-learning prediction, and to report its performance honestly.</a:t>
            </a:r>
          </a:p>
        </p:txBody>
      </p:sp>
      <p:sp>
        <p:nvSpPr>
          <p:cNvPr id="6" name="TextBox 5"/>
          <p:cNvSpPr txBox="1"/>
          <p:nvPr/>
        </p:nvSpPr>
        <p:spPr>
          <a:xfrm>
            <a:off x="411480" y="1645920"/>
            <a:ext cx="8321040" cy="228600"/>
          </a:xfrm>
          <a:prstGeom prst="rect">
            <a:avLst/>
          </a:prstGeom>
          <a:noFill/>
        </p:spPr>
        <p:txBody>
          <a:bodyPr wrap="square" lIns="0" rIns="0" tIns="0" bIns="0" anchor="t">
            <a:spAutoFit/>
          </a:bodyPr>
          <a:lstStyle/>
          <a:p>
            <a:pPr algn="l"/>
            <a:r>
              <a:rPr sz="1180" b="1" i="0">
                <a:solidFill>
                  <a:srgbClr val="1A1A1A"/>
                </a:solidFill>
                <a:latin typeface="Montserrat"/>
              </a:rPr>
              <a:t>The specific objectives are:</a:t>
            </a:r>
          </a:p>
        </p:txBody>
      </p:sp>
      <p:sp>
        <p:nvSpPr>
          <p:cNvPr id="7" name="TextBox 6"/>
          <p:cNvSpPr txBox="1"/>
          <p:nvPr/>
        </p:nvSpPr>
        <p:spPr>
          <a:xfrm>
            <a:off x="411480" y="1920240"/>
            <a:ext cx="8321040" cy="2948940"/>
          </a:xfrm>
          <a:prstGeom prst="rect">
            <a:avLst/>
          </a:prstGeom>
          <a:noFill/>
        </p:spPr>
        <p:txBody>
          <a:bodyPr wrap="square" lIns="0" rIns="0" tIns="0" bIns="0">
            <a:spAutoFit/>
          </a:bodyPr>
          <a:lstStyle/>
          <a:p>
            <a:pPr>
              <a:spcAft>
                <a:spcPts val="600"/>
              </a:spcAft>
            </a:pPr>
            <a:r>
              <a:rPr sz="1130" b="0" i="0">
                <a:solidFill>
                  <a:srgbClr val="1A1A1A"/>
                </a:solidFill>
                <a:latin typeface="Montserrat"/>
              </a:rPr>
              <a:t>•  i.   To design a hybrid decision model in which a Volume Z-Score rule and a Random Forest classifier must both agree before any trade is taken.</a:t>
            </a:r>
          </a:p>
          <a:p>
            <a:pPr>
              <a:spcAft>
                <a:spcPts val="600"/>
              </a:spcAft>
            </a:pPr>
            <a:r>
              <a:rPr sz="1130" b="0" i="0">
                <a:solidFill>
                  <a:srgbClr val="1A1A1A"/>
                </a:solidFill>
                <a:latin typeface="Montserrat"/>
              </a:rPr>
              <a:t>•  ii.  To implement the system end to end — data acquisition, feature engineering, labelling, training, signal generation, risk management and order execution.</a:t>
            </a:r>
          </a:p>
          <a:p>
            <a:pPr>
              <a:spcAft>
                <a:spcPts val="600"/>
              </a:spcAft>
            </a:pPr>
            <a:r>
              <a:rPr sz="1130" b="0" i="0">
                <a:solidFill>
                  <a:srgbClr val="1A1A1A"/>
                </a:solidFill>
                <a:latin typeface="Montserrat"/>
              </a:rPr>
              <a:t>•  iii. To integrate a risk-management layer providing fixed-fractional position sizing, dynamic stop-losses and hard account-level limits.</a:t>
            </a:r>
          </a:p>
          <a:p>
            <a:pPr>
              <a:spcAft>
                <a:spcPts val="600"/>
              </a:spcAft>
            </a:pPr>
            <a:r>
              <a:rPr sz="1130" b="0" i="0">
                <a:solidFill>
                  <a:srgbClr val="1A1A1A"/>
                </a:solidFill>
                <a:latin typeface="Montserrat"/>
              </a:rPr>
              <a:t>•  iv.  To evaluate the system by backtesting on held-out data with transaction costs, against defined targets for win rate, profit factor, drawdown and Sharpe ratio.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Literature Review (1 of 2)</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7</a:t>
            </a:r>
          </a:p>
        </p:txBody>
      </p:sp>
      <p:graphicFrame>
        <p:nvGraphicFramePr>
          <p:cNvPr id="5" name="Table 4"/>
          <p:cNvGraphicFramePr>
            <a:graphicFrameLocks noGrp="1"/>
          </p:cNvGraphicFramePr>
          <p:nvPr/>
        </p:nvGraphicFramePr>
        <p:xfrm>
          <a:off x="411480" y="978408"/>
          <a:ext cx="8321040" cy="950976"/>
        </p:xfrm>
        <a:graphic>
          <a:graphicData uri="http://schemas.openxmlformats.org/drawingml/2006/table">
            <a:tbl>
              <a:tblPr firstRow="1" bandRow="1">
                <a:tableStyleId>{5C22544A-7EE6-4342-B048-85BDC9FD1C3A}</a:tableStyleId>
              </a:tblPr>
              <a:tblGrid>
                <a:gridCol w="384048"/>
                <a:gridCol w="2057400"/>
                <a:gridCol w="1600200"/>
                <a:gridCol w="1920240"/>
                <a:gridCol w="2359152"/>
              </a:tblGrid>
              <a:tr h="237744">
                <a:tc>
                  <a:txBody>
                    <a:bodyPr wrap="square"/>
                    <a:lstStyle/>
                    <a:p>
                      <a:pPr algn="l"/>
                      <a:r>
                        <a:rPr sz="850" b="1" i="0">
                          <a:solidFill>
                            <a:srgbClr val="FFFFFF"/>
                          </a:solidFill>
                          <a:latin typeface="Montserrat"/>
                        </a:rPr>
                        <a:t>S/N</a:t>
                      </a:r>
                    </a:p>
                  </a:txBody>
                  <a:tcPr marL="45720" marR="45720" marT="18288" marB="18288" anchor="ctr">
                    <a:solidFill>
                      <a:srgbClr val="1F3A5F"/>
                    </a:solidFill>
                  </a:tcPr>
                </a:tc>
                <a:tc>
                  <a:txBody>
                    <a:bodyPr wrap="square"/>
                    <a:lstStyle/>
                    <a:p>
                      <a:pPr algn="ctr"/>
                      <a:r>
                        <a:rPr sz="850" b="1" i="0">
                          <a:solidFill>
                            <a:srgbClr val="FFFFFF"/>
                          </a:solidFill>
                          <a:latin typeface="Montserrat"/>
                        </a:rPr>
                        <a:t>Author / Title</a:t>
                      </a:r>
                    </a:p>
                  </a:txBody>
                  <a:tcPr marL="45720" marR="45720" marT="18288" marB="18288" anchor="ctr">
                    <a:solidFill>
                      <a:srgbClr val="1F3A5F"/>
                    </a:solidFill>
                  </a:tcPr>
                </a:tc>
                <a:tc>
                  <a:txBody>
                    <a:bodyPr wrap="square"/>
                    <a:lstStyle/>
                    <a:p>
                      <a:pPr algn="ctr"/>
                      <a:r>
                        <a:rPr sz="850" b="1" i="0">
                          <a:solidFill>
                            <a:srgbClr val="FFFFFF"/>
                          </a:solidFill>
                          <a:latin typeface="Montserrat"/>
                        </a:rPr>
                        <a:t>Method</a:t>
                      </a:r>
                    </a:p>
                  </a:txBody>
                  <a:tcPr marL="45720" marR="45720" marT="18288" marB="18288" anchor="ctr">
                    <a:solidFill>
                      <a:srgbClr val="1F3A5F"/>
                    </a:solidFill>
                  </a:tcPr>
                </a:tc>
                <a:tc>
                  <a:txBody>
                    <a:bodyPr wrap="square"/>
                    <a:lstStyle/>
                    <a:p>
                      <a:pPr algn="ctr"/>
                      <a:r>
                        <a:rPr sz="850" b="1" i="0">
                          <a:solidFill>
                            <a:srgbClr val="FFFFFF"/>
                          </a:solidFill>
                          <a:latin typeface="Montserrat"/>
                        </a:rPr>
                        <a:t>Finding</a:t>
                      </a:r>
                    </a:p>
                  </a:txBody>
                  <a:tcPr marL="45720" marR="45720" marT="18288" marB="18288" anchor="ctr">
                    <a:solidFill>
                      <a:srgbClr val="1F3A5F"/>
                    </a:solidFill>
                  </a:tcPr>
                </a:tc>
                <a:tc>
                  <a:txBody>
                    <a:bodyPr wrap="square"/>
                    <a:lstStyle/>
                    <a:p>
                      <a:pPr algn="ctr"/>
                      <a:r>
                        <a:rPr sz="850" b="1" i="0">
                          <a:solidFill>
                            <a:srgbClr val="FFFFFF"/>
                          </a:solidFill>
                          <a:latin typeface="Montserrat"/>
                        </a:rPr>
                        <a:t>Comment (this project)</a:t>
                      </a:r>
                    </a:p>
                  </a:txBody>
                  <a:tcPr marL="45720" marR="45720" marT="18288" marB="18288" anchor="ctr">
                    <a:solidFill>
                      <a:srgbClr val="1F3A5F"/>
                    </a:solidFill>
                  </a:tcPr>
                </a:tc>
              </a:tr>
              <a:tr h="237744">
                <a:tc>
                  <a:txBody>
                    <a:bodyPr wrap="square"/>
                    <a:lstStyle/>
                    <a:p>
                      <a:pPr algn="l"/>
                      <a:r>
                        <a:rPr sz="750" b="0" i="0">
                          <a:solidFill>
                            <a:srgbClr val="1A1A1A"/>
                          </a:solidFill>
                          <a:latin typeface="Montserrat"/>
                        </a:rPr>
                        <a:t>1</a:t>
                      </a:r>
                    </a:p>
                  </a:txBody>
                  <a:tcPr marL="45720" marR="45720" marT="18288" marB="18288" anchor="ctr">
                    <a:solidFill>
                      <a:srgbClr val="FFFFFF"/>
                    </a:solidFill>
                  </a:tcPr>
                </a:tc>
                <a:tc>
                  <a:txBody>
                    <a:bodyPr wrap="square"/>
                    <a:lstStyle/>
                    <a:p>
                      <a:pPr algn="ctr"/>
                      <a:r>
                        <a:rPr sz="750" b="0" i="0">
                          <a:solidFill>
                            <a:srgbClr val="1A1A1A"/>
                          </a:solidFill>
                          <a:latin typeface="Montserrat"/>
                        </a:rPr>
                        <a:t>Lopez de Prado (2018): Advances in Financial Machine Learning</a:t>
                      </a:r>
                    </a:p>
                  </a:txBody>
                  <a:tcPr marL="45720" marR="45720" marT="18288" marB="18288" anchor="ctr">
                    <a:solidFill>
                      <a:srgbClr val="FFFFFF"/>
                    </a:solidFill>
                  </a:tcPr>
                </a:tc>
                <a:tc>
                  <a:txBody>
                    <a:bodyPr wrap="square"/>
                    <a:lstStyle/>
                    <a:p>
                      <a:pPr algn="ctr"/>
                      <a:r>
                        <a:rPr sz="750" b="0" i="0">
                          <a:solidFill>
                            <a:srgbClr val="1A1A1A"/>
                          </a:solidFill>
                          <a:latin typeface="Montserrat"/>
                        </a:rPr>
                        <a:t>Triple-barrier labelling; meta-labelling</a:t>
                      </a:r>
                    </a:p>
                  </a:txBody>
                  <a:tcPr marL="45720" marR="45720" marT="18288" marB="18288" anchor="ctr">
                    <a:solidFill>
                      <a:srgbClr val="FFFFFF"/>
                    </a:solidFill>
                  </a:tcPr>
                </a:tc>
                <a:tc>
                  <a:txBody>
                    <a:bodyPr wrap="square"/>
                    <a:lstStyle/>
                    <a:p>
                      <a:pPr algn="ctr"/>
                      <a:r>
                        <a:rPr sz="750" b="0" i="0">
                          <a:solidFill>
                            <a:srgbClr val="1A1A1A"/>
                          </a:solidFill>
                          <a:latin typeface="Montserrat"/>
                        </a:rPr>
                        <a:t>Naive next-candle labels do not match how trades actually close</a:t>
                      </a:r>
                    </a:p>
                  </a:txBody>
                  <a:tcPr marL="45720" marR="45720" marT="18288" marB="18288" anchor="ctr">
                    <a:solidFill>
                      <a:srgbClr val="FFFFFF"/>
                    </a:solidFill>
                  </a:tcPr>
                </a:tc>
                <a:tc>
                  <a:txBody>
                    <a:bodyPr wrap="square"/>
                    <a:lstStyle/>
                    <a:p>
                      <a:pPr algn="ctr"/>
                      <a:r>
                        <a:rPr sz="750" b="0" i="0">
                          <a:solidFill>
                            <a:srgbClr val="1A1A1A"/>
                          </a:solidFill>
                          <a:latin typeface="Montserrat"/>
                        </a:rPr>
                        <a:t>ADOPTED. The single most effective change made — it turned both currency pairs from a net loss into a net profit.</a:t>
                      </a:r>
                    </a:p>
                  </a:txBody>
                  <a:tcPr marL="45720" marR="45720" marT="18288" marB="18288" anchor="ctr">
                    <a:solidFill>
                      <a:srgbClr val="FFFFFF"/>
                    </a:solidFill>
                  </a:tcPr>
                </a:tc>
              </a:tr>
              <a:tr h="237744">
                <a:tc>
                  <a:txBody>
                    <a:bodyPr wrap="square"/>
                    <a:lstStyle/>
                    <a:p>
                      <a:pPr algn="l"/>
                      <a:r>
                        <a:rPr sz="750" b="0" i="0">
                          <a:solidFill>
                            <a:srgbClr val="1A1A1A"/>
                          </a:solidFill>
                          <a:latin typeface="Montserrat"/>
                        </a:rPr>
                        <a:t>2</a:t>
                      </a:r>
                    </a:p>
                  </a:txBody>
                  <a:tcPr marL="45720" marR="45720" marT="18288" marB="18288" anchor="ctr">
                    <a:solidFill>
                      <a:srgbClr val="F7F9FB"/>
                    </a:solidFill>
                  </a:tcPr>
                </a:tc>
                <a:tc>
                  <a:txBody>
                    <a:bodyPr wrap="square"/>
                    <a:lstStyle/>
                    <a:p>
                      <a:pPr algn="ctr"/>
                      <a:r>
                        <a:rPr sz="750" b="0" i="0">
                          <a:solidFill>
                            <a:srgbClr val="1A1A1A"/>
                          </a:solidFill>
                          <a:latin typeface="Montserrat"/>
                        </a:rPr>
                        <a:t>Chong, Ng &amp; Liew (2014): Technical indicators as ML inputs</a:t>
                      </a:r>
                    </a:p>
                  </a:txBody>
                  <a:tcPr marL="45720" marR="45720" marT="18288" marB="18288" anchor="ctr">
                    <a:solidFill>
                      <a:srgbClr val="F7F9FB"/>
                    </a:solidFill>
                  </a:tcPr>
                </a:tc>
                <a:tc>
                  <a:txBody>
                    <a:bodyPr wrap="square"/>
                    <a:lstStyle/>
                    <a:p>
                      <a:pPr algn="ctr"/>
                      <a:r>
                        <a:rPr sz="750" b="0" i="0">
                          <a:solidFill>
                            <a:srgbClr val="1A1A1A"/>
                          </a:solidFill>
                          <a:latin typeface="Montserrat"/>
                        </a:rPr>
                        <a:t>RSI / MACD as model features</a:t>
                      </a:r>
                    </a:p>
                  </a:txBody>
                  <a:tcPr marL="45720" marR="45720" marT="18288" marB="18288" anchor="ctr">
                    <a:solidFill>
                      <a:srgbClr val="F7F9FB"/>
                    </a:solidFill>
                  </a:tcPr>
                </a:tc>
                <a:tc>
                  <a:txBody>
                    <a:bodyPr wrap="square"/>
                    <a:lstStyle/>
                    <a:p>
                      <a:pPr algn="ctr"/>
                      <a:r>
                        <a:rPr sz="750" b="0" i="0">
                          <a:solidFill>
                            <a:srgbClr val="1A1A1A"/>
                          </a:solidFill>
                          <a:latin typeface="Montserrat"/>
                        </a:rPr>
                        <a:t>Indicators can add predictive value in some markets</a:t>
                      </a:r>
                    </a:p>
                  </a:txBody>
                  <a:tcPr marL="45720" marR="45720" marT="18288" marB="18288" anchor="ctr">
                    <a:solidFill>
                      <a:srgbClr val="F7F9FB"/>
                    </a:solidFill>
                  </a:tcPr>
                </a:tc>
                <a:tc>
                  <a:txBody>
                    <a:bodyPr wrap="square"/>
                    <a:lstStyle/>
                    <a:p>
                      <a:pPr algn="ctr"/>
                      <a:r>
                        <a:rPr sz="750" b="0" i="0">
                          <a:solidFill>
                            <a:srgbClr val="1A1A1A"/>
                          </a:solidFill>
                          <a:latin typeface="Montserrat"/>
                        </a:rPr>
                        <a:t>TESTED AND REJECTED. Both reduced win rate and profit factor on both pairs; kept in code, switched off.</a:t>
                      </a:r>
                    </a:p>
                  </a:txBody>
                  <a:tcPr marL="45720" marR="45720" marT="18288" marB="18288" anchor="ctr">
                    <a:solidFill>
                      <a:srgbClr val="F7F9FB"/>
                    </a:solidFill>
                  </a:tcPr>
                </a:tc>
              </a:tr>
              <a:tr h="237744">
                <a:tc>
                  <a:txBody>
                    <a:bodyPr wrap="square"/>
                    <a:lstStyle/>
                    <a:p>
                      <a:pPr algn="l"/>
                      <a:r>
                        <a:rPr sz="750" b="0" i="0">
                          <a:solidFill>
                            <a:srgbClr val="1A1A1A"/>
                          </a:solidFill>
                          <a:latin typeface="Montserrat"/>
                        </a:rPr>
                        <a:t>3</a:t>
                      </a:r>
                    </a:p>
                  </a:txBody>
                  <a:tcPr marL="45720" marR="45720" marT="18288" marB="18288" anchor="ctr">
                    <a:solidFill>
                      <a:srgbClr val="FFFFFF"/>
                    </a:solidFill>
                  </a:tcPr>
                </a:tc>
                <a:tc>
                  <a:txBody>
                    <a:bodyPr wrap="square"/>
                    <a:lstStyle/>
                    <a:p>
                      <a:pPr algn="ctr"/>
                      <a:r>
                        <a:rPr sz="750" b="0" i="0">
                          <a:solidFill>
                            <a:srgbClr val="1A1A1A"/>
                          </a:solidFill>
                          <a:latin typeface="Montserrat"/>
                        </a:rPr>
                        <a:t>Sirignano &amp; Cont (2019): Universal features of price formation</a:t>
                      </a:r>
                    </a:p>
                  </a:txBody>
                  <a:tcPr marL="45720" marR="45720" marT="18288" marB="18288" anchor="ctr">
                    <a:solidFill>
                      <a:srgbClr val="FFFFFF"/>
                    </a:solidFill>
                  </a:tcPr>
                </a:tc>
                <a:tc>
                  <a:txBody>
                    <a:bodyPr wrap="square"/>
                    <a:lstStyle/>
                    <a:p>
                      <a:pPr algn="ctr"/>
                      <a:r>
                        <a:rPr sz="750" b="0" i="0">
                          <a:solidFill>
                            <a:srgbClr val="1A1A1A"/>
                          </a:solidFill>
                          <a:latin typeface="Montserrat"/>
                        </a:rPr>
                        <a:t>Deep learning on limit-order-book data</a:t>
                      </a:r>
                    </a:p>
                  </a:txBody>
                  <a:tcPr marL="45720" marR="45720" marT="18288" marB="18288" anchor="ctr">
                    <a:solidFill>
                      <a:srgbClr val="FFFFFF"/>
                    </a:solidFill>
                  </a:tcPr>
                </a:tc>
                <a:tc>
                  <a:txBody>
                    <a:bodyPr wrap="square"/>
                    <a:lstStyle/>
                    <a:p>
                      <a:pPr algn="ctr"/>
                      <a:r>
                        <a:rPr sz="750" b="0" i="0">
                          <a:solidFill>
                            <a:srgbClr val="1A1A1A"/>
                          </a:solidFill>
                          <a:latin typeface="Montserrat"/>
                        </a:rPr>
                        <a:t>Order-flow / institutional footprints carry signal</a:t>
                      </a:r>
                    </a:p>
                  </a:txBody>
                  <a:tcPr marL="45720" marR="45720" marT="18288" marB="18288" anchor="ctr">
                    <a:solidFill>
                      <a:srgbClr val="FFFFFF"/>
                    </a:solidFill>
                  </a:tcPr>
                </a:tc>
                <a:tc>
                  <a:txBody>
                    <a:bodyPr wrap="square"/>
                    <a:lstStyle/>
                    <a:p>
                      <a:pPr algn="ctr"/>
                      <a:r>
                        <a:rPr sz="750" b="0" i="0">
                          <a:solidFill>
                            <a:srgbClr val="1A1A1A"/>
                          </a:solidFill>
                          <a:latin typeface="Montserrat"/>
                        </a:rPr>
                        <a:t>Motivated the volume filter and the order-block test (Step F).</a:t>
                      </a:r>
                    </a:p>
                  </a:txBody>
                  <a:tcPr marL="45720" marR="45720" marT="18288" marB="18288"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Literature Review (2 of 2)</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8</a:t>
            </a:r>
          </a:p>
        </p:txBody>
      </p:sp>
      <p:graphicFrame>
        <p:nvGraphicFramePr>
          <p:cNvPr id="5" name="Table 4"/>
          <p:cNvGraphicFramePr>
            <a:graphicFrameLocks noGrp="1"/>
          </p:cNvGraphicFramePr>
          <p:nvPr/>
        </p:nvGraphicFramePr>
        <p:xfrm>
          <a:off x="411480" y="978408"/>
          <a:ext cx="8321040" cy="950976"/>
        </p:xfrm>
        <a:graphic>
          <a:graphicData uri="http://schemas.openxmlformats.org/drawingml/2006/table">
            <a:tbl>
              <a:tblPr firstRow="1" bandRow="1">
                <a:tableStyleId>{5C22544A-7EE6-4342-B048-85BDC9FD1C3A}</a:tableStyleId>
              </a:tblPr>
              <a:tblGrid>
                <a:gridCol w="384048"/>
                <a:gridCol w="2057400"/>
                <a:gridCol w="1600200"/>
                <a:gridCol w="1920240"/>
                <a:gridCol w="2359152"/>
              </a:tblGrid>
              <a:tr h="237744">
                <a:tc>
                  <a:txBody>
                    <a:bodyPr wrap="square"/>
                    <a:lstStyle/>
                    <a:p>
                      <a:pPr algn="l"/>
                      <a:r>
                        <a:rPr sz="850" b="1" i="0">
                          <a:solidFill>
                            <a:srgbClr val="FFFFFF"/>
                          </a:solidFill>
                          <a:latin typeface="Montserrat"/>
                        </a:rPr>
                        <a:t>S/N</a:t>
                      </a:r>
                    </a:p>
                  </a:txBody>
                  <a:tcPr marL="45720" marR="45720" marT="18288" marB="18288" anchor="ctr">
                    <a:solidFill>
                      <a:srgbClr val="1F3A5F"/>
                    </a:solidFill>
                  </a:tcPr>
                </a:tc>
                <a:tc>
                  <a:txBody>
                    <a:bodyPr wrap="square"/>
                    <a:lstStyle/>
                    <a:p>
                      <a:pPr algn="ctr"/>
                      <a:r>
                        <a:rPr sz="850" b="1" i="0">
                          <a:solidFill>
                            <a:srgbClr val="FFFFFF"/>
                          </a:solidFill>
                          <a:latin typeface="Montserrat"/>
                        </a:rPr>
                        <a:t>Author / Title</a:t>
                      </a:r>
                    </a:p>
                  </a:txBody>
                  <a:tcPr marL="45720" marR="45720" marT="18288" marB="18288" anchor="ctr">
                    <a:solidFill>
                      <a:srgbClr val="1F3A5F"/>
                    </a:solidFill>
                  </a:tcPr>
                </a:tc>
                <a:tc>
                  <a:txBody>
                    <a:bodyPr wrap="square"/>
                    <a:lstStyle/>
                    <a:p>
                      <a:pPr algn="ctr"/>
                      <a:r>
                        <a:rPr sz="850" b="1" i="0">
                          <a:solidFill>
                            <a:srgbClr val="FFFFFF"/>
                          </a:solidFill>
                          <a:latin typeface="Montserrat"/>
                        </a:rPr>
                        <a:t>Method</a:t>
                      </a:r>
                    </a:p>
                  </a:txBody>
                  <a:tcPr marL="45720" marR="45720" marT="18288" marB="18288" anchor="ctr">
                    <a:solidFill>
                      <a:srgbClr val="1F3A5F"/>
                    </a:solidFill>
                  </a:tcPr>
                </a:tc>
                <a:tc>
                  <a:txBody>
                    <a:bodyPr wrap="square"/>
                    <a:lstStyle/>
                    <a:p>
                      <a:pPr algn="ctr"/>
                      <a:r>
                        <a:rPr sz="850" b="1" i="0">
                          <a:solidFill>
                            <a:srgbClr val="FFFFFF"/>
                          </a:solidFill>
                          <a:latin typeface="Montserrat"/>
                        </a:rPr>
                        <a:t>Finding</a:t>
                      </a:r>
                    </a:p>
                  </a:txBody>
                  <a:tcPr marL="45720" marR="45720" marT="18288" marB="18288" anchor="ctr">
                    <a:solidFill>
                      <a:srgbClr val="1F3A5F"/>
                    </a:solidFill>
                  </a:tcPr>
                </a:tc>
                <a:tc>
                  <a:txBody>
                    <a:bodyPr wrap="square"/>
                    <a:lstStyle/>
                    <a:p>
                      <a:pPr algn="ctr"/>
                      <a:r>
                        <a:rPr sz="850" b="1" i="0">
                          <a:solidFill>
                            <a:srgbClr val="FFFFFF"/>
                          </a:solidFill>
                          <a:latin typeface="Montserrat"/>
                        </a:rPr>
                        <a:t>Comment (this project)</a:t>
                      </a:r>
                    </a:p>
                  </a:txBody>
                  <a:tcPr marL="45720" marR="45720" marT="18288" marB="18288" anchor="ctr">
                    <a:solidFill>
                      <a:srgbClr val="1F3A5F"/>
                    </a:solidFill>
                  </a:tcPr>
                </a:tc>
              </a:tr>
              <a:tr h="237744">
                <a:tc>
                  <a:txBody>
                    <a:bodyPr wrap="square"/>
                    <a:lstStyle/>
                    <a:p>
                      <a:pPr algn="l"/>
                      <a:r>
                        <a:rPr sz="750" b="0" i="0">
                          <a:solidFill>
                            <a:srgbClr val="1A1A1A"/>
                          </a:solidFill>
                          <a:latin typeface="Montserrat"/>
                        </a:rPr>
                        <a:t>4</a:t>
                      </a:r>
                    </a:p>
                  </a:txBody>
                  <a:tcPr marL="45720" marR="45720" marT="18288" marB="18288" anchor="ctr">
                    <a:solidFill>
                      <a:srgbClr val="FFFFFF"/>
                    </a:solidFill>
                  </a:tcPr>
                </a:tc>
                <a:tc>
                  <a:txBody>
                    <a:bodyPr wrap="square"/>
                    <a:lstStyle/>
                    <a:p>
                      <a:pPr algn="ctr"/>
                      <a:r>
                        <a:rPr sz="750" b="0" i="0">
                          <a:solidFill>
                            <a:srgbClr val="1A1A1A"/>
                          </a:solidFill>
                          <a:latin typeface="Montserrat"/>
                        </a:rPr>
                        <a:t>Hu, Zhao &amp; Khushi (2021); Yildirim et al. (2021): LSTM for FX</a:t>
                      </a:r>
                    </a:p>
                  </a:txBody>
                  <a:tcPr marL="45720" marR="45720" marT="18288" marB="18288" anchor="ctr">
                    <a:solidFill>
                      <a:srgbClr val="FFFFFF"/>
                    </a:solidFill>
                  </a:tcPr>
                </a:tc>
                <a:tc>
                  <a:txBody>
                    <a:bodyPr wrap="square"/>
                    <a:lstStyle/>
                    <a:p>
                      <a:pPr algn="ctr"/>
                      <a:r>
                        <a:rPr sz="750" b="0" i="0">
                          <a:solidFill>
                            <a:srgbClr val="1A1A1A"/>
                          </a:solidFill>
                          <a:latin typeface="Montserrat"/>
                        </a:rPr>
                        <a:t>Deep recurrent networks on price series</a:t>
                      </a:r>
                    </a:p>
                  </a:txBody>
                  <a:tcPr marL="45720" marR="45720" marT="18288" marB="18288" anchor="ctr">
                    <a:solidFill>
                      <a:srgbClr val="FFFFFF"/>
                    </a:solidFill>
                  </a:tcPr>
                </a:tc>
                <a:tc>
                  <a:txBody>
                    <a:bodyPr wrap="square"/>
                    <a:lstStyle/>
                    <a:p>
                      <a:pPr algn="ctr"/>
                      <a:r>
                        <a:rPr sz="750" b="0" i="0">
                          <a:solidFill>
                            <a:srgbClr val="1A1A1A"/>
                          </a:solidFill>
                          <a:latin typeface="Montserrat"/>
                        </a:rPr>
                        <a:t>Report gains for FX direction prediction</a:t>
                      </a:r>
                    </a:p>
                  </a:txBody>
                  <a:tcPr marL="45720" marR="45720" marT="18288" marB="18288" anchor="ctr">
                    <a:solidFill>
                      <a:srgbClr val="FFFFFF"/>
                    </a:solidFill>
                  </a:tcPr>
                </a:tc>
                <a:tc>
                  <a:txBody>
                    <a:bodyPr wrap="square"/>
                    <a:lstStyle/>
                    <a:p>
                      <a:pPr algn="ctr"/>
                      <a:r>
                        <a:rPr sz="750" b="0" i="0">
                          <a:solidFill>
                            <a:srgbClr val="1A1A1A"/>
                          </a:solidFill>
                          <a:latin typeface="Montserrat"/>
                        </a:rPr>
                        <a:t>REVIEWED, NOT ADOPTED — CPU-only hardware, and the opacity conflicts with this project's interpretability goal.</a:t>
                      </a:r>
                    </a:p>
                  </a:txBody>
                  <a:tcPr marL="45720" marR="45720" marT="18288" marB="18288" anchor="ctr">
                    <a:solidFill>
                      <a:srgbClr val="FFFFFF"/>
                    </a:solidFill>
                  </a:tcPr>
                </a:tc>
              </a:tr>
              <a:tr h="237744">
                <a:tc>
                  <a:txBody>
                    <a:bodyPr wrap="square"/>
                    <a:lstStyle/>
                    <a:p>
                      <a:pPr algn="l"/>
                      <a:r>
                        <a:rPr sz="750" b="0" i="0">
                          <a:solidFill>
                            <a:srgbClr val="1A1A1A"/>
                          </a:solidFill>
                          <a:latin typeface="Montserrat"/>
                        </a:rPr>
                        <a:t>5</a:t>
                      </a:r>
                    </a:p>
                  </a:txBody>
                  <a:tcPr marL="45720" marR="45720" marT="18288" marB="18288" anchor="ctr">
                    <a:solidFill>
                      <a:srgbClr val="F7F9FB"/>
                    </a:solidFill>
                  </a:tcPr>
                </a:tc>
                <a:tc>
                  <a:txBody>
                    <a:bodyPr wrap="square"/>
                    <a:lstStyle/>
                    <a:p>
                      <a:pPr algn="ctr"/>
                      <a:r>
                        <a:rPr sz="750" b="0" i="0">
                          <a:solidFill>
                            <a:srgbClr val="1A1A1A"/>
                          </a:solidFill>
                          <a:latin typeface="Montserrat"/>
                        </a:rPr>
                        <a:t>Bailey et al. (2014): The probability of backtest overfitting</a:t>
                      </a:r>
                    </a:p>
                  </a:txBody>
                  <a:tcPr marL="45720" marR="45720" marT="18288" marB="18288" anchor="ctr">
                    <a:solidFill>
                      <a:srgbClr val="F7F9FB"/>
                    </a:solidFill>
                  </a:tcPr>
                </a:tc>
                <a:tc>
                  <a:txBody>
                    <a:bodyPr wrap="square"/>
                    <a:lstStyle/>
                    <a:p>
                      <a:pPr algn="ctr"/>
                      <a:r>
                        <a:rPr sz="750" b="0" i="0">
                          <a:solidFill>
                            <a:srgbClr val="1A1A1A"/>
                          </a:solidFill>
                          <a:latin typeface="Montserrat"/>
                        </a:rPr>
                        <a:t>Statistical critique of backtesting</a:t>
                      </a:r>
                    </a:p>
                  </a:txBody>
                  <a:tcPr marL="45720" marR="45720" marT="18288" marB="18288" anchor="ctr">
                    <a:solidFill>
                      <a:srgbClr val="F7F9FB"/>
                    </a:solidFill>
                  </a:tcPr>
                </a:tc>
                <a:tc>
                  <a:txBody>
                    <a:bodyPr wrap="square"/>
                    <a:lstStyle/>
                    <a:p>
                      <a:pPr algn="ctr"/>
                      <a:r>
                        <a:rPr sz="750" b="0" i="0">
                          <a:solidFill>
                            <a:srgbClr val="1A1A1A"/>
                          </a:solidFill>
                          <a:latin typeface="Montserrat"/>
                        </a:rPr>
                        <a:t>Repeated tuning on one dataset inflates apparent performance</a:t>
                      </a:r>
                    </a:p>
                  </a:txBody>
                  <a:tcPr marL="45720" marR="45720" marT="18288" marB="18288" anchor="ctr">
                    <a:solidFill>
                      <a:srgbClr val="F7F9FB"/>
                    </a:solidFill>
                  </a:tcPr>
                </a:tc>
                <a:tc>
                  <a:txBody>
                    <a:bodyPr wrap="square"/>
                    <a:lstStyle/>
                    <a:p>
                      <a:pPr algn="ctr"/>
                      <a:r>
                        <a:rPr sz="750" b="0" i="0">
                          <a:solidFill>
                            <a:srgbClr val="1A1A1A"/>
                          </a:solidFill>
                          <a:latin typeface="Montserrat"/>
                        </a:rPr>
                        <a:t>ADOPTED AS DISCIPLINE. Chronological split, TimeSeriesSplit CV, and a sealed test set used once.</a:t>
                      </a:r>
                    </a:p>
                  </a:txBody>
                  <a:tcPr marL="45720" marR="45720" marT="18288" marB="18288" anchor="ctr">
                    <a:solidFill>
                      <a:srgbClr val="F7F9FB"/>
                    </a:solidFill>
                  </a:tcPr>
                </a:tc>
              </a:tr>
              <a:tr h="237744">
                <a:tc>
                  <a:txBody>
                    <a:bodyPr wrap="square"/>
                    <a:lstStyle/>
                    <a:p>
                      <a:pPr algn="l"/>
                      <a:r>
                        <a:rPr sz="750" b="0" i="0">
                          <a:solidFill>
                            <a:srgbClr val="1A1A1A"/>
                          </a:solidFill>
                          <a:latin typeface="Montserrat"/>
                        </a:rPr>
                        <a:t>6</a:t>
                      </a:r>
                    </a:p>
                  </a:txBody>
                  <a:tcPr marL="45720" marR="45720" marT="18288" marB="18288" anchor="ctr">
                    <a:solidFill>
                      <a:srgbClr val="FFFFFF"/>
                    </a:solidFill>
                  </a:tcPr>
                </a:tc>
                <a:tc>
                  <a:txBody>
                    <a:bodyPr wrap="square"/>
                    <a:lstStyle/>
                    <a:p>
                      <a:pPr algn="ctr"/>
                      <a:r>
                        <a:rPr sz="750" b="0" i="0">
                          <a:solidFill>
                            <a:srgbClr val="1A1A1A"/>
                          </a:solidFill>
                          <a:latin typeface="Montserrat"/>
                        </a:rPr>
                        <a:t>Barber &amp; Odean (2000): Trading is hazardous to your wealth</a:t>
                      </a:r>
                    </a:p>
                  </a:txBody>
                  <a:tcPr marL="45720" marR="45720" marT="18288" marB="18288" anchor="ctr">
                    <a:solidFill>
                      <a:srgbClr val="FFFFFF"/>
                    </a:solidFill>
                  </a:tcPr>
                </a:tc>
                <a:tc>
                  <a:txBody>
                    <a:bodyPr wrap="square"/>
                    <a:lstStyle/>
                    <a:p>
                      <a:pPr algn="ctr"/>
                      <a:r>
                        <a:rPr sz="750" b="0" i="0">
                          <a:solidFill>
                            <a:srgbClr val="1A1A1A"/>
                          </a:solidFill>
                          <a:latin typeface="Montserrat"/>
                        </a:rPr>
                        <a:t>Study of retail brokerage accounts</a:t>
                      </a:r>
                    </a:p>
                  </a:txBody>
                  <a:tcPr marL="45720" marR="45720" marT="18288" marB="18288" anchor="ctr">
                    <a:solidFill>
                      <a:srgbClr val="FFFFFF"/>
                    </a:solidFill>
                  </a:tcPr>
                </a:tc>
                <a:tc>
                  <a:txBody>
                    <a:bodyPr wrap="square"/>
                    <a:lstStyle/>
                    <a:p>
                      <a:pPr algn="ctr"/>
                      <a:r>
                        <a:rPr sz="750" b="0" i="0">
                          <a:solidFill>
                            <a:srgbClr val="1A1A1A"/>
                          </a:solidFill>
                          <a:latin typeface="Montserrat"/>
                        </a:rPr>
                        <a:t>Frequent retail trading systematically underperforms</a:t>
                      </a:r>
                    </a:p>
                  </a:txBody>
                  <a:tcPr marL="45720" marR="45720" marT="18288" marB="18288" anchor="ctr">
                    <a:solidFill>
                      <a:srgbClr val="FFFFFF"/>
                    </a:solidFill>
                  </a:tcPr>
                </a:tc>
                <a:tc>
                  <a:txBody>
                    <a:bodyPr wrap="square"/>
                    <a:lstStyle/>
                    <a:p>
                      <a:pPr algn="ctr"/>
                      <a:r>
                        <a:rPr sz="750" b="0" i="0">
                          <a:solidFill>
                            <a:srgbClr val="1A1A1A"/>
                          </a:solidFill>
                          <a:latin typeface="Montserrat"/>
                        </a:rPr>
                        <a:t>Motivates the selective AND-gate: the system trades on roughly 1.3% of candles, not continuously.</a:t>
                      </a:r>
                    </a:p>
                  </a:txBody>
                  <a:tcPr marL="45720" marR="45720" marT="18288" marB="18288"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Methodology</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9</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400"/>
              </a:spcAft>
            </a:pPr>
            <a:r>
              <a:rPr sz="1080" b="1" i="0">
                <a:solidFill>
                  <a:srgbClr val="1A1A1A"/>
                </a:solidFill>
                <a:latin typeface="Montserrat"/>
              </a:rPr>
              <a:t>•  Approach:</a:t>
            </a:r>
          </a:p>
          <a:p>
            <a:pPr lvl="1">
              <a:spcAft>
                <a:spcPts val="400"/>
              </a:spcAft>
            </a:pPr>
            <a:r>
              <a:rPr sz="990" b="0" i="0">
                <a:solidFill>
                  <a:srgbClr val="333333"/>
                </a:solidFill>
                <a:latin typeface="Montserrat"/>
              </a:rPr>
              <a:t>–  Experimental and incremental — build one module at a time, measure every change on BOTH currency pairs, and record the result whether it helped or not.</a:t>
            </a:r>
          </a:p>
          <a:p>
            <a:pPr>
              <a:spcAft>
                <a:spcPts val="400"/>
              </a:spcAft>
            </a:pPr>
            <a:r>
              <a:rPr sz="1080" b="1" i="0">
                <a:solidFill>
                  <a:srgbClr val="1A1A1A"/>
                </a:solidFill>
                <a:latin typeface="Montserrat"/>
              </a:rPr>
              <a:t>•  Data:</a:t>
            </a:r>
          </a:p>
          <a:p>
            <a:pPr lvl="1">
              <a:spcAft>
                <a:spcPts val="400"/>
              </a:spcAft>
            </a:pPr>
            <a:r>
              <a:rPr sz="990" b="0" i="0">
                <a:solidFill>
                  <a:srgbClr val="333333"/>
                </a:solidFill>
                <a:latin typeface="Montserrat"/>
              </a:rPr>
              <a:t>–  Hourly EUR/USD and GBP/USD candles from Yahoo Finance. Because spot FX has no central exchange and reports zero volume, volume is taken from the matching CME currency futures (6E=F, 6B=F) — the standard proxy for institutional activity.</a:t>
            </a:r>
          </a:p>
          <a:p>
            <a:pPr>
              <a:spcAft>
                <a:spcPts val="400"/>
              </a:spcAft>
            </a:pPr>
            <a:r>
              <a:rPr sz="1080" b="1" i="0">
                <a:solidFill>
                  <a:srgbClr val="1A1A1A"/>
                </a:solidFill>
                <a:latin typeface="Montserrat"/>
              </a:rPr>
              <a:t>•  Model:</a:t>
            </a:r>
          </a:p>
          <a:p>
            <a:pPr lvl="1">
              <a:spcAft>
                <a:spcPts val="400"/>
              </a:spcAft>
            </a:pPr>
            <a:r>
              <a:rPr sz="990" b="0" i="0">
                <a:solidFill>
                  <a:srgbClr val="333333"/>
                </a:solidFill>
                <a:latin typeface="Montserrat"/>
              </a:rPr>
              <a:t>–  Random Forest classifier (scikit-learn), tuned with TimeSeriesSplit cross-validation on the training portion only.</a:t>
            </a:r>
          </a:p>
          <a:p>
            <a:pPr>
              <a:spcAft>
                <a:spcPts val="400"/>
              </a:spcAft>
            </a:pPr>
            <a:r>
              <a:rPr sz="1080" b="1" i="0">
                <a:solidFill>
                  <a:srgbClr val="1A1A1A"/>
                </a:solidFill>
                <a:latin typeface="Montserrat"/>
              </a:rPr>
              <a:t>•  Evaluation:</a:t>
            </a:r>
          </a:p>
          <a:p>
            <a:pPr lvl="1">
              <a:spcAft>
                <a:spcPts val="400"/>
              </a:spcAft>
            </a:pPr>
            <a:r>
              <a:rPr sz="990" b="0" i="0">
                <a:solidFill>
                  <a:srgbClr val="333333"/>
                </a:solidFill>
                <a:latin typeface="Montserrat"/>
              </a:rPr>
              <a:t>–  Event-driven backtest on the held-out 20% of the timeline, with spread and slippage charged on both entry and exit; win rates quoted with Wilson confidence intervals and compared against a no-skill baseline.</a:t>
            </a:r>
          </a:p>
          <a:p>
            <a:pPr>
              <a:spcAft>
                <a:spcPts val="400"/>
              </a:spcAft>
            </a:pPr>
            <a:r>
              <a:rPr sz="1080" b="1" i="0">
                <a:solidFill>
                  <a:srgbClr val="1A1A1A"/>
                </a:solidFill>
                <a:latin typeface="Montserrat"/>
              </a:rPr>
              <a:t>•  Tools:</a:t>
            </a:r>
          </a:p>
          <a:p>
            <a:pPr lvl="1">
              <a:spcAft>
                <a:spcPts val="400"/>
              </a:spcAft>
            </a:pPr>
            <a:r>
              <a:rPr sz="990" b="0" i="0">
                <a:solidFill>
                  <a:srgbClr val="333333"/>
                </a:solidFill>
                <a:latin typeface="Montserrat"/>
              </a:rPr>
              <a:t>–  Python 3.14, scikit-learn, pandas, Streamlit dashboard, Docker; 231 automated tests, including anti-leakage tests for every feature.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Justification</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10</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600"/>
              </a:spcAft>
            </a:pPr>
            <a:r>
              <a:rPr sz="1180" b="0" i="0">
                <a:solidFill>
                  <a:srgbClr val="1A1A1A"/>
                </a:solidFill>
                <a:latin typeface="Montserrat"/>
              </a:rPr>
              <a:t>•  Removes emotional and fatigue-driven error from execution — the dominant documented cause of retail losses.</a:t>
            </a:r>
          </a:p>
          <a:p>
            <a:pPr>
              <a:spcAft>
                <a:spcPts val="600"/>
              </a:spcAft>
            </a:pPr>
            <a:r>
              <a:rPr sz="1180" b="0" i="0">
                <a:solidFill>
                  <a:srgbClr val="1A1A1A"/>
                </a:solidFill>
                <a:latin typeface="Montserrat"/>
              </a:rPr>
              <a:t>•  The hybrid AND-gate makes every decision explainable: each trade carries the volume Z-Score that triggered it and the model probability that confirmed it, so no decision is a black box.</a:t>
            </a:r>
          </a:p>
          <a:p>
            <a:pPr>
              <a:spcAft>
                <a:spcPts val="600"/>
              </a:spcAft>
            </a:pPr>
            <a:r>
              <a:rPr sz="1180" b="0" i="0">
                <a:solidFill>
                  <a:srgbClr val="1A1A1A"/>
                </a:solidFill>
                <a:latin typeface="Montserrat"/>
              </a:rPr>
              <a:t>•  Risk management is enforced by the system rather than by the trader's discipline: position size is a fixed fraction of equity, and hard drawdown and daily-loss limits stop trading automatically.</a:t>
            </a:r>
          </a:p>
          <a:p>
            <a:pPr>
              <a:spcAft>
                <a:spcPts val="600"/>
              </a:spcAft>
            </a:pPr>
            <a:r>
              <a:rPr sz="1180" b="0" i="0">
                <a:solidFill>
                  <a:srgbClr val="1A1A1A"/>
                </a:solidFill>
                <a:latin typeface="Montserrat"/>
              </a:rPr>
              <a:t>•  The evaluation method is itself a contribution — it is reproducible, costed, and reports negative results, which is uncommon in this literature.</a:t>
            </a:r>
          </a:p>
          <a:p>
            <a:pPr>
              <a:spcAft>
                <a:spcPts val="600"/>
              </a:spcAft>
            </a:pPr>
            <a:r>
              <a:rPr sz="1180" b="0" i="0">
                <a:solidFill>
                  <a:srgbClr val="1A1A1A"/>
                </a:solidFill>
                <a:latin typeface="Montserrat"/>
              </a:rPr>
              <a:t>•  The architecture separates the analytical engine from the broker, so the same tested engine runs against a simulated broker or a real one with a single configuration change and no code edits.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Scope of the Project</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11</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400"/>
              </a:spcAft>
            </a:pPr>
            <a:r>
              <a:rPr sz="1130" b="1" i="0">
                <a:solidFill>
                  <a:srgbClr val="1A1A1A"/>
                </a:solidFill>
                <a:latin typeface="Montserrat"/>
              </a:rPr>
              <a:t>•  In scope:</a:t>
            </a:r>
          </a:p>
          <a:p>
            <a:pPr lvl="1">
              <a:spcAft>
                <a:spcPts val="400"/>
              </a:spcAft>
            </a:pPr>
            <a:r>
              <a:rPr sz="1030" b="0" i="0">
                <a:solidFill>
                  <a:srgbClr val="333333"/>
                </a:solidFill>
                <a:latin typeface="Montserrat"/>
              </a:rPr>
              <a:t>–  Two currency pairs — EUR/USD and GBP/USD — on the 1-hour timeframe.</a:t>
            </a:r>
          </a:p>
          <a:p>
            <a:pPr lvl="1">
              <a:spcAft>
                <a:spcPts val="400"/>
              </a:spcAft>
            </a:pPr>
            <a:r>
              <a:rPr sz="1030" b="0" i="0">
                <a:solidFill>
                  <a:srgbClr val="333333"/>
                </a:solidFill>
                <a:latin typeface="Montserrat"/>
              </a:rPr>
              <a:t>–  A complete pipeline: data handling, feature engineering, labelling, model training, signal generation, risk management, order execution, backtesting and a monitoring dashboard.</a:t>
            </a:r>
          </a:p>
          <a:p>
            <a:pPr lvl="1">
              <a:spcAft>
                <a:spcPts val="400"/>
              </a:spcAft>
            </a:pPr>
            <a:r>
              <a:rPr sz="1030" b="0" i="0">
                <a:solidFill>
                  <a:srgbClr val="333333"/>
                </a:solidFill>
                <a:latin typeface="Montserrat"/>
              </a:rPr>
              <a:t>–  Evaluation by backtesting on held-out data, plus live execution validation on a broker demo account.</a:t>
            </a:r>
          </a:p>
          <a:p>
            <a:pPr>
              <a:spcAft>
                <a:spcPts val="400"/>
              </a:spcAft>
            </a:pPr>
            <a:r>
              <a:rPr sz="1130" b="1" i="0">
                <a:solidFill>
                  <a:srgbClr val="1A1A1A"/>
                </a:solidFill>
                <a:latin typeface="Montserrat"/>
              </a:rPr>
              <a:t>•  Out of scope:</a:t>
            </a:r>
          </a:p>
          <a:p>
            <a:pPr lvl="1">
              <a:spcAft>
                <a:spcPts val="400"/>
              </a:spcAft>
            </a:pPr>
            <a:r>
              <a:rPr sz="1030" b="0" i="0">
                <a:solidFill>
                  <a:srgbClr val="333333"/>
                </a:solidFill>
                <a:latin typeface="Montserrat"/>
              </a:rPr>
              <a:t>–  Trading with real money. The system is restricted to demo accounts, and this is enforced in code, not merely by policy.</a:t>
            </a:r>
          </a:p>
          <a:p>
            <a:pPr lvl="1">
              <a:spcAft>
                <a:spcPts val="400"/>
              </a:spcAft>
            </a:pPr>
            <a:r>
              <a:rPr sz="1030" b="0" i="0">
                <a:solidFill>
                  <a:srgbClr val="333333"/>
                </a:solidFill>
                <a:latin typeface="Montserrat"/>
              </a:rPr>
              <a:t>–  High-frequency or tick-level trading; the system operates on hourly candles.</a:t>
            </a:r>
          </a:p>
          <a:p>
            <a:pPr lvl="1">
              <a:spcAft>
                <a:spcPts val="400"/>
              </a:spcAft>
            </a:pPr>
            <a:r>
              <a:rPr sz="1030" b="0" i="0">
                <a:solidFill>
                  <a:srgbClr val="333333"/>
                </a:solidFill>
                <a:latin typeface="Montserrat"/>
              </a:rPr>
              <a:t>–  Portfolio optimisation across many instruments, and deep-learning models.</a:t>
            </a:r>
          </a:p>
          <a:p>
            <a:pPr>
              <a:spcAft>
                <a:spcPts val="400"/>
              </a:spcAft>
            </a:pPr>
            <a:r>
              <a:rPr sz="1130" b="1" i="0">
                <a:solidFill>
                  <a:srgbClr val="1A1A1A"/>
                </a:solidFill>
                <a:latin typeface="Montserrat"/>
              </a:rPr>
              <a:t>•  Limitation acknowledged:</a:t>
            </a:r>
          </a:p>
          <a:p>
            <a:pPr lvl="1">
              <a:spcAft>
                <a:spcPts val="400"/>
              </a:spcAft>
            </a:pPr>
            <a:r>
              <a:rPr sz="1030" b="0" i="0">
                <a:solidFill>
                  <a:srgbClr val="333333"/>
                </a:solidFill>
                <a:latin typeface="Montserrat"/>
              </a:rPr>
              <a:t>–  Yahoo Finance serves only about 730 days of hourly data, so the study window is approximately two years rather than the five originally planned.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Work Done</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12</a:t>
            </a:r>
          </a:p>
        </p:txBody>
      </p:sp>
      <p:sp>
        <p:nvSpPr>
          <p:cNvPr id="5" name="TextBox 4"/>
          <p:cNvSpPr txBox="1"/>
          <p:nvPr/>
        </p:nvSpPr>
        <p:spPr>
          <a:xfrm>
            <a:off x="411480" y="932688"/>
            <a:ext cx="8321040" cy="274320"/>
          </a:xfrm>
          <a:prstGeom prst="rect">
            <a:avLst/>
          </a:prstGeom>
          <a:noFill/>
        </p:spPr>
        <p:txBody>
          <a:bodyPr wrap="square" lIns="0" rIns="0" tIns="0" bIns="0" anchor="t">
            <a:spAutoFit/>
          </a:bodyPr>
          <a:lstStyle/>
          <a:p>
            <a:pPr algn="l"/>
            <a:r>
              <a:rPr sz="1180" b="0" i="0">
                <a:solidFill>
                  <a:srgbClr val="1A1A1A"/>
                </a:solidFill>
                <a:latin typeface="Montserrat"/>
              </a:rPr>
              <a:t>The system is fully implemented, tested and evaluated. This section covers:</a:t>
            </a:r>
          </a:p>
        </p:txBody>
      </p:sp>
      <p:sp>
        <p:nvSpPr>
          <p:cNvPr id="6" name="Rectangle 5"/>
          <p:cNvSpPr/>
          <p:nvPr/>
        </p:nvSpPr>
        <p:spPr>
          <a:xfrm>
            <a:off x="411480" y="1344168"/>
            <a:ext cx="2651760" cy="320040"/>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1030" b="1" i="0">
                <a:solidFill>
                  <a:srgbClr val="FFFFFF"/>
                </a:solidFill>
                <a:latin typeface="Montserrat"/>
              </a:rPr>
              <a:t>Design Specification</a:t>
            </a:r>
          </a:p>
        </p:txBody>
      </p:sp>
      <p:sp>
        <p:nvSpPr>
          <p:cNvPr id="7" name="TextBox 6"/>
          <p:cNvSpPr txBox="1"/>
          <p:nvPr/>
        </p:nvSpPr>
        <p:spPr>
          <a:xfrm>
            <a:off x="502920" y="1773936"/>
            <a:ext cx="2514600" cy="2103120"/>
          </a:xfrm>
          <a:prstGeom prst="rect">
            <a:avLst/>
          </a:prstGeom>
          <a:noFill/>
        </p:spPr>
        <p:txBody>
          <a:bodyPr wrap="square">
            <a:spAutoFit/>
          </a:bodyPr>
          <a:lstStyle/>
          <a:p>
            <a:pPr>
              <a:spcAft>
                <a:spcPts val="600"/>
              </a:spcAft>
            </a:pPr>
            <a:r>
              <a:rPr sz="940" b="0" i="0">
                <a:solidFill>
                  <a:srgbClr val="1A1A1A"/>
                </a:solidFill>
                <a:latin typeface="Montserrat"/>
              </a:rPr>
              <a:t>•  Context Diagram</a:t>
            </a:r>
          </a:p>
          <a:p>
            <a:pPr>
              <a:spcAft>
                <a:spcPts val="600"/>
              </a:spcAft>
            </a:pPr>
            <a:r>
              <a:rPr sz="940" b="0" i="0">
                <a:solidFill>
                  <a:srgbClr val="1A1A1A"/>
                </a:solidFill>
                <a:latin typeface="Montserrat"/>
              </a:rPr>
              <a:t>•  System Architecture</a:t>
            </a:r>
          </a:p>
          <a:p>
            <a:pPr>
              <a:spcAft>
                <a:spcPts val="600"/>
              </a:spcAft>
            </a:pPr>
            <a:r>
              <a:rPr sz="940" b="0" i="0">
                <a:solidFill>
                  <a:srgbClr val="1A1A1A"/>
                </a:solidFill>
                <a:latin typeface="Montserrat"/>
              </a:rPr>
              <a:t>•  Block Diagram</a:t>
            </a:r>
          </a:p>
          <a:p>
            <a:pPr>
              <a:spcAft>
                <a:spcPts val="600"/>
              </a:spcAft>
            </a:pPr>
            <a:r>
              <a:rPr sz="940" b="0" i="0">
                <a:solidFill>
                  <a:srgbClr val="1A1A1A"/>
                </a:solidFill>
                <a:latin typeface="Montserrat"/>
              </a:rPr>
              <a:t>•  Use Case Diagram</a:t>
            </a:r>
          </a:p>
          <a:p>
            <a:pPr>
              <a:spcAft>
                <a:spcPts val="600"/>
              </a:spcAft>
            </a:pPr>
            <a:r>
              <a:rPr sz="940" b="0" i="0">
                <a:solidFill>
                  <a:srgbClr val="1A1A1A"/>
                </a:solidFill>
                <a:latin typeface="Montserrat"/>
              </a:rPr>
              <a:t>•  Activity Diagram</a:t>
            </a:r>
          </a:p>
          <a:p>
            <a:pPr>
              <a:spcAft>
                <a:spcPts val="600"/>
              </a:spcAft>
            </a:pPr>
            <a:r>
              <a:rPr sz="940" b="0" i="0">
                <a:solidFill>
                  <a:srgbClr val="1A1A1A"/>
                </a:solidFill>
                <a:latin typeface="Montserrat"/>
              </a:rPr>
              <a:t>•  Class Diagram</a:t>
            </a:r>
          </a:p>
        </p:txBody>
      </p:sp>
      <p:sp>
        <p:nvSpPr>
          <p:cNvPr id="8" name="Rectangle 7"/>
          <p:cNvSpPr/>
          <p:nvPr/>
        </p:nvSpPr>
        <p:spPr>
          <a:xfrm>
            <a:off x="3246120" y="1344168"/>
            <a:ext cx="2651760" cy="320040"/>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1030" b="1" i="0">
                <a:solidFill>
                  <a:srgbClr val="FFFFFF"/>
                </a:solidFill>
                <a:latin typeface="Montserrat"/>
              </a:rPr>
              <a:t>Implementation</a:t>
            </a:r>
          </a:p>
        </p:txBody>
      </p:sp>
      <p:sp>
        <p:nvSpPr>
          <p:cNvPr id="9" name="TextBox 8"/>
          <p:cNvSpPr txBox="1"/>
          <p:nvPr/>
        </p:nvSpPr>
        <p:spPr>
          <a:xfrm>
            <a:off x="3337560" y="1773936"/>
            <a:ext cx="2514600" cy="2103120"/>
          </a:xfrm>
          <a:prstGeom prst="rect">
            <a:avLst/>
          </a:prstGeom>
          <a:noFill/>
        </p:spPr>
        <p:txBody>
          <a:bodyPr wrap="square">
            <a:spAutoFit/>
          </a:bodyPr>
          <a:lstStyle/>
          <a:p>
            <a:pPr>
              <a:spcAft>
                <a:spcPts val="600"/>
              </a:spcAft>
            </a:pPr>
            <a:r>
              <a:rPr sz="940" b="0" i="0">
                <a:solidFill>
                  <a:srgbClr val="1A1A1A"/>
                </a:solidFill>
                <a:latin typeface="Montserrat"/>
              </a:rPr>
              <a:t>•  13 modules, Python 3.14</a:t>
            </a:r>
          </a:p>
          <a:p>
            <a:pPr>
              <a:spcAft>
                <a:spcPts val="600"/>
              </a:spcAft>
            </a:pPr>
            <a:r>
              <a:rPr sz="940" b="0" i="0">
                <a:solidFill>
                  <a:srgbClr val="1A1A1A"/>
                </a:solidFill>
                <a:latin typeface="Montserrat"/>
              </a:rPr>
              <a:t>•  231 automated tests, all passing</a:t>
            </a:r>
          </a:p>
          <a:p>
            <a:pPr>
              <a:spcAft>
                <a:spcPts val="600"/>
              </a:spcAft>
            </a:pPr>
            <a:r>
              <a:rPr sz="940" b="0" i="0">
                <a:solidFill>
                  <a:srgbClr val="1A1A1A"/>
                </a:solidFill>
                <a:latin typeface="Montserrat"/>
              </a:rPr>
              <a:t>•  Streamlit dashboard</a:t>
            </a:r>
          </a:p>
          <a:p>
            <a:pPr>
              <a:spcAft>
                <a:spcPts val="600"/>
              </a:spcAft>
            </a:pPr>
            <a:r>
              <a:rPr sz="940" b="0" i="0">
                <a:solidFill>
                  <a:srgbClr val="1A1A1A"/>
                </a:solidFill>
                <a:latin typeface="Montserrat"/>
              </a:rPr>
              <a:t>•  Docker deployment</a:t>
            </a:r>
          </a:p>
          <a:p>
            <a:pPr>
              <a:spcAft>
                <a:spcPts val="600"/>
              </a:spcAft>
            </a:pPr>
            <a:r>
              <a:rPr sz="940" b="0" i="0">
                <a:solidFill>
                  <a:srgbClr val="1A1A1A"/>
                </a:solidFill>
                <a:latin typeface="Montserrat"/>
              </a:rPr>
              <a:t>•  Live MT5 execution path</a:t>
            </a:r>
          </a:p>
          <a:p>
            <a:pPr>
              <a:spcAft>
                <a:spcPts val="600"/>
              </a:spcAft>
            </a:pPr>
            <a:r>
              <a:rPr sz="940" b="0" i="0">
                <a:solidFill>
                  <a:srgbClr val="1A1A1A"/>
                </a:solidFill>
                <a:latin typeface="Montserrat"/>
              </a:rPr>
              <a:t>•  Demo-only safety guards</a:t>
            </a:r>
          </a:p>
        </p:txBody>
      </p:sp>
      <p:sp>
        <p:nvSpPr>
          <p:cNvPr id="10" name="Rectangle 9"/>
          <p:cNvSpPr/>
          <p:nvPr/>
        </p:nvSpPr>
        <p:spPr>
          <a:xfrm>
            <a:off x="6080760" y="1344168"/>
            <a:ext cx="2651760" cy="320040"/>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1030" b="1" i="0">
                <a:solidFill>
                  <a:srgbClr val="FFFFFF"/>
                </a:solidFill>
                <a:latin typeface="Montserrat"/>
              </a:rPr>
              <a:t>Evaluation</a:t>
            </a:r>
          </a:p>
        </p:txBody>
      </p:sp>
      <p:sp>
        <p:nvSpPr>
          <p:cNvPr id="11" name="TextBox 10"/>
          <p:cNvSpPr txBox="1"/>
          <p:nvPr/>
        </p:nvSpPr>
        <p:spPr>
          <a:xfrm>
            <a:off x="6172200" y="1773936"/>
            <a:ext cx="2514600" cy="2103120"/>
          </a:xfrm>
          <a:prstGeom prst="rect">
            <a:avLst/>
          </a:prstGeom>
          <a:noFill/>
        </p:spPr>
        <p:txBody>
          <a:bodyPr wrap="square">
            <a:spAutoFit/>
          </a:bodyPr>
          <a:lstStyle/>
          <a:p>
            <a:pPr>
              <a:spcAft>
                <a:spcPts val="600"/>
              </a:spcAft>
            </a:pPr>
            <a:r>
              <a:rPr sz="940" b="0" i="0">
                <a:solidFill>
                  <a:srgbClr val="1A1A1A"/>
                </a:solidFill>
                <a:latin typeface="Montserrat"/>
              </a:rPr>
              <a:t>•  Held-out backtest, both pairs</a:t>
            </a:r>
          </a:p>
          <a:p>
            <a:pPr>
              <a:spcAft>
                <a:spcPts val="600"/>
              </a:spcAft>
            </a:pPr>
            <a:r>
              <a:rPr sz="940" b="0" i="0">
                <a:solidFill>
                  <a:srgbClr val="1A1A1A"/>
                </a:solidFill>
                <a:latin typeface="Montserrat"/>
              </a:rPr>
              <a:t>•  Costs charged on every trade</a:t>
            </a:r>
          </a:p>
          <a:p>
            <a:pPr>
              <a:spcAft>
                <a:spcPts val="600"/>
              </a:spcAft>
            </a:pPr>
            <a:r>
              <a:rPr sz="940" b="0" i="0">
                <a:solidFill>
                  <a:srgbClr val="1A1A1A"/>
                </a:solidFill>
                <a:latin typeface="Montserrat"/>
              </a:rPr>
              <a:t>•  Wilson confidence intervals</a:t>
            </a:r>
          </a:p>
          <a:p>
            <a:pPr>
              <a:spcAft>
                <a:spcPts val="600"/>
              </a:spcAft>
            </a:pPr>
            <a:r>
              <a:rPr sz="940" b="0" i="0">
                <a:solidFill>
                  <a:srgbClr val="1A1A1A"/>
                </a:solidFill>
                <a:latin typeface="Montserrat"/>
              </a:rPr>
              <a:t>•  No-skill baseline comparison</a:t>
            </a:r>
          </a:p>
          <a:p>
            <a:pPr>
              <a:spcAft>
                <a:spcPts val="600"/>
              </a:spcAft>
            </a:pPr>
            <a:r>
              <a:rPr sz="940" b="0" i="0">
                <a:solidFill>
                  <a:srgbClr val="1A1A1A"/>
                </a:solidFill>
                <a:latin typeface="Montserrat"/>
              </a:rPr>
              <a:t>•  Six measured negative results</a:t>
            </a:r>
          </a:p>
          <a:p>
            <a:pPr>
              <a:spcAft>
                <a:spcPts val="600"/>
              </a:spcAft>
            </a:pPr>
            <a:r>
              <a:rPr sz="940" b="0" i="0">
                <a:solidFill>
                  <a:srgbClr val="1A1A1A"/>
                </a:solidFill>
                <a:latin typeface="Montserrat"/>
              </a:rPr>
              <a:t>•  Live execution validation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Design Specification — Context Diagram</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13</a:t>
            </a:r>
          </a:p>
        </p:txBody>
      </p:sp>
      <p:sp>
        <p:nvSpPr>
          <p:cNvPr id="5" name="Rounded Rectangle 4"/>
          <p:cNvSpPr/>
          <p:nvPr/>
        </p:nvSpPr>
        <p:spPr>
          <a:xfrm>
            <a:off x="4224528" y="2240280"/>
            <a:ext cx="1737360" cy="914400"/>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0</a:t>
            </a:r>
          </a:p>
          <a:p>
            <a:pPr algn="ctr"/>
            <a:r>
              <a:rPr sz="850" b="1" i="0">
                <a:solidFill>
                  <a:srgbClr val="1A1A1A"/>
                </a:solidFill>
                <a:latin typeface="Montserrat"/>
              </a:rPr>
              <a:t>Automated Financial</a:t>
            </a:r>
          </a:p>
          <a:p>
            <a:pPr algn="ctr"/>
            <a:r>
              <a:rPr sz="850" b="1" i="0">
                <a:solidFill>
                  <a:srgbClr val="1A1A1A"/>
                </a:solidFill>
                <a:latin typeface="Montserrat"/>
              </a:rPr>
              <a:t>Trading System</a:t>
            </a:r>
          </a:p>
        </p:txBody>
      </p:sp>
      <p:sp>
        <p:nvSpPr>
          <p:cNvPr id="6" name="Rectangle 5"/>
          <p:cNvSpPr/>
          <p:nvPr/>
        </p:nvSpPr>
        <p:spPr>
          <a:xfrm>
            <a:off x="566928" y="1188720"/>
            <a:ext cx="1691640" cy="65836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Market Data</a:t>
            </a:r>
          </a:p>
          <a:p>
            <a:pPr algn="ctr"/>
            <a:r>
              <a:rPr sz="800" b="0" i="0">
                <a:solidFill>
                  <a:srgbClr val="1A1A1A"/>
                </a:solidFill>
                <a:latin typeface="Montserrat"/>
              </a:rPr>
              <a:t>Provider</a:t>
            </a:r>
          </a:p>
          <a:p>
            <a:pPr algn="ctr"/>
            <a:r>
              <a:rPr sz="800" b="0" i="0">
                <a:solidFill>
                  <a:srgbClr val="1A1A1A"/>
                </a:solidFill>
                <a:latin typeface="Montserrat"/>
              </a:rPr>
              <a:t>(Yahoo Finance / CME)</a:t>
            </a:r>
          </a:p>
        </p:txBody>
      </p:sp>
      <p:sp>
        <p:nvSpPr>
          <p:cNvPr id="7" name="Rectangle 6"/>
          <p:cNvSpPr/>
          <p:nvPr/>
        </p:nvSpPr>
        <p:spPr>
          <a:xfrm>
            <a:off x="566928" y="3063240"/>
            <a:ext cx="1691640" cy="65836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Trader</a:t>
            </a:r>
          </a:p>
          <a:p>
            <a:pPr algn="ctr"/>
            <a:r>
              <a:rPr sz="800" b="0" i="0">
                <a:solidFill>
                  <a:srgbClr val="1A1A1A"/>
                </a:solidFill>
                <a:latin typeface="Montserrat"/>
              </a:rPr>
              <a:t>(User)</a:t>
            </a:r>
          </a:p>
        </p:txBody>
      </p:sp>
      <p:sp>
        <p:nvSpPr>
          <p:cNvPr id="8" name="Rectangle 7"/>
          <p:cNvSpPr/>
          <p:nvPr/>
        </p:nvSpPr>
        <p:spPr>
          <a:xfrm>
            <a:off x="6903720" y="1188720"/>
            <a:ext cx="1691640" cy="65836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Broker</a:t>
            </a:r>
          </a:p>
          <a:p>
            <a:pPr algn="ctr"/>
            <a:r>
              <a:rPr sz="800" b="0" i="0">
                <a:solidFill>
                  <a:srgbClr val="1A1A1A"/>
                </a:solidFill>
                <a:latin typeface="Montserrat"/>
              </a:rPr>
              <a:t>(MetaTrader 5)</a:t>
            </a:r>
          </a:p>
        </p:txBody>
      </p:sp>
      <p:sp>
        <p:nvSpPr>
          <p:cNvPr id="9" name="Rectangle 8"/>
          <p:cNvSpPr/>
          <p:nvPr/>
        </p:nvSpPr>
        <p:spPr>
          <a:xfrm>
            <a:off x="6903720" y="3063240"/>
            <a:ext cx="1691640" cy="65836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Model &amp;</a:t>
            </a:r>
          </a:p>
          <a:p>
            <a:pPr algn="ctr"/>
            <a:r>
              <a:rPr sz="800" b="0" i="0">
                <a:solidFill>
                  <a:srgbClr val="1A1A1A"/>
                </a:solidFill>
                <a:latin typeface="Montserrat"/>
              </a:rPr>
              <a:t>Log Store</a:t>
            </a:r>
          </a:p>
        </p:txBody>
      </p:sp>
      <p:cxnSp>
        <p:nvCxnSpPr>
          <p:cNvPr id="10" name="Connector 9"/>
          <p:cNvCxnSpPr/>
          <p:nvPr/>
        </p:nvCxnSpPr>
        <p:spPr>
          <a:xfrm>
            <a:off x="2258568" y="1517904"/>
            <a:ext cx="1965960" cy="950976"/>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48840" y="1783080"/>
            <a:ext cx="1463040" cy="182880"/>
          </a:xfrm>
          <a:prstGeom prst="rect">
            <a:avLst/>
          </a:prstGeom>
          <a:noFill/>
        </p:spPr>
        <p:txBody>
          <a:bodyPr wrap="square" lIns="0" rIns="0" tIns="0" bIns="0" anchor="t">
            <a:spAutoFit/>
          </a:bodyPr>
          <a:lstStyle/>
          <a:p>
            <a:pPr algn="ctr"/>
            <a:r>
              <a:rPr sz="750" b="0" i="0">
                <a:solidFill>
                  <a:srgbClr val="333333"/>
                </a:solidFill>
                <a:latin typeface="Montserrat"/>
              </a:rPr>
              <a:t>OHLCV + volume</a:t>
            </a:r>
          </a:p>
        </p:txBody>
      </p:sp>
      <p:cxnSp>
        <p:nvCxnSpPr>
          <p:cNvPr id="12" name="Connector 11"/>
          <p:cNvCxnSpPr/>
          <p:nvPr/>
        </p:nvCxnSpPr>
        <p:spPr>
          <a:xfrm flipV="1">
            <a:off x="2258568" y="2880360"/>
            <a:ext cx="1965960" cy="429768"/>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148840" y="3364992"/>
            <a:ext cx="1463040" cy="182880"/>
          </a:xfrm>
          <a:prstGeom prst="rect">
            <a:avLst/>
          </a:prstGeom>
          <a:noFill/>
        </p:spPr>
        <p:txBody>
          <a:bodyPr wrap="square" lIns="0" rIns="0" tIns="0" bIns="0" anchor="t">
            <a:spAutoFit/>
          </a:bodyPr>
          <a:lstStyle/>
          <a:p>
            <a:pPr algn="ctr"/>
            <a:r>
              <a:rPr sz="750" b="0" i="0">
                <a:solidFill>
                  <a:srgbClr val="333333"/>
                </a:solidFill>
                <a:latin typeface="Montserrat"/>
              </a:rPr>
              <a:t>configuration / parameters</a:t>
            </a:r>
          </a:p>
        </p:txBody>
      </p:sp>
      <p:cxnSp>
        <p:nvCxnSpPr>
          <p:cNvPr id="14" name="Connector 13"/>
          <p:cNvCxnSpPr/>
          <p:nvPr/>
        </p:nvCxnSpPr>
        <p:spPr>
          <a:xfrm flipV="1">
            <a:off x="5961888" y="1517904"/>
            <a:ext cx="941832" cy="950976"/>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89320" y="1783080"/>
            <a:ext cx="1463040" cy="182880"/>
          </a:xfrm>
          <a:prstGeom prst="rect">
            <a:avLst/>
          </a:prstGeom>
          <a:noFill/>
        </p:spPr>
        <p:txBody>
          <a:bodyPr wrap="square" lIns="0" rIns="0" tIns="0" bIns="0" anchor="t">
            <a:spAutoFit/>
          </a:bodyPr>
          <a:lstStyle/>
          <a:p>
            <a:pPr algn="ctr"/>
            <a:r>
              <a:rPr sz="750" b="0" i="0">
                <a:solidFill>
                  <a:srgbClr val="333333"/>
                </a:solidFill>
                <a:latin typeface="Montserrat"/>
              </a:rPr>
              <a:t>order (side, size, SL, TP)</a:t>
            </a:r>
          </a:p>
        </p:txBody>
      </p:sp>
      <p:cxnSp>
        <p:nvCxnSpPr>
          <p:cNvPr id="16" name="Connector 15"/>
          <p:cNvCxnSpPr/>
          <p:nvPr/>
        </p:nvCxnSpPr>
        <p:spPr>
          <a:xfrm flipH="1">
            <a:off x="5961888" y="1737360"/>
            <a:ext cx="941832" cy="91440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53328" y="2212848"/>
            <a:ext cx="1463040" cy="182880"/>
          </a:xfrm>
          <a:prstGeom prst="rect">
            <a:avLst/>
          </a:prstGeom>
          <a:noFill/>
        </p:spPr>
        <p:txBody>
          <a:bodyPr wrap="square" lIns="0" rIns="0" tIns="0" bIns="0" anchor="t">
            <a:spAutoFit/>
          </a:bodyPr>
          <a:lstStyle/>
          <a:p>
            <a:pPr algn="ctr"/>
            <a:r>
              <a:rPr sz="750" b="0" i="0">
                <a:solidFill>
                  <a:srgbClr val="333333"/>
                </a:solidFill>
                <a:latin typeface="Montserrat"/>
              </a:rPr>
              <a:t>fill confirmation</a:t>
            </a:r>
          </a:p>
        </p:txBody>
      </p:sp>
      <p:cxnSp>
        <p:nvCxnSpPr>
          <p:cNvPr id="18" name="Connector 17"/>
          <p:cNvCxnSpPr/>
          <p:nvPr/>
        </p:nvCxnSpPr>
        <p:spPr>
          <a:xfrm>
            <a:off x="5961888" y="2880360"/>
            <a:ext cx="941832" cy="429768"/>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35040" y="3383280"/>
            <a:ext cx="1463040" cy="182880"/>
          </a:xfrm>
          <a:prstGeom prst="rect">
            <a:avLst/>
          </a:prstGeom>
          <a:noFill/>
        </p:spPr>
        <p:txBody>
          <a:bodyPr wrap="square" lIns="0" rIns="0" tIns="0" bIns="0" anchor="t">
            <a:spAutoFit/>
          </a:bodyPr>
          <a:lstStyle/>
          <a:p>
            <a:pPr algn="ctr"/>
            <a:r>
              <a:rPr sz="750" b="0" i="0">
                <a:solidFill>
                  <a:srgbClr val="333333"/>
                </a:solidFill>
                <a:latin typeface="Montserrat"/>
              </a:rPr>
              <a:t>trained model, decision log</a:t>
            </a:r>
          </a:p>
        </p:txBody>
      </p:sp>
      <p:cxnSp>
        <p:nvCxnSpPr>
          <p:cNvPr id="20" name="Connector 19"/>
          <p:cNvCxnSpPr/>
          <p:nvPr/>
        </p:nvCxnSpPr>
        <p:spPr>
          <a:xfrm flipH="1">
            <a:off x="2258568" y="2697480"/>
            <a:ext cx="1965960" cy="91440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103120" y="3017520"/>
            <a:ext cx="1463040" cy="182880"/>
          </a:xfrm>
          <a:prstGeom prst="rect">
            <a:avLst/>
          </a:prstGeom>
          <a:noFill/>
        </p:spPr>
        <p:txBody>
          <a:bodyPr wrap="square" lIns="0" rIns="0" tIns="0" bIns="0" anchor="t">
            <a:spAutoFit/>
          </a:bodyPr>
          <a:lstStyle/>
          <a:p>
            <a:pPr algn="ctr"/>
            <a:r>
              <a:rPr sz="750" b="0" i="0">
                <a:solidFill>
                  <a:srgbClr val="333333"/>
                </a:solidFill>
                <a:latin typeface="Montserrat"/>
              </a:rPr>
              <a:t>signals, metrics, dashboard</a:t>
            </a:r>
          </a:p>
        </p:txBody>
      </p:sp>
      <p:sp>
        <p:nvSpPr>
          <p:cNvPr id="22" name="TextBox 21"/>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1: Context Diagram (Level-0 Data Flow Diagram) of the Automated Financial Trading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Design Specification — System Architecture</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14</a:t>
            </a:r>
          </a:p>
        </p:txBody>
      </p:sp>
      <p:sp>
        <p:nvSpPr>
          <p:cNvPr id="5" name="Rectangle 4"/>
          <p:cNvSpPr/>
          <p:nvPr/>
        </p:nvSpPr>
        <p:spPr>
          <a:xfrm>
            <a:off x="502920" y="1042416"/>
            <a:ext cx="749808" cy="713232"/>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Layer 1</a:t>
            </a:r>
          </a:p>
        </p:txBody>
      </p:sp>
      <p:sp>
        <p:nvSpPr>
          <p:cNvPr id="6" name="Rectangle 5"/>
          <p:cNvSpPr/>
          <p:nvPr/>
        </p:nvSpPr>
        <p:spPr>
          <a:xfrm>
            <a:off x="1325880" y="1042416"/>
            <a:ext cx="6492240" cy="713232"/>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7" name="TextBox 6"/>
          <p:cNvSpPr txBox="1"/>
          <p:nvPr/>
        </p:nvSpPr>
        <p:spPr>
          <a:xfrm>
            <a:off x="1417320" y="1088136"/>
            <a:ext cx="1828800" cy="182880"/>
          </a:xfrm>
          <a:prstGeom prst="rect">
            <a:avLst/>
          </a:prstGeom>
          <a:noFill/>
        </p:spPr>
        <p:txBody>
          <a:bodyPr wrap="square" lIns="0" rIns="0" tIns="0" bIns="0" anchor="t">
            <a:spAutoFit/>
          </a:bodyPr>
          <a:lstStyle/>
          <a:p>
            <a:pPr algn="l"/>
            <a:r>
              <a:rPr sz="850" b="1" i="0">
                <a:solidFill>
                  <a:srgbClr val="1F3A5F"/>
                </a:solidFill>
                <a:latin typeface="Montserrat"/>
              </a:rPr>
              <a:t>Presentation Layer</a:t>
            </a:r>
          </a:p>
        </p:txBody>
      </p:sp>
      <p:sp>
        <p:nvSpPr>
          <p:cNvPr id="8" name="Rounded Rectangle 7"/>
          <p:cNvSpPr/>
          <p:nvPr/>
        </p:nvSpPr>
        <p:spPr>
          <a:xfrm>
            <a:off x="1435608" y="1307592"/>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Streamlit Dashboard</a:t>
            </a:r>
          </a:p>
        </p:txBody>
      </p:sp>
      <p:sp>
        <p:nvSpPr>
          <p:cNvPr id="9" name="Rounded Rectangle 8"/>
          <p:cNvSpPr/>
          <p:nvPr/>
        </p:nvSpPr>
        <p:spPr>
          <a:xfrm>
            <a:off x="3474719" y="1307592"/>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Backtest Mode</a:t>
            </a:r>
          </a:p>
        </p:txBody>
      </p:sp>
      <p:sp>
        <p:nvSpPr>
          <p:cNvPr id="10" name="Rounded Rectangle 9"/>
          <p:cNvSpPr/>
          <p:nvPr/>
        </p:nvSpPr>
        <p:spPr>
          <a:xfrm>
            <a:off x="5513830" y="1307592"/>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Live Mode</a:t>
            </a:r>
          </a:p>
        </p:txBody>
      </p:sp>
      <p:sp>
        <p:nvSpPr>
          <p:cNvPr id="11" name="Rectangle 10"/>
          <p:cNvSpPr/>
          <p:nvPr/>
        </p:nvSpPr>
        <p:spPr>
          <a:xfrm>
            <a:off x="502920" y="1847088"/>
            <a:ext cx="749808" cy="713232"/>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Layer 2</a:t>
            </a:r>
          </a:p>
        </p:txBody>
      </p:sp>
      <p:sp>
        <p:nvSpPr>
          <p:cNvPr id="12" name="Rectangle 11"/>
          <p:cNvSpPr/>
          <p:nvPr/>
        </p:nvSpPr>
        <p:spPr>
          <a:xfrm>
            <a:off x="1325880" y="1847088"/>
            <a:ext cx="6492240" cy="713232"/>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13" name="TextBox 12"/>
          <p:cNvSpPr txBox="1"/>
          <p:nvPr/>
        </p:nvSpPr>
        <p:spPr>
          <a:xfrm>
            <a:off x="1417320" y="1892808"/>
            <a:ext cx="1828800" cy="182880"/>
          </a:xfrm>
          <a:prstGeom prst="rect">
            <a:avLst/>
          </a:prstGeom>
          <a:noFill/>
        </p:spPr>
        <p:txBody>
          <a:bodyPr wrap="square" lIns="0" rIns="0" tIns="0" bIns="0" anchor="t">
            <a:spAutoFit/>
          </a:bodyPr>
          <a:lstStyle/>
          <a:p>
            <a:pPr algn="l"/>
            <a:r>
              <a:rPr sz="850" b="1" i="0">
                <a:solidFill>
                  <a:srgbClr val="1F3A5F"/>
                </a:solidFill>
                <a:latin typeface="Montserrat"/>
              </a:rPr>
              <a:t>Application Layer</a:t>
            </a:r>
          </a:p>
        </p:txBody>
      </p:sp>
      <p:sp>
        <p:nvSpPr>
          <p:cNvPr id="14" name="Rounded Rectangle 13"/>
          <p:cNvSpPr/>
          <p:nvPr/>
        </p:nvSpPr>
        <p:spPr>
          <a:xfrm>
            <a:off x="1435608" y="2112264"/>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Signal Generator</a:t>
            </a:r>
          </a:p>
        </p:txBody>
      </p:sp>
      <p:sp>
        <p:nvSpPr>
          <p:cNvPr id="15" name="Rounded Rectangle 14"/>
          <p:cNvSpPr/>
          <p:nvPr/>
        </p:nvSpPr>
        <p:spPr>
          <a:xfrm>
            <a:off x="3474719" y="2112264"/>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Risk Manager</a:t>
            </a:r>
          </a:p>
        </p:txBody>
      </p:sp>
      <p:sp>
        <p:nvSpPr>
          <p:cNvPr id="16" name="Rounded Rectangle 15"/>
          <p:cNvSpPr/>
          <p:nvPr/>
        </p:nvSpPr>
        <p:spPr>
          <a:xfrm>
            <a:off x="5513830" y="2112264"/>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Backtester</a:t>
            </a:r>
          </a:p>
        </p:txBody>
      </p:sp>
      <p:sp>
        <p:nvSpPr>
          <p:cNvPr id="17" name="Rectangle 16"/>
          <p:cNvSpPr/>
          <p:nvPr/>
        </p:nvSpPr>
        <p:spPr>
          <a:xfrm>
            <a:off x="502920" y="2651760"/>
            <a:ext cx="749808" cy="713232"/>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Layer 3</a:t>
            </a:r>
          </a:p>
        </p:txBody>
      </p:sp>
      <p:sp>
        <p:nvSpPr>
          <p:cNvPr id="18" name="Rectangle 17"/>
          <p:cNvSpPr/>
          <p:nvPr/>
        </p:nvSpPr>
        <p:spPr>
          <a:xfrm>
            <a:off x="1325880" y="2651760"/>
            <a:ext cx="6492240" cy="713232"/>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19" name="TextBox 18"/>
          <p:cNvSpPr txBox="1"/>
          <p:nvPr/>
        </p:nvSpPr>
        <p:spPr>
          <a:xfrm>
            <a:off x="1417320" y="2697480"/>
            <a:ext cx="1828800" cy="182880"/>
          </a:xfrm>
          <a:prstGeom prst="rect">
            <a:avLst/>
          </a:prstGeom>
          <a:noFill/>
        </p:spPr>
        <p:txBody>
          <a:bodyPr wrap="square" lIns="0" rIns="0" tIns="0" bIns="0" anchor="t">
            <a:spAutoFit/>
          </a:bodyPr>
          <a:lstStyle/>
          <a:p>
            <a:pPr algn="l"/>
            <a:r>
              <a:rPr sz="850" b="1" i="0">
                <a:solidFill>
                  <a:srgbClr val="1F3A5F"/>
                </a:solidFill>
                <a:latin typeface="Montserrat"/>
              </a:rPr>
              <a:t>Domain / Model Layer</a:t>
            </a:r>
          </a:p>
        </p:txBody>
      </p:sp>
      <p:sp>
        <p:nvSpPr>
          <p:cNvPr id="20" name="Rounded Rectangle 19"/>
          <p:cNvSpPr/>
          <p:nvPr/>
        </p:nvSpPr>
        <p:spPr>
          <a:xfrm>
            <a:off x="1435608" y="2916936"/>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Preprocessor</a:t>
            </a:r>
          </a:p>
        </p:txBody>
      </p:sp>
      <p:sp>
        <p:nvSpPr>
          <p:cNvPr id="21" name="Rounded Rectangle 20"/>
          <p:cNvSpPr/>
          <p:nvPr/>
        </p:nvSpPr>
        <p:spPr>
          <a:xfrm>
            <a:off x="3474719" y="2916936"/>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Random Forest Model</a:t>
            </a:r>
          </a:p>
        </p:txBody>
      </p:sp>
      <p:sp>
        <p:nvSpPr>
          <p:cNvPr id="22" name="Rounded Rectangle 21"/>
          <p:cNvSpPr/>
          <p:nvPr/>
        </p:nvSpPr>
        <p:spPr>
          <a:xfrm>
            <a:off x="5513830" y="2916936"/>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Labeller</a:t>
            </a:r>
          </a:p>
        </p:txBody>
      </p:sp>
      <p:sp>
        <p:nvSpPr>
          <p:cNvPr id="23" name="Rectangle 22"/>
          <p:cNvSpPr/>
          <p:nvPr/>
        </p:nvSpPr>
        <p:spPr>
          <a:xfrm>
            <a:off x="502920" y="3456432"/>
            <a:ext cx="749808" cy="713232"/>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Layer 4</a:t>
            </a:r>
          </a:p>
        </p:txBody>
      </p:sp>
      <p:sp>
        <p:nvSpPr>
          <p:cNvPr id="24" name="Rectangle 23"/>
          <p:cNvSpPr/>
          <p:nvPr/>
        </p:nvSpPr>
        <p:spPr>
          <a:xfrm>
            <a:off x="1325880" y="3456432"/>
            <a:ext cx="6492240" cy="713232"/>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25" name="TextBox 24"/>
          <p:cNvSpPr txBox="1"/>
          <p:nvPr/>
        </p:nvSpPr>
        <p:spPr>
          <a:xfrm>
            <a:off x="1417320" y="3502152"/>
            <a:ext cx="1828800" cy="182880"/>
          </a:xfrm>
          <a:prstGeom prst="rect">
            <a:avLst/>
          </a:prstGeom>
          <a:noFill/>
        </p:spPr>
        <p:txBody>
          <a:bodyPr wrap="square" lIns="0" rIns="0" tIns="0" bIns="0" anchor="t">
            <a:spAutoFit/>
          </a:bodyPr>
          <a:lstStyle/>
          <a:p>
            <a:pPr algn="l"/>
            <a:r>
              <a:rPr sz="850" b="1" i="0">
                <a:solidFill>
                  <a:srgbClr val="1F3A5F"/>
                </a:solidFill>
                <a:latin typeface="Montserrat"/>
              </a:rPr>
              <a:t>Infrastructure Layer</a:t>
            </a:r>
          </a:p>
        </p:txBody>
      </p:sp>
      <p:sp>
        <p:nvSpPr>
          <p:cNvPr id="26" name="Rounded Rectangle 25"/>
          <p:cNvSpPr/>
          <p:nvPr/>
        </p:nvSpPr>
        <p:spPr>
          <a:xfrm>
            <a:off x="1435608" y="3721608"/>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Data Handler</a:t>
            </a:r>
          </a:p>
        </p:txBody>
      </p:sp>
      <p:sp>
        <p:nvSpPr>
          <p:cNvPr id="27" name="Rounded Rectangle 26"/>
          <p:cNvSpPr/>
          <p:nvPr/>
        </p:nvSpPr>
        <p:spPr>
          <a:xfrm>
            <a:off x="3474719" y="3721608"/>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Execution Handler</a:t>
            </a:r>
          </a:p>
        </p:txBody>
      </p:sp>
      <p:sp>
        <p:nvSpPr>
          <p:cNvPr id="28" name="Rounded Rectangle 27"/>
          <p:cNvSpPr/>
          <p:nvPr/>
        </p:nvSpPr>
        <p:spPr>
          <a:xfrm>
            <a:off x="5513830" y="3721608"/>
            <a:ext cx="1874519" cy="347472"/>
          </a:xfrm>
          <a:prstGeom prst="roundRect">
            <a:avLst/>
          </a:prstGeom>
          <a:solidFill>
            <a:srgbClr val="F7F9FB"/>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Persistence</a:t>
            </a:r>
          </a:p>
        </p:txBody>
      </p:sp>
      <p:sp>
        <p:nvSpPr>
          <p:cNvPr id="29" name="Rectangle 28"/>
          <p:cNvSpPr/>
          <p:nvPr/>
        </p:nvSpPr>
        <p:spPr>
          <a:xfrm>
            <a:off x="7973568" y="1042416"/>
            <a:ext cx="658368" cy="3127248"/>
          </a:xfrm>
          <a:prstGeom prst="rect">
            <a:avLst/>
          </a:prstGeom>
          <a:solidFill>
            <a:srgbClr val="D8E2E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C</a:t>
            </a:r>
          </a:p>
          <a:p>
            <a:pPr algn="ctr"/>
            <a:r>
              <a:rPr sz="750" b="0" i="0">
                <a:solidFill>
                  <a:srgbClr val="1A1A1A"/>
                </a:solidFill>
                <a:latin typeface="Montserrat"/>
              </a:rPr>
              <a:t>o</a:t>
            </a:r>
          </a:p>
          <a:p>
            <a:pPr algn="ctr"/>
            <a:r>
              <a:rPr sz="750" b="0" i="0">
                <a:solidFill>
                  <a:srgbClr val="1A1A1A"/>
                </a:solidFill>
                <a:latin typeface="Montserrat"/>
              </a:rPr>
              <a:t>n</a:t>
            </a:r>
          </a:p>
          <a:p>
            <a:pPr algn="ctr"/>
            <a:r>
              <a:rPr sz="750" b="0" i="0">
                <a:solidFill>
                  <a:srgbClr val="1A1A1A"/>
                </a:solidFill>
                <a:latin typeface="Montserrat"/>
              </a:rPr>
              <a:t>f</a:t>
            </a:r>
          </a:p>
          <a:p>
            <a:pPr algn="ctr"/>
            <a:r>
              <a:rPr sz="750" b="0" i="0">
                <a:solidFill>
                  <a:srgbClr val="1A1A1A"/>
                </a:solidFill>
                <a:latin typeface="Montserrat"/>
              </a:rPr>
              <a:t>i</a:t>
            </a:r>
          </a:p>
          <a:p>
            <a:pPr algn="ctr"/>
            <a:r>
              <a:rPr sz="750" b="0" i="0">
                <a:solidFill>
                  <a:srgbClr val="1A1A1A"/>
                </a:solidFill>
                <a:latin typeface="Montserrat"/>
              </a:rPr>
              <a:t>g</a:t>
            </a:r>
          </a:p>
        </p:txBody>
      </p:sp>
      <p:sp>
        <p:nvSpPr>
          <p:cNvPr id="30" name="TextBox 29"/>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2: Four-layer System Architecture. Each layer depends only on the layer beneath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Design Specification — Block Diagram</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15</a:t>
            </a:r>
          </a:p>
        </p:txBody>
      </p:sp>
      <p:sp>
        <p:nvSpPr>
          <p:cNvPr id="5" name="Rounded Rectangle 4"/>
          <p:cNvSpPr/>
          <p:nvPr/>
        </p:nvSpPr>
        <p:spPr>
          <a:xfrm>
            <a:off x="384048" y="1417320"/>
            <a:ext cx="1216152" cy="74980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Data</a:t>
            </a:r>
          </a:p>
          <a:p>
            <a:pPr algn="ctr"/>
            <a:r>
              <a:rPr sz="850" b="1" i="0">
                <a:solidFill>
                  <a:srgbClr val="1A1A1A"/>
                </a:solidFill>
                <a:latin typeface="Montserrat"/>
              </a:rPr>
              <a:t>Handler</a:t>
            </a:r>
          </a:p>
        </p:txBody>
      </p:sp>
      <p:sp>
        <p:nvSpPr>
          <p:cNvPr id="6" name="Rounded Rectangle 5"/>
          <p:cNvSpPr/>
          <p:nvPr/>
        </p:nvSpPr>
        <p:spPr>
          <a:xfrm>
            <a:off x="1773936" y="1417320"/>
            <a:ext cx="1216152" cy="74980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Pre-</a:t>
            </a:r>
          </a:p>
          <a:p>
            <a:pPr algn="ctr"/>
            <a:r>
              <a:rPr sz="850" b="1" i="0">
                <a:solidFill>
                  <a:srgbClr val="1A1A1A"/>
                </a:solidFill>
                <a:latin typeface="Montserrat"/>
              </a:rPr>
              <a:t>processor</a:t>
            </a:r>
          </a:p>
        </p:txBody>
      </p:sp>
      <p:cxnSp>
        <p:nvCxnSpPr>
          <p:cNvPr id="7" name="Connector 6"/>
          <p:cNvCxnSpPr/>
          <p:nvPr/>
        </p:nvCxnSpPr>
        <p:spPr>
          <a:xfrm>
            <a:off x="1600200" y="1792224"/>
            <a:ext cx="155448"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63824" y="1417320"/>
            <a:ext cx="1216152" cy="74980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Random</a:t>
            </a:r>
          </a:p>
          <a:p>
            <a:pPr algn="ctr"/>
            <a:r>
              <a:rPr sz="850" b="1" i="0">
                <a:solidFill>
                  <a:srgbClr val="1A1A1A"/>
                </a:solidFill>
                <a:latin typeface="Montserrat"/>
              </a:rPr>
              <a:t>Forest</a:t>
            </a:r>
          </a:p>
        </p:txBody>
      </p:sp>
      <p:cxnSp>
        <p:nvCxnSpPr>
          <p:cNvPr id="9" name="Connector 8"/>
          <p:cNvCxnSpPr/>
          <p:nvPr/>
        </p:nvCxnSpPr>
        <p:spPr>
          <a:xfrm>
            <a:off x="2990088" y="1792224"/>
            <a:ext cx="155448"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53712" y="1417320"/>
            <a:ext cx="1216152" cy="74980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Signal</a:t>
            </a:r>
          </a:p>
          <a:p>
            <a:pPr algn="ctr"/>
            <a:r>
              <a:rPr sz="850" b="1" i="0">
                <a:solidFill>
                  <a:srgbClr val="1A1A1A"/>
                </a:solidFill>
                <a:latin typeface="Montserrat"/>
              </a:rPr>
              <a:t>Generator</a:t>
            </a:r>
          </a:p>
        </p:txBody>
      </p:sp>
      <p:cxnSp>
        <p:nvCxnSpPr>
          <p:cNvPr id="11" name="Connector 10"/>
          <p:cNvCxnSpPr/>
          <p:nvPr/>
        </p:nvCxnSpPr>
        <p:spPr>
          <a:xfrm>
            <a:off x="4379976" y="1792224"/>
            <a:ext cx="155448"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43600" y="1417320"/>
            <a:ext cx="1216152" cy="74980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Risk</a:t>
            </a:r>
          </a:p>
          <a:p>
            <a:pPr algn="ctr"/>
            <a:r>
              <a:rPr sz="850" b="1" i="0">
                <a:solidFill>
                  <a:srgbClr val="1A1A1A"/>
                </a:solidFill>
                <a:latin typeface="Montserrat"/>
              </a:rPr>
              <a:t>Manager</a:t>
            </a:r>
          </a:p>
        </p:txBody>
      </p:sp>
      <p:cxnSp>
        <p:nvCxnSpPr>
          <p:cNvPr id="13" name="Connector 12"/>
          <p:cNvCxnSpPr/>
          <p:nvPr/>
        </p:nvCxnSpPr>
        <p:spPr>
          <a:xfrm>
            <a:off x="5769864" y="1792224"/>
            <a:ext cx="155448"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33488" y="1417320"/>
            <a:ext cx="1216152" cy="74980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Execution</a:t>
            </a:r>
          </a:p>
          <a:p>
            <a:pPr algn="ctr"/>
            <a:r>
              <a:rPr sz="850" b="1" i="0">
                <a:solidFill>
                  <a:srgbClr val="1A1A1A"/>
                </a:solidFill>
                <a:latin typeface="Montserrat"/>
              </a:rPr>
              <a:t>Handler</a:t>
            </a:r>
          </a:p>
        </p:txBody>
      </p:sp>
      <p:cxnSp>
        <p:nvCxnSpPr>
          <p:cNvPr id="15" name="Connector 14"/>
          <p:cNvCxnSpPr/>
          <p:nvPr/>
        </p:nvCxnSpPr>
        <p:spPr>
          <a:xfrm>
            <a:off x="7159752" y="1792224"/>
            <a:ext cx="155448"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84048" y="2240280"/>
            <a:ext cx="1216152" cy="457200"/>
          </a:xfrm>
          <a:prstGeom prst="rect">
            <a:avLst/>
          </a:prstGeom>
          <a:noFill/>
        </p:spPr>
        <p:txBody>
          <a:bodyPr wrap="square" lIns="0" rIns="0" tIns="0" bIns="0" anchor="t">
            <a:spAutoFit/>
          </a:bodyPr>
          <a:lstStyle/>
          <a:p>
            <a:pPr algn="ctr"/>
            <a:r>
              <a:rPr sz="700" b="0" i="0">
                <a:solidFill>
                  <a:srgbClr val="555555"/>
                </a:solidFill>
                <a:latin typeface="Montserrat"/>
              </a:rPr>
              <a:t>fetch,
clean, cache</a:t>
            </a:r>
          </a:p>
        </p:txBody>
      </p:sp>
      <p:sp>
        <p:nvSpPr>
          <p:cNvPr id="17" name="TextBox 16"/>
          <p:cNvSpPr txBox="1"/>
          <p:nvPr/>
        </p:nvSpPr>
        <p:spPr>
          <a:xfrm>
            <a:off x="1773936" y="2240280"/>
            <a:ext cx="1216152" cy="457200"/>
          </a:xfrm>
          <a:prstGeom prst="rect">
            <a:avLst/>
          </a:prstGeom>
          <a:noFill/>
        </p:spPr>
        <p:txBody>
          <a:bodyPr wrap="square" lIns="0" rIns="0" tIns="0" bIns="0" anchor="t">
            <a:spAutoFit/>
          </a:bodyPr>
          <a:lstStyle/>
          <a:p>
            <a:pPr algn="ctr"/>
            <a:r>
              <a:rPr sz="700" b="0" i="0">
                <a:solidFill>
                  <a:srgbClr val="555555"/>
                </a:solidFill>
                <a:latin typeface="Montserrat"/>
              </a:rPr>
              <a:t>Z-scores,
indicators</a:t>
            </a:r>
          </a:p>
        </p:txBody>
      </p:sp>
      <p:sp>
        <p:nvSpPr>
          <p:cNvPr id="18" name="TextBox 17"/>
          <p:cNvSpPr txBox="1"/>
          <p:nvPr/>
        </p:nvSpPr>
        <p:spPr>
          <a:xfrm>
            <a:off x="3163824" y="2240280"/>
            <a:ext cx="1216152" cy="457200"/>
          </a:xfrm>
          <a:prstGeom prst="rect">
            <a:avLst/>
          </a:prstGeom>
          <a:noFill/>
        </p:spPr>
        <p:txBody>
          <a:bodyPr wrap="square" lIns="0" rIns="0" tIns="0" bIns="0" anchor="t">
            <a:spAutoFit/>
          </a:bodyPr>
          <a:lstStyle/>
          <a:p>
            <a:pPr algn="ctr"/>
            <a:r>
              <a:rPr sz="700" b="0" i="0">
                <a:solidFill>
                  <a:srgbClr val="555555"/>
                </a:solidFill>
                <a:latin typeface="Montserrat"/>
              </a:rPr>
              <a:t>P(bullish)</a:t>
            </a:r>
          </a:p>
        </p:txBody>
      </p:sp>
      <p:sp>
        <p:nvSpPr>
          <p:cNvPr id="19" name="TextBox 18"/>
          <p:cNvSpPr txBox="1"/>
          <p:nvPr/>
        </p:nvSpPr>
        <p:spPr>
          <a:xfrm>
            <a:off x="4553712" y="2240280"/>
            <a:ext cx="1216152" cy="457200"/>
          </a:xfrm>
          <a:prstGeom prst="rect">
            <a:avLst/>
          </a:prstGeom>
          <a:noFill/>
        </p:spPr>
        <p:txBody>
          <a:bodyPr wrap="square" lIns="0" rIns="0" tIns="0" bIns="0" anchor="t">
            <a:spAutoFit/>
          </a:bodyPr>
          <a:lstStyle/>
          <a:p>
            <a:pPr algn="ctr"/>
            <a:r>
              <a:rPr sz="700" b="0" i="0">
                <a:solidFill>
                  <a:srgbClr val="555555"/>
                </a:solidFill>
                <a:latin typeface="Montserrat"/>
              </a:rPr>
              <a:t>AND-gate
BUY/SELL/HOLD</a:t>
            </a:r>
          </a:p>
        </p:txBody>
      </p:sp>
      <p:sp>
        <p:nvSpPr>
          <p:cNvPr id="20" name="TextBox 19"/>
          <p:cNvSpPr txBox="1"/>
          <p:nvPr/>
        </p:nvSpPr>
        <p:spPr>
          <a:xfrm>
            <a:off x="5943600" y="2240280"/>
            <a:ext cx="1216152" cy="457200"/>
          </a:xfrm>
          <a:prstGeom prst="rect">
            <a:avLst/>
          </a:prstGeom>
          <a:noFill/>
        </p:spPr>
        <p:txBody>
          <a:bodyPr wrap="square" lIns="0" rIns="0" tIns="0" bIns="0" anchor="t">
            <a:spAutoFit/>
          </a:bodyPr>
          <a:lstStyle/>
          <a:p>
            <a:pPr algn="ctr"/>
            <a:r>
              <a:rPr sz="700" b="0" i="0">
                <a:solidFill>
                  <a:srgbClr val="555555"/>
                </a:solidFill>
                <a:latin typeface="Montserrat"/>
              </a:rPr>
              <a:t>size, SL/TP,
limits</a:t>
            </a:r>
          </a:p>
        </p:txBody>
      </p:sp>
      <p:sp>
        <p:nvSpPr>
          <p:cNvPr id="21" name="TextBox 20"/>
          <p:cNvSpPr txBox="1"/>
          <p:nvPr/>
        </p:nvSpPr>
        <p:spPr>
          <a:xfrm>
            <a:off x="7333488" y="2240280"/>
            <a:ext cx="1216152" cy="457200"/>
          </a:xfrm>
          <a:prstGeom prst="rect">
            <a:avLst/>
          </a:prstGeom>
          <a:noFill/>
        </p:spPr>
        <p:txBody>
          <a:bodyPr wrap="square" lIns="0" rIns="0" tIns="0" bIns="0" anchor="t">
            <a:spAutoFit/>
          </a:bodyPr>
          <a:lstStyle/>
          <a:p>
            <a:pPr algn="ctr"/>
            <a:r>
              <a:rPr sz="700" b="0" i="0">
                <a:solidFill>
                  <a:srgbClr val="555555"/>
                </a:solidFill>
                <a:latin typeface="Montserrat"/>
              </a:rPr>
              <a:t>mock | MT5 |
RPC</a:t>
            </a:r>
          </a:p>
        </p:txBody>
      </p:sp>
      <p:sp>
        <p:nvSpPr>
          <p:cNvPr id="22" name="Rectangle 21"/>
          <p:cNvSpPr/>
          <p:nvPr/>
        </p:nvSpPr>
        <p:spPr>
          <a:xfrm>
            <a:off x="384048" y="2971800"/>
            <a:ext cx="3200400" cy="457200"/>
          </a:xfrm>
          <a:prstGeom prst="rect">
            <a:avLst/>
          </a:prstGeom>
          <a:solidFill>
            <a:srgbClr val="FAF6EC"/>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Triple-Barrier Labeller</a:t>
            </a:r>
          </a:p>
          <a:p>
            <a:pPr algn="ctr"/>
            <a:r>
              <a:rPr sz="800" b="0" i="0">
                <a:solidFill>
                  <a:srgbClr val="1A1A1A"/>
                </a:solidFill>
                <a:latin typeface="Montserrat"/>
              </a:rPr>
              <a:t>(training target)</a:t>
            </a:r>
          </a:p>
        </p:txBody>
      </p:sp>
      <p:cxnSp>
        <p:nvCxnSpPr>
          <p:cNvPr id="23" name="Connector 22"/>
          <p:cNvCxnSpPr/>
          <p:nvPr/>
        </p:nvCxnSpPr>
        <p:spPr>
          <a:xfrm flipV="1">
            <a:off x="1984248" y="2212848"/>
            <a:ext cx="0" cy="758952"/>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212080" y="2971800"/>
            <a:ext cx="3364992" cy="457200"/>
          </a:xfrm>
          <a:prstGeom prst="rect">
            <a:avLst/>
          </a:prstGeom>
          <a:solidFill>
            <a:srgbClr val="FAF6EC"/>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Backtester  —  replays history, charges spread + slippage</a:t>
            </a:r>
          </a:p>
        </p:txBody>
      </p:sp>
      <p:cxnSp>
        <p:nvCxnSpPr>
          <p:cNvPr id="25" name="Connector 24"/>
          <p:cNvCxnSpPr/>
          <p:nvPr/>
        </p:nvCxnSpPr>
        <p:spPr>
          <a:xfrm flipV="1">
            <a:off x="6894576" y="2212848"/>
            <a:ext cx="0" cy="758952"/>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3: Block Diagram of the processing pipeline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Design Specification — Use Case Diagram</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16</a:t>
            </a:r>
          </a:p>
        </p:txBody>
      </p:sp>
      <p:sp>
        <p:nvSpPr>
          <p:cNvPr id="5" name="Rectangle 4"/>
          <p:cNvSpPr/>
          <p:nvPr/>
        </p:nvSpPr>
        <p:spPr>
          <a:xfrm>
            <a:off x="2148840" y="1024128"/>
            <a:ext cx="4800600" cy="3154680"/>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6" name="TextBox 5"/>
          <p:cNvSpPr txBox="1"/>
          <p:nvPr/>
        </p:nvSpPr>
        <p:spPr>
          <a:xfrm>
            <a:off x="2240280" y="1078992"/>
            <a:ext cx="2743200" cy="182880"/>
          </a:xfrm>
          <a:prstGeom prst="rect">
            <a:avLst/>
          </a:prstGeom>
          <a:noFill/>
        </p:spPr>
        <p:txBody>
          <a:bodyPr wrap="square" lIns="0" rIns="0" tIns="0" bIns="0" anchor="t">
            <a:spAutoFit/>
          </a:bodyPr>
          <a:lstStyle/>
          <a:p>
            <a:pPr algn="l"/>
            <a:r>
              <a:rPr sz="850" b="1" i="0">
                <a:solidFill>
                  <a:srgbClr val="8A8A8A"/>
                </a:solidFill>
                <a:latin typeface="Montserrat"/>
              </a:rPr>
              <a:t>Automated Trading System</a:t>
            </a:r>
          </a:p>
        </p:txBody>
      </p:sp>
      <p:sp>
        <p:nvSpPr>
          <p:cNvPr id="7" name="Oval 6"/>
          <p:cNvSpPr/>
          <p:nvPr/>
        </p:nvSpPr>
        <p:spPr>
          <a:xfrm>
            <a:off x="2395728" y="1325880"/>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Configure</a:t>
            </a:r>
          </a:p>
          <a:p>
            <a:pPr algn="ctr"/>
            <a:r>
              <a:rPr sz="750" b="0" i="0">
                <a:solidFill>
                  <a:srgbClr val="1A1A1A"/>
                </a:solidFill>
                <a:latin typeface="Montserrat"/>
              </a:rPr>
              <a:t>parameters</a:t>
            </a:r>
          </a:p>
        </p:txBody>
      </p:sp>
      <p:sp>
        <p:nvSpPr>
          <p:cNvPr id="8" name="Oval 7"/>
          <p:cNvSpPr/>
          <p:nvPr/>
        </p:nvSpPr>
        <p:spPr>
          <a:xfrm>
            <a:off x="2395728" y="1874519"/>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0" i="0">
                <a:solidFill>
                  <a:srgbClr val="1A1A1A"/>
                </a:solidFill>
                <a:latin typeface="Montserrat"/>
              </a:rPr>
              <a:t>Run backtest</a:t>
            </a:r>
          </a:p>
        </p:txBody>
      </p:sp>
      <p:sp>
        <p:nvSpPr>
          <p:cNvPr id="9" name="Oval 8"/>
          <p:cNvSpPr/>
          <p:nvPr/>
        </p:nvSpPr>
        <p:spPr>
          <a:xfrm>
            <a:off x="2395728" y="2423160"/>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View results</a:t>
            </a:r>
          </a:p>
          <a:p>
            <a:pPr algn="ctr"/>
            <a:r>
              <a:rPr sz="750" b="0" i="0">
                <a:solidFill>
                  <a:srgbClr val="1A1A1A"/>
                </a:solidFill>
                <a:latin typeface="Montserrat"/>
              </a:rPr>
              <a:t>&amp; metrics</a:t>
            </a:r>
          </a:p>
        </p:txBody>
      </p:sp>
      <p:sp>
        <p:nvSpPr>
          <p:cNvPr id="10" name="Oval 9"/>
          <p:cNvSpPr/>
          <p:nvPr/>
        </p:nvSpPr>
        <p:spPr>
          <a:xfrm>
            <a:off x="4663440" y="1325880"/>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0" i="0">
                <a:solidFill>
                  <a:srgbClr val="1A1A1A"/>
                </a:solidFill>
                <a:latin typeface="Montserrat"/>
              </a:rPr>
              <a:t>Train model</a:t>
            </a:r>
          </a:p>
        </p:txBody>
      </p:sp>
      <p:sp>
        <p:nvSpPr>
          <p:cNvPr id="11" name="Oval 10"/>
          <p:cNvSpPr/>
          <p:nvPr/>
        </p:nvSpPr>
        <p:spPr>
          <a:xfrm>
            <a:off x="4663440" y="1874519"/>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Generate</a:t>
            </a:r>
          </a:p>
          <a:p>
            <a:pPr algn="ctr"/>
            <a:r>
              <a:rPr sz="750" b="0" i="0">
                <a:solidFill>
                  <a:srgbClr val="1A1A1A"/>
                </a:solidFill>
                <a:latin typeface="Montserrat"/>
              </a:rPr>
              <a:t>signal</a:t>
            </a:r>
          </a:p>
        </p:txBody>
      </p:sp>
      <p:sp>
        <p:nvSpPr>
          <p:cNvPr id="12" name="Oval 11"/>
          <p:cNvSpPr/>
          <p:nvPr/>
        </p:nvSpPr>
        <p:spPr>
          <a:xfrm>
            <a:off x="4663440" y="2423160"/>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0" i="0">
                <a:solidFill>
                  <a:srgbClr val="1A1A1A"/>
                </a:solidFill>
                <a:latin typeface="Montserrat"/>
              </a:rPr>
              <a:t>Place order</a:t>
            </a:r>
          </a:p>
        </p:txBody>
      </p:sp>
      <p:sp>
        <p:nvSpPr>
          <p:cNvPr id="13" name="Oval 12"/>
          <p:cNvSpPr/>
          <p:nvPr/>
        </p:nvSpPr>
        <p:spPr>
          <a:xfrm>
            <a:off x="2395728" y="2971800"/>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Monitor</a:t>
            </a:r>
          </a:p>
          <a:p>
            <a:pPr algn="ctr"/>
            <a:r>
              <a:rPr sz="750" b="0" i="0">
                <a:solidFill>
                  <a:srgbClr val="1A1A1A"/>
                </a:solidFill>
                <a:latin typeface="Montserrat"/>
              </a:rPr>
              <a:t>positions</a:t>
            </a:r>
          </a:p>
        </p:txBody>
      </p:sp>
      <p:sp>
        <p:nvSpPr>
          <p:cNvPr id="14" name="Oval 13"/>
          <p:cNvSpPr/>
          <p:nvPr/>
        </p:nvSpPr>
        <p:spPr>
          <a:xfrm>
            <a:off x="4663440" y="2971800"/>
            <a:ext cx="1783080" cy="457200"/>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Enforce risk</a:t>
            </a:r>
          </a:p>
          <a:p>
            <a:pPr algn="ctr"/>
            <a:r>
              <a:rPr sz="750" b="0" i="0">
                <a:solidFill>
                  <a:srgbClr val="1A1A1A"/>
                </a:solidFill>
                <a:latin typeface="Montserrat"/>
              </a:rPr>
              <a:t>limits</a:t>
            </a:r>
          </a:p>
        </p:txBody>
      </p:sp>
      <p:sp>
        <p:nvSpPr>
          <p:cNvPr id="15" name="Oval 14"/>
          <p:cNvSpPr/>
          <p:nvPr/>
        </p:nvSpPr>
        <p:spPr>
          <a:xfrm>
            <a:off x="973836" y="1600200"/>
            <a:ext cx="155448" cy="155448"/>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cxnSp>
        <p:nvCxnSpPr>
          <p:cNvPr id="16" name="Connector 15"/>
          <p:cNvCxnSpPr/>
          <p:nvPr/>
        </p:nvCxnSpPr>
        <p:spPr>
          <a:xfrm>
            <a:off x="1051560" y="1755648"/>
            <a:ext cx="0" cy="237744"/>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05256" y="1828800"/>
            <a:ext cx="292608"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923544" y="1993392"/>
            <a:ext cx="128016" cy="201168"/>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1560" y="1993392"/>
            <a:ext cx="128016" cy="201168"/>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11480" y="2231136"/>
            <a:ext cx="1280160" cy="182880"/>
          </a:xfrm>
          <a:prstGeom prst="rect">
            <a:avLst/>
          </a:prstGeom>
          <a:noFill/>
        </p:spPr>
        <p:txBody>
          <a:bodyPr wrap="square" lIns="0" rIns="0" tIns="0" bIns="0" anchor="t">
            <a:spAutoFit/>
          </a:bodyPr>
          <a:lstStyle/>
          <a:p>
            <a:pPr algn="ctr"/>
            <a:r>
              <a:rPr sz="750" b="0" i="0">
                <a:solidFill>
                  <a:srgbClr val="1A1A1A"/>
                </a:solidFill>
                <a:latin typeface="Montserrat"/>
              </a:rPr>
              <a:t>Trader</a:t>
            </a:r>
          </a:p>
        </p:txBody>
      </p:sp>
      <p:sp>
        <p:nvSpPr>
          <p:cNvPr id="21" name="Oval 20"/>
          <p:cNvSpPr/>
          <p:nvPr/>
        </p:nvSpPr>
        <p:spPr>
          <a:xfrm>
            <a:off x="7831836" y="1417320"/>
            <a:ext cx="155448" cy="155448"/>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cxnSp>
        <p:nvCxnSpPr>
          <p:cNvPr id="22" name="Connector 21"/>
          <p:cNvCxnSpPr/>
          <p:nvPr/>
        </p:nvCxnSpPr>
        <p:spPr>
          <a:xfrm>
            <a:off x="7909560" y="1572768"/>
            <a:ext cx="0" cy="237744"/>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63256" y="1645920"/>
            <a:ext cx="292608"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781544" y="1810512"/>
            <a:ext cx="128016" cy="201168"/>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909560" y="1810512"/>
            <a:ext cx="128016" cy="201168"/>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269480" y="2048256"/>
            <a:ext cx="1280160" cy="182880"/>
          </a:xfrm>
          <a:prstGeom prst="rect">
            <a:avLst/>
          </a:prstGeom>
          <a:noFill/>
        </p:spPr>
        <p:txBody>
          <a:bodyPr wrap="square" lIns="0" rIns="0" tIns="0" bIns="0" anchor="t">
            <a:spAutoFit/>
          </a:bodyPr>
          <a:lstStyle/>
          <a:p>
            <a:pPr algn="ctr"/>
            <a:r>
              <a:rPr sz="750" b="0" i="0">
                <a:solidFill>
                  <a:srgbClr val="1A1A1A"/>
                </a:solidFill>
                <a:latin typeface="Montserrat"/>
              </a:rPr>
              <a:t>Broker
(MT5)</a:t>
            </a:r>
          </a:p>
        </p:txBody>
      </p:sp>
      <p:sp>
        <p:nvSpPr>
          <p:cNvPr id="27" name="Oval 26"/>
          <p:cNvSpPr/>
          <p:nvPr/>
        </p:nvSpPr>
        <p:spPr>
          <a:xfrm>
            <a:off x="7831836" y="2788920"/>
            <a:ext cx="155448" cy="155448"/>
          </a:xfrm>
          <a:prstGeom prst="ellips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cxnSp>
        <p:nvCxnSpPr>
          <p:cNvPr id="28" name="Connector 27"/>
          <p:cNvCxnSpPr/>
          <p:nvPr/>
        </p:nvCxnSpPr>
        <p:spPr>
          <a:xfrm>
            <a:off x="7909560" y="2944368"/>
            <a:ext cx="0" cy="237744"/>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63256" y="3017520"/>
            <a:ext cx="292608"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781544" y="3182112"/>
            <a:ext cx="128016" cy="201168"/>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909560" y="3182112"/>
            <a:ext cx="128016" cy="201168"/>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269480" y="3419856"/>
            <a:ext cx="1280160" cy="182880"/>
          </a:xfrm>
          <a:prstGeom prst="rect">
            <a:avLst/>
          </a:prstGeom>
          <a:noFill/>
        </p:spPr>
        <p:txBody>
          <a:bodyPr wrap="square" lIns="0" rIns="0" tIns="0" bIns="0" anchor="t">
            <a:spAutoFit/>
          </a:bodyPr>
          <a:lstStyle/>
          <a:p>
            <a:pPr algn="ctr"/>
            <a:r>
              <a:rPr sz="750" b="0" i="0">
                <a:solidFill>
                  <a:srgbClr val="1A1A1A"/>
                </a:solidFill>
                <a:latin typeface="Montserrat"/>
              </a:rPr>
              <a:t>Market Data
Provider</a:t>
            </a:r>
          </a:p>
        </p:txBody>
      </p:sp>
      <p:cxnSp>
        <p:nvCxnSpPr>
          <p:cNvPr id="33" name="Connector 32"/>
          <p:cNvCxnSpPr/>
          <p:nvPr/>
        </p:nvCxnSpPr>
        <p:spPr>
          <a:xfrm flipV="1">
            <a:off x="1234440" y="1554480"/>
            <a:ext cx="1161288" cy="41148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234440" y="1965960"/>
            <a:ext cx="1161288" cy="137159"/>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234440" y="1965960"/>
            <a:ext cx="1161288" cy="68580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34440" y="1965960"/>
            <a:ext cx="1161288" cy="123444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446520" y="1783080"/>
            <a:ext cx="1280159" cy="86868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4178808" y="1554480"/>
            <a:ext cx="3547871" cy="160020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178808" y="1554480"/>
            <a:ext cx="484632" cy="548639"/>
          </a:xfrm>
          <a:prstGeom prst="line">
            <a:avLst/>
          </a:prstGeom>
          <a:ln w="12700">
            <a:solidFill>
              <a:srgbClr val="1A1A1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913632" y="1645920"/>
            <a:ext cx="914400" cy="182880"/>
          </a:xfrm>
          <a:prstGeom prst="rect">
            <a:avLst/>
          </a:prstGeom>
          <a:noFill/>
        </p:spPr>
        <p:txBody>
          <a:bodyPr wrap="square" lIns="0" rIns="0" tIns="0" bIns="0" anchor="t">
            <a:spAutoFit/>
          </a:bodyPr>
          <a:lstStyle/>
          <a:p>
            <a:pPr algn="ctr"/>
            <a:r>
              <a:rPr sz="700" b="0" i="0">
                <a:solidFill>
                  <a:srgbClr val="333333"/>
                </a:solidFill>
                <a:latin typeface="Montserrat"/>
              </a:rPr>
              <a:t>«include»</a:t>
            </a:r>
          </a:p>
        </p:txBody>
      </p:sp>
      <p:cxnSp>
        <p:nvCxnSpPr>
          <p:cNvPr id="41" name="Connector 40"/>
          <p:cNvCxnSpPr/>
          <p:nvPr/>
        </p:nvCxnSpPr>
        <p:spPr>
          <a:xfrm>
            <a:off x="5550408" y="2331719"/>
            <a:ext cx="0" cy="91441"/>
          </a:xfrm>
          <a:prstGeom prst="line">
            <a:avLst/>
          </a:prstGeom>
          <a:ln w="12700">
            <a:solidFill>
              <a:srgbClr val="1A1A1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532120" y="2340864"/>
            <a:ext cx="914400" cy="182880"/>
          </a:xfrm>
          <a:prstGeom prst="rect">
            <a:avLst/>
          </a:prstGeom>
          <a:noFill/>
        </p:spPr>
        <p:txBody>
          <a:bodyPr wrap="square" lIns="0" rIns="0" tIns="0" bIns="0" anchor="t">
            <a:spAutoFit/>
          </a:bodyPr>
          <a:lstStyle/>
          <a:p>
            <a:pPr algn="ctr"/>
            <a:r>
              <a:rPr sz="700" b="0" i="0">
                <a:solidFill>
                  <a:srgbClr val="333333"/>
                </a:solidFill>
                <a:latin typeface="Montserrat"/>
              </a:rPr>
              <a:t>«include»</a:t>
            </a:r>
          </a:p>
        </p:txBody>
      </p:sp>
      <p:cxnSp>
        <p:nvCxnSpPr>
          <p:cNvPr id="43" name="Connector 42"/>
          <p:cNvCxnSpPr/>
          <p:nvPr/>
        </p:nvCxnSpPr>
        <p:spPr>
          <a:xfrm flipV="1">
            <a:off x="5120640" y="2880360"/>
            <a:ext cx="0" cy="91440"/>
          </a:xfrm>
          <a:prstGeom prst="line">
            <a:avLst/>
          </a:prstGeom>
          <a:ln w="12700">
            <a:solidFill>
              <a:srgbClr val="1A1A1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977639" y="2816352"/>
            <a:ext cx="914400" cy="182880"/>
          </a:xfrm>
          <a:prstGeom prst="rect">
            <a:avLst/>
          </a:prstGeom>
          <a:noFill/>
        </p:spPr>
        <p:txBody>
          <a:bodyPr wrap="square" lIns="0" rIns="0" tIns="0" bIns="0" anchor="t">
            <a:spAutoFit/>
          </a:bodyPr>
          <a:lstStyle/>
          <a:p>
            <a:pPr algn="ctr"/>
            <a:r>
              <a:rPr sz="700" b="0" i="0">
                <a:solidFill>
                  <a:srgbClr val="333333"/>
                </a:solidFill>
                <a:latin typeface="Montserrat"/>
              </a:rPr>
              <a:t>«extend»</a:t>
            </a:r>
          </a:p>
        </p:txBody>
      </p:sp>
      <p:sp>
        <p:nvSpPr>
          <p:cNvPr id="45" name="TextBox 44"/>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4: Use Case Diagram. Solid lines are associations; dashed arrows carry «include» / «extend» stereotypes.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Design Specification — Activity Diagram</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17</a:t>
            </a:r>
          </a:p>
        </p:txBody>
      </p:sp>
      <p:sp>
        <p:nvSpPr>
          <p:cNvPr id="5" name="Oval 4"/>
          <p:cNvSpPr/>
          <p:nvPr/>
        </p:nvSpPr>
        <p:spPr>
          <a:xfrm>
            <a:off x="1792223" y="1005840"/>
            <a:ext cx="164592" cy="164592"/>
          </a:xfrm>
          <a:prstGeom prst="ellipse">
            <a:avLst/>
          </a:prstGeom>
          <a:solidFill>
            <a:srgbClr val="1A1A1A"/>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6" name="Rounded Rectangle 5"/>
          <p:cNvSpPr/>
          <p:nvPr/>
        </p:nvSpPr>
        <p:spPr>
          <a:xfrm>
            <a:off x="685799" y="1261872"/>
            <a:ext cx="2377440" cy="38404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Fetch latest closed candle</a:t>
            </a:r>
          </a:p>
        </p:txBody>
      </p:sp>
      <p:sp>
        <p:nvSpPr>
          <p:cNvPr id="7" name="Rounded Rectangle 6"/>
          <p:cNvSpPr/>
          <p:nvPr/>
        </p:nvSpPr>
        <p:spPr>
          <a:xfrm>
            <a:off x="685799" y="1828800"/>
            <a:ext cx="2377440" cy="38404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Compute Z-scores &amp; features</a:t>
            </a:r>
          </a:p>
        </p:txBody>
      </p:sp>
      <p:sp>
        <p:nvSpPr>
          <p:cNvPr id="8" name="Rounded Rectangle 7"/>
          <p:cNvSpPr/>
          <p:nvPr/>
        </p:nvSpPr>
        <p:spPr>
          <a:xfrm>
            <a:off x="685799" y="2395728"/>
            <a:ext cx="2377440" cy="38404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Predict P(bullish) with Random Forest</a:t>
            </a:r>
          </a:p>
        </p:txBody>
      </p:sp>
      <p:cxnSp>
        <p:nvCxnSpPr>
          <p:cNvPr id="9" name="Connector 8"/>
          <p:cNvCxnSpPr/>
          <p:nvPr/>
        </p:nvCxnSpPr>
        <p:spPr>
          <a:xfrm>
            <a:off x="1874519" y="1170432"/>
            <a:ext cx="0" cy="9144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874519" y="1645920"/>
            <a:ext cx="0" cy="18288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874519" y="2212848"/>
            <a:ext cx="0" cy="18288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1307591" y="2962656"/>
            <a:ext cx="1133856" cy="566928"/>
          </a:xfrm>
          <a:prstGeom prst="diamond">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Volume Z</a:t>
            </a:r>
          </a:p>
          <a:p>
            <a:pPr algn="ctr"/>
            <a:r>
              <a:rPr sz="750" b="0" i="0">
                <a:solidFill>
                  <a:srgbClr val="1A1A1A"/>
                </a:solidFill>
                <a:latin typeface="Montserrat"/>
              </a:rPr>
              <a:t>&gt; 1.5 ?</a:t>
            </a:r>
          </a:p>
        </p:txBody>
      </p:sp>
      <p:cxnSp>
        <p:nvCxnSpPr>
          <p:cNvPr id="13" name="Connector 12"/>
          <p:cNvCxnSpPr/>
          <p:nvPr/>
        </p:nvCxnSpPr>
        <p:spPr>
          <a:xfrm>
            <a:off x="1874519" y="2779776"/>
            <a:ext cx="0" cy="18288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4050792" y="2962656"/>
            <a:ext cx="1133856" cy="566928"/>
          </a:xfrm>
          <a:prstGeom prst="diamond">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P(bullish)</a:t>
            </a:r>
          </a:p>
          <a:p>
            <a:pPr algn="ctr"/>
            <a:r>
              <a:rPr sz="750" b="0" i="0">
                <a:solidFill>
                  <a:srgbClr val="1A1A1A"/>
                </a:solidFill>
                <a:latin typeface="Montserrat"/>
              </a:rPr>
              <a:t>&gt; 0.55 ?</a:t>
            </a:r>
          </a:p>
        </p:txBody>
      </p:sp>
      <p:cxnSp>
        <p:nvCxnSpPr>
          <p:cNvPr id="15" name="Connector 14"/>
          <p:cNvCxnSpPr/>
          <p:nvPr/>
        </p:nvCxnSpPr>
        <p:spPr>
          <a:xfrm>
            <a:off x="2441447" y="3246120"/>
            <a:ext cx="1609345"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88920" y="3017520"/>
            <a:ext cx="731520" cy="182880"/>
          </a:xfrm>
          <a:prstGeom prst="rect">
            <a:avLst/>
          </a:prstGeom>
          <a:noFill/>
        </p:spPr>
        <p:txBody>
          <a:bodyPr wrap="square" lIns="0" rIns="0" tIns="0" bIns="0" anchor="t">
            <a:spAutoFit/>
          </a:bodyPr>
          <a:lstStyle/>
          <a:p>
            <a:pPr algn="ctr"/>
            <a:r>
              <a:rPr sz="750" b="0" i="0">
                <a:solidFill>
                  <a:srgbClr val="333333"/>
                </a:solidFill>
                <a:latin typeface="Montserrat"/>
              </a:rPr>
              <a:t>[yes]</a:t>
            </a:r>
          </a:p>
        </p:txBody>
      </p:sp>
      <p:sp>
        <p:nvSpPr>
          <p:cNvPr id="17" name="Rounded Rectangle 16"/>
          <p:cNvSpPr/>
          <p:nvPr/>
        </p:nvSpPr>
        <p:spPr>
          <a:xfrm>
            <a:off x="1097279" y="3977639"/>
            <a:ext cx="1554480" cy="365760"/>
          </a:xfrm>
          <a:prstGeom prst="roundRect">
            <a:avLst/>
          </a:prstGeom>
          <a:solidFill>
            <a:srgbClr val="F6ECEC"/>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HOLD  (no trade)</a:t>
            </a:r>
          </a:p>
        </p:txBody>
      </p:sp>
      <p:cxnSp>
        <p:nvCxnSpPr>
          <p:cNvPr id="18" name="Connector 17"/>
          <p:cNvCxnSpPr/>
          <p:nvPr/>
        </p:nvCxnSpPr>
        <p:spPr>
          <a:xfrm>
            <a:off x="1874519" y="3529584"/>
            <a:ext cx="0" cy="448055"/>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70432" y="3675887"/>
            <a:ext cx="731520" cy="182880"/>
          </a:xfrm>
          <a:prstGeom prst="rect">
            <a:avLst/>
          </a:prstGeom>
          <a:noFill/>
        </p:spPr>
        <p:txBody>
          <a:bodyPr wrap="square" lIns="0" rIns="0" tIns="0" bIns="0" anchor="t">
            <a:spAutoFit/>
          </a:bodyPr>
          <a:lstStyle/>
          <a:p>
            <a:pPr algn="ctr"/>
            <a:r>
              <a:rPr sz="750" b="0" i="0">
                <a:solidFill>
                  <a:srgbClr val="333333"/>
                </a:solidFill>
                <a:latin typeface="Montserrat"/>
              </a:rPr>
              <a:t>[no]</a:t>
            </a:r>
          </a:p>
        </p:txBody>
      </p:sp>
      <p:cxnSp>
        <p:nvCxnSpPr>
          <p:cNvPr id="20" name="Connector 19"/>
          <p:cNvCxnSpPr/>
          <p:nvPr/>
        </p:nvCxnSpPr>
        <p:spPr>
          <a:xfrm>
            <a:off x="4617720" y="3529584"/>
            <a:ext cx="0" cy="630936"/>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651759" y="4160520"/>
            <a:ext cx="1965961"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977639" y="3675887"/>
            <a:ext cx="731520" cy="182880"/>
          </a:xfrm>
          <a:prstGeom prst="rect">
            <a:avLst/>
          </a:prstGeom>
          <a:noFill/>
        </p:spPr>
        <p:txBody>
          <a:bodyPr wrap="square" lIns="0" rIns="0" tIns="0" bIns="0" anchor="t">
            <a:spAutoFit/>
          </a:bodyPr>
          <a:lstStyle/>
          <a:p>
            <a:pPr algn="ctr"/>
            <a:r>
              <a:rPr sz="750" b="0" i="0">
                <a:solidFill>
                  <a:srgbClr val="333333"/>
                </a:solidFill>
                <a:latin typeface="Montserrat"/>
              </a:rPr>
              <a:t>[no]</a:t>
            </a:r>
          </a:p>
        </p:txBody>
      </p:sp>
      <p:sp>
        <p:nvSpPr>
          <p:cNvPr id="23" name="Rounded Rectangle 22"/>
          <p:cNvSpPr/>
          <p:nvPr/>
        </p:nvSpPr>
        <p:spPr>
          <a:xfrm>
            <a:off x="6126480" y="2395728"/>
            <a:ext cx="2240280" cy="38404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Size position, set SL / TP</a:t>
            </a:r>
          </a:p>
        </p:txBody>
      </p:sp>
      <p:sp>
        <p:nvSpPr>
          <p:cNvPr id="24" name="Rounded Rectangle 23"/>
          <p:cNvSpPr/>
          <p:nvPr/>
        </p:nvSpPr>
        <p:spPr>
          <a:xfrm>
            <a:off x="6126480" y="1783080"/>
            <a:ext cx="2240280" cy="384048"/>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Place order via ExecutionHandler</a:t>
            </a:r>
          </a:p>
        </p:txBody>
      </p:sp>
      <p:cxnSp>
        <p:nvCxnSpPr>
          <p:cNvPr id="25" name="Connector 24"/>
          <p:cNvCxnSpPr/>
          <p:nvPr/>
        </p:nvCxnSpPr>
        <p:spPr>
          <a:xfrm flipV="1">
            <a:off x="5184648" y="2779776"/>
            <a:ext cx="2057400" cy="466344"/>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715000" y="3017520"/>
            <a:ext cx="731520" cy="182880"/>
          </a:xfrm>
          <a:prstGeom prst="rect">
            <a:avLst/>
          </a:prstGeom>
          <a:noFill/>
        </p:spPr>
        <p:txBody>
          <a:bodyPr wrap="square" lIns="0" rIns="0" tIns="0" bIns="0" anchor="t">
            <a:spAutoFit/>
          </a:bodyPr>
          <a:lstStyle/>
          <a:p>
            <a:pPr algn="ctr"/>
            <a:r>
              <a:rPr sz="750" b="0" i="0">
                <a:solidFill>
                  <a:srgbClr val="333333"/>
                </a:solidFill>
                <a:latin typeface="Montserrat"/>
              </a:rPr>
              <a:t>[yes]</a:t>
            </a:r>
          </a:p>
        </p:txBody>
      </p:sp>
      <p:cxnSp>
        <p:nvCxnSpPr>
          <p:cNvPr id="27" name="Connector 26"/>
          <p:cNvCxnSpPr/>
          <p:nvPr/>
        </p:nvCxnSpPr>
        <p:spPr>
          <a:xfrm flipV="1">
            <a:off x="7242048" y="2167128"/>
            <a:ext cx="0" cy="22860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Donut 27"/>
          <p:cNvSpPr/>
          <p:nvPr/>
        </p:nvSpPr>
        <p:spPr>
          <a:xfrm>
            <a:off x="7132320" y="1207008"/>
            <a:ext cx="219456" cy="219456"/>
          </a:xfrm>
          <a:prstGeom prst="donut">
            <a:avLst/>
          </a:prstGeom>
          <a:solidFill>
            <a:srgbClr val="1A1A1A"/>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cxnSp>
        <p:nvCxnSpPr>
          <p:cNvPr id="29" name="Connector 28"/>
          <p:cNvCxnSpPr/>
          <p:nvPr/>
        </p:nvCxnSpPr>
        <p:spPr>
          <a:xfrm flipV="1">
            <a:off x="7242048" y="1426464"/>
            <a:ext cx="0" cy="356616"/>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5: Activity Diagram of one decision cycle (the hybrid AND-gate)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Design Specification — Class Diagram</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18</a:t>
            </a:r>
          </a:p>
        </p:txBody>
      </p:sp>
      <p:sp>
        <p:nvSpPr>
          <p:cNvPr id="5" name="Rectangle 4"/>
          <p:cNvSpPr/>
          <p:nvPr/>
        </p:nvSpPr>
        <p:spPr>
          <a:xfrm>
            <a:off x="384048" y="987552"/>
            <a:ext cx="1874519"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DataHandler</a:t>
            </a:r>
          </a:p>
        </p:txBody>
      </p:sp>
      <p:sp>
        <p:nvSpPr>
          <p:cNvPr id="6" name="Rectangle 5"/>
          <p:cNvSpPr/>
          <p:nvPr/>
        </p:nvSpPr>
        <p:spPr>
          <a:xfrm>
            <a:off x="384048" y="1225296"/>
            <a:ext cx="1874519" cy="15544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cache_dir: Path</a:t>
            </a:r>
          </a:p>
        </p:txBody>
      </p:sp>
      <p:sp>
        <p:nvSpPr>
          <p:cNvPr id="7" name="Rectangle 6"/>
          <p:cNvSpPr/>
          <p:nvPr/>
        </p:nvSpPr>
        <p:spPr>
          <a:xfrm>
            <a:off x="384048" y="1380744"/>
            <a:ext cx="1874519" cy="310896"/>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get_data(pair, tf)</a:t>
            </a:r>
          </a:p>
          <a:p>
            <a:pPr algn="l"/>
            <a:r>
              <a:rPr sz="700" b="0" i="0">
                <a:solidFill>
                  <a:srgbClr val="1A1A1A"/>
                </a:solidFill>
                <a:latin typeface="Montserrat"/>
              </a:rPr>
              <a:t>+ get_all()</a:t>
            </a:r>
          </a:p>
        </p:txBody>
      </p:sp>
      <p:sp>
        <p:nvSpPr>
          <p:cNvPr id="8" name="Rectangle 7"/>
          <p:cNvSpPr/>
          <p:nvPr/>
        </p:nvSpPr>
        <p:spPr>
          <a:xfrm>
            <a:off x="2487168" y="987552"/>
            <a:ext cx="2011680"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Preprocessor</a:t>
            </a:r>
          </a:p>
        </p:txBody>
      </p:sp>
      <p:sp>
        <p:nvSpPr>
          <p:cNvPr id="9" name="Rectangle 8"/>
          <p:cNvSpPr/>
          <p:nvPr/>
        </p:nvSpPr>
        <p:spPr>
          <a:xfrm>
            <a:off x="2487168" y="1225296"/>
            <a:ext cx="2011680" cy="310896"/>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zscore_window: int</a:t>
            </a:r>
          </a:p>
          <a:p>
            <a:pPr algn="l"/>
            <a:r>
              <a:rPr sz="700" b="0" i="0">
                <a:solidFill>
                  <a:srgbClr val="1A1A1A"/>
                </a:solidFill>
                <a:latin typeface="Montserrat"/>
              </a:rPr>
              <a:t>- label_method: str</a:t>
            </a:r>
          </a:p>
        </p:txBody>
      </p:sp>
      <p:sp>
        <p:nvSpPr>
          <p:cNvPr id="10" name="Rectangle 9"/>
          <p:cNvSpPr/>
          <p:nvPr/>
        </p:nvSpPr>
        <p:spPr>
          <a:xfrm>
            <a:off x="2487168" y="1536192"/>
            <a:ext cx="2011680" cy="466344"/>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transform(df)</a:t>
            </a:r>
          </a:p>
          <a:p>
            <a:pPr algn="l"/>
            <a:r>
              <a:rPr sz="700" b="0" i="0">
                <a:solidFill>
                  <a:srgbClr val="1A1A1A"/>
                </a:solidFill>
                <a:latin typeface="Montserrat"/>
              </a:rPr>
              <a:t>+ add_zscores(df)</a:t>
            </a:r>
          </a:p>
          <a:p>
            <a:pPr algn="l"/>
            <a:r>
              <a:rPr sz="700" b="0" i="0">
                <a:solidFill>
                  <a:srgbClr val="1A1A1A"/>
                </a:solidFill>
                <a:latin typeface="Montserrat"/>
              </a:rPr>
              <a:t>+ chronological_split()</a:t>
            </a:r>
          </a:p>
        </p:txBody>
      </p:sp>
      <p:sp>
        <p:nvSpPr>
          <p:cNvPr id="11" name="Rectangle 10"/>
          <p:cNvSpPr/>
          <p:nvPr/>
        </p:nvSpPr>
        <p:spPr>
          <a:xfrm>
            <a:off x="4727448" y="987552"/>
            <a:ext cx="1874519"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MLModel</a:t>
            </a:r>
          </a:p>
        </p:txBody>
      </p:sp>
      <p:sp>
        <p:nvSpPr>
          <p:cNvPr id="12" name="Rectangle 11"/>
          <p:cNvSpPr/>
          <p:nvPr/>
        </p:nvSpPr>
        <p:spPr>
          <a:xfrm>
            <a:off x="4727448" y="1225296"/>
            <a:ext cx="1874519" cy="15544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model: RandomForest</a:t>
            </a:r>
          </a:p>
        </p:txBody>
      </p:sp>
      <p:sp>
        <p:nvSpPr>
          <p:cNvPr id="13" name="Rectangle 12"/>
          <p:cNvSpPr/>
          <p:nvPr/>
        </p:nvSpPr>
        <p:spPr>
          <a:xfrm>
            <a:off x="4727448" y="1380744"/>
            <a:ext cx="1874519" cy="466344"/>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tune(X, y)</a:t>
            </a:r>
          </a:p>
          <a:p>
            <a:pPr algn="l"/>
            <a:r>
              <a:rPr sz="700" b="0" i="0">
                <a:solidFill>
                  <a:srgbClr val="1A1A1A"/>
                </a:solidFill>
                <a:latin typeface="Montserrat"/>
              </a:rPr>
              <a:t>+ predict_proba(X)</a:t>
            </a:r>
          </a:p>
          <a:p>
            <a:pPr algn="l"/>
            <a:r>
              <a:rPr sz="700" b="0" i="0">
                <a:solidFill>
                  <a:srgbClr val="1A1A1A"/>
                </a:solidFill>
                <a:latin typeface="Montserrat"/>
              </a:rPr>
              <a:t>+ save() / load()</a:t>
            </a:r>
          </a:p>
        </p:txBody>
      </p:sp>
      <p:sp>
        <p:nvSpPr>
          <p:cNvPr id="14" name="Rectangle 13"/>
          <p:cNvSpPr/>
          <p:nvPr/>
        </p:nvSpPr>
        <p:spPr>
          <a:xfrm>
            <a:off x="6830568" y="987552"/>
            <a:ext cx="1920240"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SignalGenerator</a:t>
            </a:r>
          </a:p>
        </p:txBody>
      </p:sp>
      <p:sp>
        <p:nvSpPr>
          <p:cNvPr id="15" name="Rectangle 14"/>
          <p:cNvSpPr/>
          <p:nvPr/>
        </p:nvSpPr>
        <p:spPr>
          <a:xfrm>
            <a:off x="6830568" y="1225296"/>
            <a:ext cx="1920240" cy="310896"/>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volume_threshold</a:t>
            </a:r>
          </a:p>
          <a:p>
            <a:pPr algn="l"/>
            <a:r>
              <a:rPr sz="700" b="0" i="0">
                <a:solidFill>
                  <a:srgbClr val="1A1A1A"/>
                </a:solidFill>
                <a:latin typeface="Montserrat"/>
              </a:rPr>
              <a:t>- confidence_threshold</a:t>
            </a:r>
          </a:p>
        </p:txBody>
      </p:sp>
      <p:sp>
        <p:nvSpPr>
          <p:cNvPr id="16" name="Rectangle 15"/>
          <p:cNvSpPr/>
          <p:nvPr/>
        </p:nvSpPr>
        <p:spPr>
          <a:xfrm>
            <a:off x="6830568" y="1536192"/>
            <a:ext cx="1920240" cy="15544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decide(p, z) : Signal</a:t>
            </a:r>
          </a:p>
        </p:txBody>
      </p:sp>
      <p:sp>
        <p:nvSpPr>
          <p:cNvPr id="17" name="Rectangle 16"/>
          <p:cNvSpPr/>
          <p:nvPr/>
        </p:nvSpPr>
        <p:spPr>
          <a:xfrm>
            <a:off x="384048" y="2359152"/>
            <a:ext cx="1874519"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RiskManager</a:t>
            </a:r>
          </a:p>
        </p:txBody>
      </p:sp>
      <p:sp>
        <p:nvSpPr>
          <p:cNvPr id="18" name="Rectangle 17"/>
          <p:cNvSpPr/>
          <p:nvPr/>
        </p:nvSpPr>
        <p:spPr>
          <a:xfrm>
            <a:off x="384048" y="2596896"/>
            <a:ext cx="1874519" cy="310896"/>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equity: float</a:t>
            </a:r>
          </a:p>
          <a:p>
            <a:pPr algn="l"/>
            <a:r>
              <a:rPr sz="700" b="0" i="0">
                <a:solidFill>
                  <a:srgbClr val="1A1A1A"/>
                </a:solidFill>
                <a:latin typeface="Montserrat"/>
              </a:rPr>
              <a:t>- risk_fraction: float</a:t>
            </a:r>
          </a:p>
        </p:txBody>
      </p:sp>
      <p:sp>
        <p:nvSpPr>
          <p:cNvPr id="19" name="Rectangle 18"/>
          <p:cNvSpPr/>
          <p:nvPr/>
        </p:nvSpPr>
        <p:spPr>
          <a:xfrm>
            <a:off x="384048" y="2907792"/>
            <a:ext cx="1874519" cy="310896"/>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size_position(...)</a:t>
            </a:r>
          </a:p>
          <a:p>
            <a:pPr algn="l"/>
            <a:r>
              <a:rPr sz="700" b="0" i="0">
                <a:solidFill>
                  <a:srgbClr val="1A1A1A"/>
                </a:solidFill>
                <a:latin typeface="Montserrat"/>
              </a:rPr>
              <a:t>+ can_trade()</a:t>
            </a:r>
          </a:p>
        </p:txBody>
      </p:sp>
      <p:sp>
        <p:nvSpPr>
          <p:cNvPr id="20" name="Rectangle 19"/>
          <p:cNvSpPr/>
          <p:nvPr/>
        </p:nvSpPr>
        <p:spPr>
          <a:xfrm>
            <a:off x="2487168" y="2359152"/>
            <a:ext cx="2011680"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0">
                <a:solidFill>
                  <a:srgbClr val="1A1A1A"/>
                </a:solidFill>
                <a:latin typeface="Montserrat"/>
              </a:rPr>
              <a:t>Backtester</a:t>
            </a:r>
          </a:p>
        </p:txBody>
      </p:sp>
      <p:sp>
        <p:nvSpPr>
          <p:cNvPr id="21" name="Rectangle 20"/>
          <p:cNvSpPr/>
          <p:nvPr/>
        </p:nvSpPr>
        <p:spPr>
          <a:xfrm>
            <a:off x="2487168" y="2596896"/>
            <a:ext cx="2011680" cy="15544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symbol: str</a:t>
            </a:r>
          </a:p>
        </p:txBody>
      </p:sp>
      <p:sp>
        <p:nvSpPr>
          <p:cNvPr id="22" name="Rectangle 21"/>
          <p:cNvSpPr/>
          <p:nvPr/>
        </p:nvSpPr>
        <p:spPr>
          <a:xfrm>
            <a:off x="2487168" y="2752344"/>
            <a:ext cx="2011680" cy="310896"/>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run(df, probs)</a:t>
            </a:r>
          </a:p>
          <a:p>
            <a:pPr algn="l"/>
            <a:r>
              <a:rPr sz="700" b="0" i="0">
                <a:solidFill>
                  <a:srgbClr val="1A1A1A"/>
                </a:solidFill>
                <a:latin typeface="Montserrat"/>
              </a:rPr>
              <a:t>+ metrics()</a:t>
            </a:r>
          </a:p>
        </p:txBody>
      </p:sp>
      <p:sp>
        <p:nvSpPr>
          <p:cNvPr id="23" name="Rectangle 22"/>
          <p:cNvSpPr/>
          <p:nvPr/>
        </p:nvSpPr>
        <p:spPr>
          <a:xfrm>
            <a:off x="5120640" y="2359152"/>
            <a:ext cx="2240280" cy="23774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1" i="1">
                <a:solidFill>
                  <a:srgbClr val="1A1A1A"/>
                </a:solidFill>
                <a:latin typeface="Montserrat"/>
              </a:rPr>
              <a:t>«abstract»  ExecutionHandler</a:t>
            </a:r>
          </a:p>
        </p:txBody>
      </p:sp>
      <p:sp>
        <p:nvSpPr>
          <p:cNvPr id="24" name="Rectangle 23"/>
          <p:cNvSpPr/>
          <p:nvPr/>
        </p:nvSpPr>
        <p:spPr>
          <a:xfrm>
            <a:off x="5120640" y="2596896"/>
            <a:ext cx="2240280" cy="155448"/>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a:t>
            </a:r>
          </a:p>
        </p:txBody>
      </p:sp>
      <p:sp>
        <p:nvSpPr>
          <p:cNvPr id="25" name="Rectangle 24"/>
          <p:cNvSpPr/>
          <p:nvPr/>
        </p:nvSpPr>
        <p:spPr>
          <a:xfrm>
            <a:off x="5120640" y="2752344"/>
            <a:ext cx="2240280" cy="621792"/>
          </a:xfrm>
          <a:prstGeom prst="rect">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18288" tIns="9144" bIns="9144"/>
          <a:lstStyle/>
          <a:p>
            <a:pPr algn="l"/>
            <a:r>
              <a:rPr sz="700" b="0" i="0">
                <a:solidFill>
                  <a:srgbClr val="1A1A1A"/>
                </a:solidFill>
                <a:latin typeface="Montserrat"/>
              </a:rPr>
              <a:t>+ connect()</a:t>
            </a:r>
          </a:p>
          <a:p>
            <a:pPr algn="l"/>
            <a:r>
              <a:rPr sz="700" b="0" i="0">
                <a:solidFill>
                  <a:srgbClr val="1A1A1A"/>
                </a:solidFill>
                <a:latin typeface="Montserrat"/>
              </a:rPr>
              <a:t>+ place_order(...)</a:t>
            </a:r>
          </a:p>
          <a:p>
            <a:pPr algn="l"/>
            <a:r>
              <a:rPr sz="700" b="0" i="0">
                <a:solidFill>
                  <a:srgbClr val="1A1A1A"/>
                </a:solidFill>
                <a:latin typeface="Montserrat"/>
              </a:rPr>
              <a:t>+ get_open_positions()</a:t>
            </a:r>
          </a:p>
          <a:p>
            <a:pPr algn="l"/>
            <a:r>
              <a:rPr sz="700" b="0" i="0">
                <a:solidFill>
                  <a:srgbClr val="1A1A1A"/>
                </a:solidFill>
                <a:latin typeface="Montserrat"/>
              </a:rPr>
              <a:t>+ close_position(ticket)</a:t>
            </a:r>
          </a:p>
        </p:txBody>
      </p:sp>
      <p:sp>
        <p:nvSpPr>
          <p:cNvPr id="26" name="Rectangle 25"/>
          <p:cNvSpPr/>
          <p:nvPr/>
        </p:nvSpPr>
        <p:spPr>
          <a:xfrm>
            <a:off x="3913632" y="4041648"/>
            <a:ext cx="1481328" cy="42062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MockExecution</a:t>
            </a:r>
          </a:p>
          <a:p>
            <a:pPr algn="ctr"/>
            <a:r>
              <a:rPr sz="750" b="0" i="0">
                <a:solidFill>
                  <a:srgbClr val="1A1A1A"/>
                </a:solidFill>
                <a:latin typeface="Montserrat"/>
              </a:rPr>
              <a:t>Handler</a:t>
            </a:r>
          </a:p>
        </p:txBody>
      </p:sp>
      <p:cxnSp>
        <p:nvCxnSpPr>
          <p:cNvPr id="27" name="Connector 26"/>
          <p:cNvCxnSpPr/>
          <p:nvPr/>
        </p:nvCxnSpPr>
        <p:spPr>
          <a:xfrm flipV="1">
            <a:off x="4654296" y="3493008"/>
            <a:ext cx="1586484" cy="54864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a:off x="6167628" y="3374136"/>
            <a:ext cx="146304" cy="118872"/>
          </a:xfrm>
          <a:prstGeom prst="triangl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29" name="Rectangle 28"/>
          <p:cNvSpPr/>
          <p:nvPr/>
        </p:nvSpPr>
        <p:spPr>
          <a:xfrm>
            <a:off x="5532120" y="4041648"/>
            <a:ext cx="1481328" cy="42062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MT5Execution</a:t>
            </a:r>
          </a:p>
          <a:p>
            <a:pPr algn="ctr"/>
            <a:r>
              <a:rPr sz="750" b="0" i="0">
                <a:solidFill>
                  <a:srgbClr val="1A1A1A"/>
                </a:solidFill>
                <a:latin typeface="Montserrat"/>
              </a:rPr>
              <a:t>Handler</a:t>
            </a:r>
          </a:p>
        </p:txBody>
      </p:sp>
      <p:cxnSp>
        <p:nvCxnSpPr>
          <p:cNvPr id="30" name="Connector 29"/>
          <p:cNvCxnSpPr/>
          <p:nvPr/>
        </p:nvCxnSpPr>
        <p:spPr>
          <a:xfrm flipH="1" flipV="1">
            <a:off x="6240780" y="3493008"/>
            <a:ext cx="32004" cy="54864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a:off x="6167628" y="3374136"/>
            <a:ext cx="146304" cy="118872"/>
          </a:xfrm>
          <a:prstGeom prst="triangl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32" name="Rectangle 31"/>
          <p:cNvSpPr/>
          <p:nvPr/>
        </p:nvSpPr>
        <p:spPr>
          <a:xfrm>
            <a:off x="7150608" y="4041648"/>
            <a:ext cx="1481328" cy="42062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RemoteMT5</a:t>
            </a:r>
          </a:p>
          <a:p>
            <a:pPr algn="ctr"/>
            <a:r>
              <a:rPr sz="750" b="0" i="0">
                <a:solidFill>
                  <a:srgbClr val="1A1A1A"/>
                </a:solidFill>
                <a:latin typeface="Montserrat"/>
              </a:rPr>
              <a:t>ExecutionHandler</a:t>
            </a:r>
          </a:p>
        </p:txBody>
      </p:sp>
      <p:cxnSp>
        <p:nvCxnSpPr>
          <p:cNvPr id="33" name="Connector 32"/>
          <p:cNvCxnSpPr/>
          <p:nvPr/>
        </p:nvCxnSpPr>
        <p:spPr>
          <a:xfrm flipH="1" flipV="1">
            <a:off x="6240780" y="3493008"/>
            <a:ext cx="1650492" cy="54864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a:off x="6167628" y="3374136"/>
            <a:ext cx="146304" cy="118872"/>
          </a:xfrm>
          <a:prstGeom prst="triangle">
            <a:avLst/>
          </a:prstGeom>
          <a:solidFill>
            <a:srgbClr val="FFFFFF"/>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cxnSp>
        <p:nvCxnSpPr>
          <p:cNvPr id="35" name="Connector 34"/>
          <p:cNvCxnSpPr/>
          <p:nvPr/>
        </p:nvCxnSpPr>
        <p:spPr>
          <a:xfrm>
            <a:off x="2258568" y="1325880"/>
            <a:ext cx="2286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498848" y="1325880"/>
            <a:ext cx="2286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01968" y="1325880"/>
            <a:ext cx="2286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74720" y="1993392"/>
            <a:ext cx="0" cy="36576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6: Class Diagram. The engine depends only on the abstract ExecutionHandler — never on a concrete broker.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How a Trade Is Actually Decided</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19</a:t>
            </a:r>
          </a:p>
        </p:txBody>
      </p:sp>
      <p:sp>
        <p:nvSpPr>
          <p:cNvPr id="5" name="TextBox 4"/>
          <p:cNvSpPr txBox="1"/>
          <p:nvPr/>
        </p:nvSpPr>
        <p:spPr>
          <a:xfrm>
            <a:off x="411480" y="932688"/>
            <a:ext cx="8321040" cy="274320"/>
          </a:xfrm>
          <a:prstGeom prst="rect">
            <a:avLst/>
          </a:prstGeom>
          <a:noFill/>
        </p:spPr>
        <p:txBody>
          <a:bodyPr wrap="square" lIns="0" rIns="0" tIns="0" bIns="0" anchor="t">
            <a:spAutoFit/>
          </a:bodyPr>
          <a:lstStyle/>
          <a:p>
            <a:pPr algn="l"/>
            <a:r>
              <a:rPr sz="1130" b="0" i="0">
                <a:solidFill>
                  <a:srgbClr val="1A1A1A"/>
                </a:solidFill>
                <a:latin typeface="Montserrat"/>
              </a:rPr>
              <a:t>A worked example from a real run (EUR/USD, 1-hour candle):</a:t>
            </a:r>
          </a:p>
        </p:txBody>
      </p:sp>
      <p:graphicFrame>
        <p:nvGraphicFramePr>
          <p:cNvPr id="6" name="Table 5"/>
          <p:cNvGraphicFramePr>
            <a:graphicFrameLocks noGrp="1"/>
          </p:cNvGraphicFramePr>
          <p:nvPr/>
        </p:nvGraphicFramePr>
        <p:xfrm>
          <a:off x="411480" y="1298448"/>
          <a:ext cx="8321040" cy="950976"/>
        </p:xfrm>
        <a:graphic>
          <a:graphicData uri="http://schemas.openxmlformats.org/drawingml/2006/table">
            <a:tbl>
              <a:tblPr firstRow="1" bandRow="1">
                <a:tableStyleId>{5C22544A-7EE6-4342-B048-85BDC9FD1C3A}</a:tableStyleId>
              </a:tblPr>
              <a:tblGrid>
                <a:gridCol w="3017520"/>
                <a:gridCol w="1737360"/>
                <a:gridCol w="1737360"/>
                <a:gridCol w="1828800"/>
              </a:tblGrid>
              <a:tr h="237744">
                <a:tc>
                  <a:txBody>
                    <a:bodyPr wrap="square"/>
                    <a:lstStyle/>
                    <a:p>
                      <a:pPr algn="l"/>
                      <a:r>
                        <a:rPr sz="850" b="1" i="0">
                          <a:solidFill>
                            <a:srgbClr val="FFFFFF"/>
                          </a:solidFill>
                          <a:latin typeface="Montserrat"/>
                        </a:rPr>
                        <a:t>Check</a:t>
                      </a:r>
                    </a:p>
                  </a:txBody>
                  <a:tcPr marL="45720" marR="45720" marT="18288" marB="18288" anchor="ctr">
                    <a:solidFill>
                      <a:srgbClr val="1F3A5F"/>
                    </a:solidFill>
                  </a:tcPr>
                </a:tc>
                <a:tc>
                  <a:txBody>
                    <a:bodyPr wrap="square"/>
                    <a:lstStyle/>
                    <a:p>
                      <a:pPr algn="ctr"/>
                      <a:r>
                        <a:rPr sz="850" b="1" i="0">
                          <a:solidFill>
                            <a:srgbClr val="FFFFFF"/>
                          </a:solidFill>
                          <a:latin typeface="Montserrat"/>
                        </a:rPr>
                        <a:t>Value</a:t>
                      </a:r>
                    </a:p>
                  </a:txBody>
                  <a:tcPr marL="45720" marR="45720" marT="18288" marB="18288" anchor="ctr">
                    <a:solidFill>
                      <a:srgbClr val="1F3A5F"/>
                    </a:solidFill>
                  </a:tcPr>
                </a:tc>
                <a:tc>
                  <a:txBody>
                    <a:bodyPr wrap="square"/>
                    <a:lstStyle/>
                    <a:p>
                      <a:pPr algn="ctr"/>
                      <a:r>
                        <a:rPr sz="850" b="1" i="0">
                          <a:solidFill>
                            <a:srgbClr val="FFFFFF"/>
                          </a:solidFill>
                          <a:latin typeface="Montserrat"/>
                        </a:rPr>
                        <a:t>Threshold</a:t>
                      </a:r>
                    </a:p>
                  </a:txBody>
                  <a:tcPr marL="45720" marR="45720" marT="18288" marB="18288" anchor="ctr">
                    <a:solidFill>
                      <a:srgbClr val="1F3A5F"/>
                    </a:solidFill>
                  </a:tcPr>
                </a:tc>
                <a:tc>
                  <a:txBody>
                    <a:bodyPr wrap="square"/>
                    <a:lstStyle/>
                    <a:p>
                      <a:pPr algn="ctr"/>
                      <a:r>
                        <a:rPr sz="850" b="1" i="0">
                          <a:solidFill>
                            <a:srgbClr val="FFFFFF"/>
                          </a:solidFill>
                          <a:latin typeface="Montserrat"/>
                        </a:rPr>
                        <a:t>Result</a:t>
                      </a:r>
                    </a:p>
                  </a:txBody>
                  <a:tcPr marL="45720" marR="45720" marT="18288" marB="18288" anchor="ctr">
                    <a:solidFill>
                      <a:srgbClr val="1F3A5F"/>
                    </a:solidFill>
                  </a:tcPr>
                </a:tc>
              </a:tr>
              <a:tr h="237744">
                <a:tc>
                  <a:txBody>
                    <a:bodyPr wrap="square"/>
                    <a:lstStyle/>
                    <a:p>
                      <a:pPr algn="l"/>
                      <a:r>
                        <a:rPr sz="850" b="0" i="0">
                          <a:solidFill>
                            <a:srgbClr val="1A1A1A"/>
                          </a:solidFill>
                          <a:latin typeface="Montserrat"/>
                        </a:rPr>
                        <a:t>Rule gate — Volume Z-Score</a:t>
                      </a:r>
                    </a:p>
                  </a:txBody>
                  <a:tcPr marL="45720" marR="45720" marT="18288" marB="18288" anchor="ctr">
                    <a:solidFill>
                      <a:srgbClr val="FFFFFF"/>
                    </a:solidFill>
                  </a:tcPr>
                </a:tc>
                <a:tc>
                  <a:txBody>
                    <a:bodyPr wrap="square"/>
                    <a:lstStyle/>
                    <a:p>
                      <a:pPr algn="ctr"/>
                      <a:r>
                        <a:rPr sz="850" b="0" i="0">
                          <a:solidFill>
                            <a:srgbClr val="1A1A1A"/>
                          </a:solidFill>
                          <a:latin typeface="Montserrat"/>
                        </a:rPr>
                        <a:t>+4.249</a:t>
                      </a:r>
                    </a:p>
                  </a:txBody>
                  <a:tcPr marL="45720" marR="45720" marT="18288" marB="18288" anchor="ctr">
                    <a:solidFill>
                      <a:srgbClr val="FFFFFF"/>
                    </a:solidFill>
                  </a:tcPr>
                </a:tc>
                <a:tc>
                  <a:txBody>
                    <a:bodyPr wrap="square"/>
                    <a:lstStyle/>
                    <a:p>
                      <a:pPr algn="ctr"/>
                      <a:r>
                        <a:rPr sz="850" b="0" i="0">
                          <a:solidFill>
                            <a:srgbClr val="1A1A1A"/>
                          </a:solidFill>
                          <a:latin typeface="Montserrat"/>
                        </a:rPr>
                        <a:t>&gt; +1.5</a:t>
                      </a:r>
                    </a:p>
                  </a:txBody>
                  <a:tcPr marL="45720" marR="45720" marT="18288" marB="18288" anchor="ctr">
                    <a:solidFill>
                      <a:srgbClr val="FFFFFF"/>
                    </a:solidFill>
                  </a:tcPr>
                </a:tc>
                <a:tc>
                  <a:txBody>
                    <a:bodyPr wrap="square"/>
                    <a:lstStyle/>
                    <a:p>
                      <a:pPr algn="ctr"/>
                      <a:r>
                        <a:rPr sz="850" b="0" i="0">
                          <a:solidFill>
                            <a:srgbClr val="1B6B3A"/>
                          </a:solidFill>
                          <a:latin typeface="Montserrat"/>
                        </a:rPr>
                        <a:t>PASS</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ML gate — P(bullish)</a:t>
                      </a:r>
                    </a:p>
                  </a:txBody>
                  <a:tcPr marL="45720" marR="45720" marT="18288" marB="18288" anchor="ctr">
                    <a:solidFill>
                      <a:srgbClr val="F7F9FB"/>
                    </a:solidFill>
                  </a:tcPr>
                </a:tc>
                <a:tc>
                  <a:txBody>
                    <a:bodyPr wrap="square"/>
                    <a:lstStyle/>
                    <a:p>
                      <a:pPr algn="ctr"/>
                      <a:r>
                        <a:rPr sz="850" b="0" i="0">
                          <a:solidFill>
                            <a:srgbClr val="1A1A1A"/>
                          </a:solidFill>
                          <a:latin typeface="Montserrat"/>
                        </a:rPr>
                        <a:t>0.567</a:t>
                      </a:r>
                    </a:p>
                  </a:txBody>
                  <a:tcPr marL="45720" marR="45720" marT="18288" marB="18288" anchor="ctr">
                    <a:solidFill>
                      <a:srgbClr val="F7F9FB"/>
                    </a:solidFill>
                  </a:tcPr>
                </a:tc>
                <a:tc>
                  <a:txBody>
                    <a:bodyPr wrap="square"/>
                    <a:lstStyle/>
                    <a:p>
                      <a:pPr algn="ctr"/>
                      <a:r>
                        <a:rPr sz="850" b="0" i="0">
                          <a:solidFill>
                            <a:srgbClr val="1A1A1A"/>
                          </a:solidFill>
                          <a:latin typeface="Montserrat"/>
                        </a:rPr>
                        <a:t>&gt; 0.55</a:t>
                      </a:r>
                    </a:p>
                  </a:txBody>
                  <a:tcPr marL="45720" marR="45720" marT="18288" marB="18288" anchor="ctr">
                    <a:solidFill>
                      <a:srgbClr val="F7F9FB"/>
                    </a:solidFill>
                  </a:tcPr>
                </a:tc>
                <a:tc>
                  <a:txBody>
                    <a:bodyPr wrap="square"/>
                    <a:lstStyle/>
                    <a:p>
                      <a:pPr algn="ctr"/>
                      <a:r>
                        <a:rPr sz="850" b="0" i="0">
                          <a:solidFill>
                            <a:srgbClr val="1B6B3A"/>
                          </a:solidFill>
                          <a:latin typeface="Montserrat"/>
                        </a:rPr>
                        <a:t>PASS</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Decision</a:t>
                      </a:r>
                    </a:p>
                  </a:txBody>
                  <a:tcPr marL="45720" marR="45720" marT="18288" marB="18288" anchor="ctr">
                    <a:solidFill>
                      <a:srgbClr val="FFFFFF"/>
                    </a:solidFill>
                  </a:tcPr>
                </a:tc>
                <a:tc>
                  <a:txBody>
                    <a:bodyPr wrap="square"/>
                    <a:lstStyle/>
                    <a:p>
                      <a:pPr algn="ctr"/>
                      <a:r>
                        <a:rPr sz="850" b="0" i="0">
                          <a:solidFill>
                            <a:srgbClr val="1A1A1A"/>
                          </a:solidFill>
                          <a:latin typeface="Montserrat"/>
                        </a:rPr>
                        <a:t>BUY</a:t>
                      </a:r>
                    </a:p>
                  </a:txBody>
                  <a:tcPr marL="45720" marR="45720" marT="18288" marB="18288" anchor="ctr">
                    <a:solidFill>
                      <a:srgbClr val="FFFFFF"/>
                    </a:solidFill>
                  </a:tcPr>
                </a:tc>
                <a:tc>
                  <a:txBody>
                    <a:bodyPr wrap="square"/>
                    <a:lstStyle/>
                    <a:p>
                      <a:pPr algn="ctr"/>
                      <a:r>
                        <a:rPr sz="850" b="0" i="0">
                          <a:solidFill>
                            <a:srgbClr val="1A1A1A"/>
                          </a:solidFill>
                          <a:latin typeface="Montserrat"/>
                        </a:rPr>
                        <a:t>both must pass</a:t>
                      </a:r>
                    </a:p>
                  </a:txBody>
                  <a:tcPr marL="45720" marR="45720" marT="18288" marB="18288" anchor="ctr">
                    <a:solidFill>
                      <a:srgbClr val="FFFFFF"/>
                    </a:solidFill>
                  </a:tcPr>
                </a:tc>
                <a:tc>
                  <a:txBody>
                    <a:bodyPr wrap="square"/>
                    <a:lstStyle/>
                    <a:p>
                      <a:pPr algn="ctr"/>
                      <a:r>
                        <a:rPr sz="850" b="0" i="0">
                          <a:solidFill>
                            <a:srgbClr val="1A1A1A"/>
                          </a:solidFill>
                          <a:latin typeface="Montserrat"/>
                        </a:rPr>
                        <a:t>TRADE</a:t>
                      </a:r>
                    </a:p>
                  </a:txBody>
                  <a:tcPr marL="45720" marR="45720" marT="18288" marB="18288" anchor="ctr">
                    <a:solidFill>
                      <a:srgbClr val="FFFFFF"/>
                    </a:solidFill>
                  </a:tcPr>
                </a:tc>
              </a:tr>
            </a:tbl>
          </a:graphicData>
        </a:graphic>
      </p:graphicFrame>
      <p:sp>
        <p:nvSpPr>
          <p:cNvPr id="7" name="TextBox 6"/>
          <p:cNvSpPr txBox="1"/>
          <p:nvPr/>
        </p:nvSpPr>
        <p:spPr>
          <a:xfrm>
            <a:off x="411480" y="2560320"/>
            <a:ext cx="8321040" cy="2308860"/>
          </a:xfrm>
          <a:prstGeom prst="rect">
            <a:avLst/>
          </a:prstGeom>
          <a:noFill/>
        </p:spPr>
        <p:txBody>
          <a:bodyPr wrap="square" lIns="0" rIns="0" tIns="0" bIns="0">
            <a:spAutoFit/>
          </a:bodyPr>
          <a:lstStyle/>
          <a:p>
            <a:pPr>
              <a:spcAft>
                <a:spcPts val="500"/>
              </a:spcAft>
            </a:pPr>
            <a:r>
              <a:rPr sz="1080" b="0" i="0">
                <a:solidFill>
                  <a:srgbClr val="1A1A1A"/>
                </a:solidFill>
                <a:latin typeface="Montserrat"/>
              </a:rPr>
              <a:t>•  If either gate fails the system returns HOLD — and on roughly 98.7% of candles, that is exactly what happens.</a:t>
            </a:r>
          </a:p>
          <a:p>
            <a:pPr>
              <a:spcAft>
                <a:spcPts val="500"/>
              </a:spcAft>
            </a:pPr>
            <a:r>
              <a:rPr sz="1080" b="0" i="0">
                <a:solidFill>
                  <a:srgbClr val="1A1A1A"/>
                </a:solidFill>
                <a:latin typeface="Montserrat"/>
              </a:rPr>
              <a:t>•  Both comparisons are strictly greater-than, so a borderline value does not trade.</a:t>
            </a:r>
          </a:p>
          <a:p>
            <a:pPr>
              <a:spcAft>
                <a:spcPts val="500"/>
              </a:spcAft>
            </a:pPr>
            <a:r>
              <a:rPr sz="1080" b="0" i="0">
                <a:solidFill>
                  <a:srgbClr val="1A1A1A"/>
                </a:solidFill>
                <a:latin typeface="Montserrat"/>
              </a:rPr>
              <a:t>•  The position is then sized by the Risk Manager: 1% of equity at risk, stop-loss 1.2% and take-profit 0.4% from entry, giving 14,532 units (0.15 lots) in this case.</a:t>
            </a:r>
          </a:p>
          <a:p>
            <a:pPr>
              <a:spcAft>
                <a:spcPts val="500"/>
              </a:spcAft>
            </a:pPr>
            <a:r>
              <a:rPr sz="1080" b="0" i="0">
                <a:solidFill>
                  <a:srgbClr val="1A1A1A"/>
                </a:solidFill>
                <a:latin typeface="Montserrat"/>
              </a:rPr>
              <a:t>•  Every decision — including every HOLD — is logged with its probability and Z-Score, which is what makes the system auditable.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The Decisive Design Decision: Triple-Barrier Labelling</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20</a:t>
            </a:r>
          </a:p>
        </p:txBody>
      </p:sp>
      <p:sp>
        <p:nvSpPr>
          <p:cNvPr id="5" name="TextBox 4"/>
          <p:cNvSpPr txBox="1"/>
          <p:nvPr/>
        </p:nvSpPr>
        <p:spPr>
          <a:xfrm>
            <a:off x="411480" y="932688"/>
            <a:ext cx="8321040" cy="1463040"/>
          </a:xfrm>
          <a:prstGeom prst="rect">
            <a:avLst/>
          </a:prstGeom>
          <a:noFill/>
        </p:spPr>
        <p:txBody>
          <a:bodyPr wrap="square" lIns="0" rIns="0" tIns="0" bIns="0">
            <a:spAutoFit/>
          </a:bodyPr>
          <a:lstStyle/>
          <a:p>
            <a:pPr>
              <a:spcAft>
                <a:spcPts val="400"/>
              </a:spcAft>
            </a:pPr>
            <a:r>
              <a:rPr sz="1130" b="1" i="0">
                <a:solidFill>
                  <a:srgbClr val="1A1A1A"/>
                </a:solidFill>
                <a:latin typeface="Montserrat"/>
              </a:rPr>
              <a:t>•  The problem:</a:t>
            </a:r>
          </a:p>
          <a:p>
            <a:pPr lvl="1">
              <a:spcAft>
                <a:spcPts val="400"/>
              </a:spcAft>
            </a:pPr>
            <a:r>
              <a:rPr sz="1030" b="0" i="0">
                <a:solidFill>
                  <a:srgbClr val="333333"/>
                </a:solidFill>
                <a:latin typeface="Montserrat"/>
              </a:rPr>
              <a:t>–  The first version asked the model 'will the next candle close higher?' — and it lost money on both pairs, because that question is not the one the strategy actually cares about.</a:t>
            </a:r>
          </a:p>
          <a:p>
            <a:pPr>
              <a:spcAft>
                <a:spcPts val="400"/>
              </a:spcAft>
            </a:pPr>
            <a:r>
              <a:rPr sz="1130" b="1" i="0">
                <a:solidFill>
                  <a:srgbClr val="1A1A1A"/>
                </a:solidFill>
                <a:latin typeface="Montserrat"/>
              </a:rPr>
              <a:t>•  The fix (Lopez de Prado, 2018):</a:t>
            </a:r>
          </a:p>
          <a:p>
            <a:pPr lvl="1">
              <a:spcAft>
                <a:spcPts val="400"/>
              </a:spcAft>
            </a:pPr>
            <a:r>
              <a:rPr sz="1030" b="0" i="0">
                <a:solidFill>
                  <a:srgbClr val="333333"/>
                </a:solidFill>
                <a:latin typeface="Montserrat"/>
              </a:rPr>
              <a:t>–  Label each candle by what would really happen to a trade opened there: does price touch the take-profit before the stop-loss within 24 hours?</a:t>
            </a:r>
          </a:p>
        </p:txBody>
      </p:sp>
      <p:sp>
        <p:nvSpPr>
          <p:cNvPr id="6" name="Rectangle 5"/>
          <p:cNvSpPr/>
          <p:nvPr/>
        </p:nvSpPr>
        <p:spPr>
          <a:xfrm>
            <a:off x="822960" y="2221992"/>
            <a:ext cx="3108960" cy="310896"/>
          </a:xfrm>
          <a:prstGeom prst="rect">
            <a:avLst/>
          </a:prstGeom>
          <a:solidFill>
            <a:srgbClr val="ECF5EE"/>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upper barrier — take-profit  →  class 1</a:t>
            </a:r>
          </a:p>
        </p:txBody>
      </p:sp>
      <p:sp>
        <p:nvSpPr>
          <p:cNvPr id="7" name="Rectangle 6"/>
          <p:cNvSpPr/>
          <p:nvPr/>
        </p:nvSpPr>
        <p:spPr>
          <a:xfrm>
            <a:off x="822960" y="3355848"/>
            <a:ext cx="3108960" cy="310896"/>
          </a:xfrm>
          <a:prstGeom prst="rect">
            <a:avLst/>
          </a:prstGeom>
          <a:solidFill>
            <a:srgbClr val="F6ECEC"/>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lower barrier — stop-loss  →  class 0</a:t>
            </a:r>
          </a:p>
        </p:txBody>
      </p:sp>
      <p:sp>
        <p:nvSpPr>
          <p:cNvPr id="8" name="Rectangle 7"/>
          <p:cNvSpPr/>
          <p:nvPr/>
        </p:nvSpPr>
        <p:spPr>
          <a:xfrm>
            <a:off x="4160520" y="2788920"/>
            <a:ext cx="1371600" cy="310896"/>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750" b="1" i="0">
                <a:solidFill>
                  <a:srgbClr val="1A1A1A"/>
                </a:solidFill>
                <a:latin typeface="Montserrat"/>
              </a:rPr>
              <a:t>vertical barrier</a:t>
            </a:r>
          </a:p>
          <a:p>
            <a:pPr algn="ctr"/>
            <a:r>
              <a:rPr sz="750" b="0" i="0">
                <a:solidFill>
                  <a:srgbClr val="1A1A1A"/>
                </a:solidFill>
                <a:latin typeface="Montserrat"/>
              </a:rPr>
              <a:t>24 bars</a:t>
            </a:r>
          </a:p>
        </p:txBody>
      </p:sp>
      <p:cxnSp>
        <p:nvCxnSpPr>
          <p:cNvPr id="9" name="Connector 8"/>
          <p:cNvCxnSpPr/>
          <p:nvPr/>
        </p:nvCxnSpPr>
        <p:spPr>
          <a:xfrm>
            <a:off x="822960" y="2944368"/>
            <a:ext cx="3291840" cy="0"/>
          </a:xfrm>
          <a:prstGeom prst="line">
            <a:avLst/>
          </a:prstGeom>
          <a:ln w="127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737360" y="2971800"/>
            <a:ext cx="1463040" cy="182880"/>
          </a:xfrm>
          <a:prstGeom prst="rect">
            <a:avLst/>
          </a:prstGeom>
          <a:noFill/>
        </p:spPr>
        <p:txBody>
          <a:bodyPr wrap="square" lIns="0" rIns="0" tIns="0" bIns="0" anchor="t">
            <a:spAutoFit/>
          </a:bodyPr>
          <a:lstStyle/>
          <a:p>
            <a:pPr algn="ctr"/>
            <a:r>
              <a:rPr sz="750" b="0" i="0">
                <a:solidFill>
                  <a:srgbClr val="333333"/>
                </a:solidFill>
                <a:latin typeface="Montserrat"/>
              </a:rPr>
              <a:t>time →</a:t>
            </a:r>
          </a:p>
        </p:txBody>
      </p:sp>
      <p:sp>
        <p:nvSpPr>
          <p:cNvPr id="11" name="TextBox 10"/>
          <p:cNvSpPr txBox="1"/>
          <p:nvPr/>
        </p:nvSpPr>
        <p:spPr>
          <a:xfrm>
            <a:off x="5806440" y="2148840"/>
            <a:ext cx="2926080" cy="1280160"/>
          </a:xfrm>
          <a:prstGeom prst="rect">
            <a:avLst/>
          </a:prstGeom>
          <a:noFill/>
        </p:spPr>
        <p:txBody>
          <a:bodyPr wrap="square" lIns="0" rIns="0" tIns="0" bIns="0" anchor="t">
            <a:spAutoFit/>
          </a:bodyPr>
          <a:lstStyle/>
          <a:p>
            <a:pPr algn="l"/>
            <a:r>
              <a:rPr sz="1030" b="1" i="0">
                <a:solidFill>
                  <a:srgbClr val="1F3A5F"/>
                </a:solidFill>
                <a:latin typeface="Montserrat"/>
              </a:rPr>
              <a:t>Result: both pairs moved from
a net loss to a net profit.
This single change mattered more
than every indicator tested.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Results — Held-Out Test Set, Costs Included</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21</a:t>
            </a:r>
          </a:p>
        </p:txBody>
      </p:sp>
      <p:sp>
        <p:nvSpPr>
          <p:cNvPr id="5" name="TextBox 4"/>
          <p:cNvSpPr txBox="1"/>
          <p:nvPr/>
        </p:nvSpPr>
        <p:spPr>
          <a:xfrm>
            <a:off x="411480" y="932688"/>
            <a:ext cx="8321040" cy="274320"/>
          </a:xfrm>
          <a:prstGeom prst="rect">
            <a:avLst/>
          </a:prstGeom>
          <a:noFill/>
        </p:spPr>
        <p:txBody>
          <a:bodyPr wrap="square" lIns="0" rIns="0" tIns="0" bIns="0" anchor="t">
            <a:spAutoFit/>
          </a:bodyPr>
          <a:lstStyle/>
          <a:p>
            <a:pPr algn="l"/>
            <a:r>
              <a:rPr sz="1080" b="0" i="0">
                <a:solidFill>
                  <a:srgbClr val="1A1A1A"/>
                </a:solidFill>
                <a:latin typeface="Montserrat"/>
              </a:rPr>
              <a:t>Test period 20 January – 12 June 2026 (2,456 hourly candles, never seen during training):</a:t>
            </a:r>
          </a:p>
        </p:txBody>
      </p:sp>
      <p:graphicFrame>
        <p:nvGraphicFramePr>
          <p:cNvPr id="6" name="Table 5"/>
          <p:cNvGraphicFramePr>
            <a:graphicFrameLocks noGrp="1"/>
          </p:cNvGraphicFramePr>
          <p:nvPr/>
        </p:nvGraphicFramePr>
        <p:xfrm>
          <a:off x="411480" y="1316736"/>
          <a:ext cx="8321040" cy="1901952"/>
        </p:xfrm>
        <a:graphic>
          <a:graphicData uri="http://schemas.openxmlformats.org/drawingml/2006/table">
            <a:tbl>
              <a:tblPr firstRow="1" bandRow="1">
                <a:tableStyleId>{5C22544A-7EE6-4342-B048-85BDC9FD1C3A}</a:tableStyleId>
              </a:tblPr>
              <a:tblGrid>
                <a:gridCol w="2651760"/>
                <a:gridCol w="1371600"/>
                <a:gridCol w="2148840"/>
                <a:gridCol w="2148840"/>
              </a:tblGrid>
              <a:tr h="237744">
                <a:tc>
                  <a:txBody>
                    <a:bodyPr wrap="square"/>
                    <a:lstStyle/>
                    <a:p>
                      <a:pPr algn="l"/>
                      <a:r>
                        <a:rPr sz="850" b="1" i="0">
                          <a:solidFill>
                            <a:srgbClr val="FFFFFF"/>
                          </a:solidFill>
                          <a:latin typeface="Montserrat"/>
                        </a:rPr>
                        <a:t>Metric</a:t>
                      </a:r>
                    </a:p>
                  </a:txBody>
                  <a:tcPr marL="45720" marR="45720" marT="18288" marB="18288" anchor="ctr">
                    <a:solidFill>
                      <a:srgbClr val="1F3A5F"/>
                    </a:solidFill>
                  </a:tcPr>
                </a:tc>
                <a:tc>
                  <a:txBody>
                    <a:bodyPr wrap="square"/>
                    <a:lstStyle/>
                    <a:p>
                      <a:pPr algn="ctr"/>
                      <a:r>
                        <a:rPr sz="850" b="1" i="0">
                          <a:solidFill>
                            <a:srgbClr val="FFFFFF"/>
                          </a:solidFill>
                          <a:latin typeface="Montserrat"/>
                        </a:rPr>
                        <a:t>Target</a:t>
                      </a:r>
                    </a:p>
                  </a:txBody>
                  <a:tcPr marL="45720" marR="45720" marT="18288" marB="18288" anchor="ctr">
                    <a:solidFill>
                      <a:srgbClr val="1F3A5F"/>
                    </a:solidFill>
                  </a:tcPr>
                </a:tc>
                <a:tc>
                  <a:txBody>
                    <a:bodyPr wrap="square"/>
                    <a:lstStyle/>
                    <a:p>
                      <a:pPr algn="ctr"/>
                      <a:r>
                        <a:rPr sz="850" b="1" i="0">
                          <a:solidFill>
                            <a:srgbClr val="FFFFFF"/>
                          </a:solidFill>
                          <a:latin typeface="Montserrat"/>
                        </a:rPr>
                        <a:t>EUR/USD</a:t>
                      </a:r>
                    </a:p>
                  </a:txBody>
                  <a:tcPr marL="45720" marR="45720" marT="18288" marB="18288" anchor="ctr">
                    <a:solidFill>
                      <a:srgbClr val="1F3A5F"/>
                    </a:solidFill>
                  </a:tcPr>
                </a:tc>
                <a:tc>
                  <a:txBody>
                    <a:bodyPr wrap="square"/>
                    <a:lstStyle/>
                    <a:p>
                      <a:pPr algn="ctr"/>
                      <a:r>
                        <a:rPr sz="850" b="1" i="0">
                          <a:solidFill>
                            <a:srgbClr val="FFFFFF"/>
                          </a:solidFill>
                          <a:latin typeface="Montserrat"/>
                        </a:rPr>
                        <a:t>GBP/USD</a:t>
                      </a:r>
                    </a:p>
                  </a:txBody>
                  <a:tcPr marL="45720" marR="45720" marT="18288" marB="18288" anchor="ctr">
                    <a:solidFill>
                      <a:srgbClr val="1F3A5F"/>
                    </a:solidFill>
                  </a:tcPr>
                </a:tc>
              </a:tr>
              <a:tr h="237744">
                <a:tc>
                  <a:txBody>
                    <a:bodyPr wrap="square"/>
                    <a:lstStyle/>
                    <a:p>
                      <a:pPr algn="l"/>
                      <a:r>
                        <a:rPr sz="850" b="0" i="0">
                          <a:solidFill>
                            <a:srgbClr val="1A1A1A"/>
                          </a:solidFill>
                          <a:latin typeface="Montserrat"/>
                        </a:rPr>
                        <a:t>Win rate</a:t>
                      </a:r>
                    </a:p>
                  </a:txBody>
                  <a:tcPr marL="45720" marR="45720" marT="18288" marB="18288" anchor="ctr">
                    <a:solidFill>
                      <a:srgbClr val="FFFFFF"/>
                    </a:solidFill>
                  </a:tcPr>
                </a:tc>
                <a:tc>
                  <a:txBody>
                    <a:bodyPr wrap="square"/>
                    <a:lstStyle/>
                    <a:p>
                      <a:pPr algn="ctr"/>
                      <a:r>
                        <a:rPr sz="850" b="0" i="0">
                          <a:solidFill>
                            <a:srgbClr val="1A1A1A"/>
                          </a:solidFill>
                          <a:latin typeface="Montserrat"/>
                        </a:rPr>
                        <a:t>&gt; 60%</a:t>
                      </a:r>
                    </a:p>
                  </a:txBody>
                  <a:tcPr marL="45720" marR="45720" marT="18288" marB="18288" anchor="ctr">
                    <a:solidFill>
                      <a:srgbClr val="FFFFFF"/>
                    </a:solidFill>
                  </a:tcPr>
                </a:tc>
                <a:tc>
                  <a:txBody>
                    <a:bodyPr wrap="square"/>
                    <a:lstStyle/>
                    <a:p>
                      <a:pPr algn="ctr"/>
                      <a:r>
                        <a:rPr sz="850" b="0" i="0">
                          <a:solidFill>
                            <a:srgbClr val="1B6B3A"/>
                          </a:solidFill>
                          <a:latin typeface="Montserrat"/>
                        </a:rPr>
                        <a:t>73.3%  PASS</a:t>
                      </a:r>
                    </a:p>
                  </a:txBody>
                  <a:tcPr marL="45720" marR="45720" marT="18288" marB="18288" anchor="ctr">
                    <a:solidFill>
                      <a:srgbClr val="FFFFFF"/>
                    </a:solidFill>
                  </a:tcPr>
                </a:tc>
                <a:tc>
                  <a:txBody>
                    <a:bodyPr wrap="square"/>
                    <a:lstStyle/>
                    <a:p>
                      <a:pPr algn="ctr"/>
                      <a:r>
                        <a:rPr sz="850" b="0" i="0">
                          <a:solidFill>
                            <a:srgbClr val="1B6B3A"/>
                          </a:solidFill>
                          <a:latin typeface="Montserrat"/>
                        </a:rPr>
                        <a:t>78.4%  PASS</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95% confidence interval</a:t>
                      </a:r>
                    </a:p>
                  </a:txBody>
                  <a:tcPr marL="45720" marR="45720" marT="18288" marB="18288" anchor="ctr">
                    <a:solidFill>
                      <a:srgbClr val="F7F9FB"/>
                    </a:solidFill>
                  </a:tcPr>
                </a:tc>
                <a:tc>
                  <a:txBody>
                    <a:bodyPr wrap="square"/>
                    <a:lstStyle/>
                    <a:p>
                      <a:pPr algn="ctr"/>
                      <a:r>
                        <a:rPr sz="850" b="0" i="0">
                          <a:solidFill>
                            <a:srgbClr val="1A1A1A"/>
                          </a:solidFill>
                          <a:latin typeface="Montserrat"/>
                        </a:rPr>
                        <a:t>—</a:t>
                      </a:r>
                    </a:p>
                  </a:txBody>
                  <a:tcPr marL="45720" marR="45720" marT="18288" marB="18288" anchor="ctr">
                    <a:solidFill>
                      <a:srgbClr val="F7F9FB"/>
                    </a:solidFill>
                  </a:tcPr>
                </a:tc>
                <a:tc>
                  <a:txBody>
                    <a:bodyPr wrap="square"/>
                    <a:lstStyle/>
                    <a:p>
                      <a:pPr algn="ctr"/>
                      <a:r>
                        <a:rPr sz="850" b="0" i="0">
                          <a:solidFill>
                            <a:srgbClr val="1A1A1A"/>
                          </a:solidFill>
                          <a:latin typeface="Montserrat"/>
                        </a:rPr>
                        <a:t>[55.6% – 85.8%]</a:t>
                      </a:r>
                    </a:p>
                  </a:txBody>
                  <a:tcPr marL="45720" marR="45720" marT="18288" marB="18288" anchor="ctr">
                    <a:solidFill>
                      <a:srgbClr val="F7F9FB"/>
                    </a:solidFill>
                  </a:tcPr>
                </a:tc>
                <a:tc>
                  <a:txBody>
                    <a:bodyPr wrap="square"/>
                    <a:lstStyle/>
                    <a:p>
                      <a:pPr algn="ctr"/>
                      <a:r>
                        <a:rPr sz="850" b="0" i="0">
                          <a:solidFill>
                            <a:srgbClr val="1A1A1A"/>
                          </a:solidFill>
                          <a:latin typeface="Montserrat"/>
                        </a:rPr>
                        <a:t>[62.8% – 88.6%]</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Profit factor</a:t>
                      </a:r>
                    </a:p>
                  </a:txBody>
                  <a:tcPr marL="45720" marR="45720" marT="18288" marB="18288" anchor="ctr">
                    <a:solidFill>
                      <a:srgbClr val="FFFFFF"/>
                    </a:solidFill>
                  </a:tcPr>
                </a:tc>
                <a:tc>
                  <a:txBody>
                    <a:bodyPr wrap="square"/>
                    <a:lstStyle/>
                    <a:p>
                      <a:pPr algn="ctr"/>
                      <a:r>
                        <a:rPr sz="850" b="0" i="0">
                          <a:solidFill>
                            <a:srgbClr val="1A1A1A"/>
                          </a:solidFill>
                          <a:latin typeface="Montserrat"/>
                        </a:rPr>
                        <a:t>&gt; 1.5</a:t>
                      </a:r>
                    </a:p>
                  </a:txBody>
                  <a:tcPr marL="45720" marR="45720" marT="18288" marB="18288" anchor="ctr">
                    <a:solidFill>
                      <a:srgbClr val="FFFFFF"/>
                    </a:solidFill>
                  </a:tcPr>
                </a:tc>
                <a:tc>
                  <a:txBody>
                    <a:bodyPr wrap="square"/>
                    <a:lstStyle/>
                    <a:p>
                      <a:pPr algn="ctr"/>
                      <a:r>
                        <a:rPr sz="850" b="0" i="0">
                          <a:solidFill>
                            <a:srgbClr val="A31D1D"/>
                          </a:solidFill>
                          <a:latin typeface="Montserrat"/>
                        </a:rPr>
                        <a:t>1.34  FAIL</a:t>
                      </a:r>
                    </a:p>
                  </a:txBody>
                  <a:tcPr marL="45720" marR="45720" marT="18288" marB="18288" anchor="ctr">
                    <a:solidFill>
                      <a:srgbClr val="FFFFFF"/>
                    </a:solidFill>
                  </a:tcPr>
                </a:tc>
                <a:tc>
                  <a:txBody>
                    <a:bodyPr wrap="square"/>
                    <a:lstStyle/>
                    <a:p>
                      <a:pPr algn="ctr"/>
                      <a:r>
                        <a:rPr sz="850" b="0" i="0">
                          <a:solidFill>
                            <a:srgbClr val="1B6B3A"/>
                          </a:solidFill>
                          <a:latin typeface="Montserrat"/>
                        </a:rPr>
                        <a:t>1.62  PASS</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Maximum drawdown</a:t>
                      </a:r>
                    </a:p>
                  </a:txBody>
                  <a:tcPr marL="45720" marR="45720" marT="18288" marB="18288" anchor="ctr">
                    <a:solidFill>
                      <a:srgbClr val="F7F9FB"/>
                    </a:solidFill>
                  </a:tcPr>
                </a:tc>
                <a:tc>
                  <a:txBody>
                    <a:bodyPr wrap="square"/>
                    <a:lstStyle/>
                    <a:p>
                      <a:pPr algn="ctr"/>
                      <a:r>
                        <a:rPr sz="850" b="0" i="0">
                          <a:solidFill>
                            <a:srgbClr val="1A1A1A"/>
                          </a:solidFill>
                          <a:latin typeface="Montserrat"/>
                        </a:rPr>
                        <a:t>&lt; 15%</a:t>
                      </a:r>
                    </a:p>
                  </a:txBody>
                  <a:tcPr marL="45720" marR="45720" marT="18288" marB="18288" anchor="ctr">
                    <a:solidFill>
                      <a:srgbClr val="F7F9FB"/>
                    </a:solidFill>
                  </a:tcPr>
                </a:tc>
                <a:tc>
                  <a:txBody>
                    <a:bodyPr wrap="square"/>
                    <a:lstStyle/>
                    <a:p>
                      <a:pPr algn="ctr"/>
                      <a:r>
                        <a:rPr sz="850" b="0" i="0">
                          <a:solidFill>
                            <a:srgbClr val="1B6B3A"/>
                          </a:solidFill>
                          <a:latin typeface="Montserrat"/>
                        </a:rPr>
                        <a:t>1.5%  PASS</a:t>
                      </a:r>
                    </a:p>
                  </a:txBody>
                  <a:tcPr marL="45720" marR="45720" marT="18288" marB="18288" anchor="ctr">
                    <a:solidFill>
                      <a:srgbClr val="F7F9FB"/>
                    </a:solidFill>
                  </a:tcPr>
                </a:tc>
                <a:tc>
                  <a:txBody>
                    <a:bodyPr wrap="square"/>
                    <a:lstStyle/>
                    <a:p>
                      <a:pPr algn="ctr"/>
                      <a:r>
                        <a:rPr sz="850" b="0" i="0">
                          <a:solidFill>
                            <a:srgbClr val="1B6B3A"/>
                          </a:solidFill>
                          <a:latin typeface="Montserrat"/>
                        </a:rPr>
                        <a:t>2.5%  PASS</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Sharpe (per-trade)</a:t>
                      </a:r>
                    </a:p>
                  </a:txBody>
                  <a:tcPr marL="45720" marR="45720" marT="18288" marB="18288" anchor="ctr">
                    <a:solidFill>
                      <a:srgbClr val="FFFFFF"/>
                    </a:solidFill>
                  </a:tcPr>
                </a:tc>
                <a:tc>
                  <a:txBody>
                    <a:bodyPr wrap="square"/>
                    <a:lstStyle/>
                    <a:p>
                      <a:pPr algn="ctr"/>
                      <a:r>
                        <a:rPr sz="850" b="0" i="0">
                          <a:solidFill>
                            <a:srgbClr val="1A1A1A"/>
                          </a:solidFill>
                          <a:latin typeface="Montserrat"/>
                        </a:rPr>
                        <a:t>&gt; 1.0</a:t>
                      </a:r>
                    </a:p>
                  </a:txBody>
                  <a:tcPr marL="45720" marR="45720" marT="18288" marB="18288" anchor="ctr">
                    <a:solidFill>
                      <a:srgbClr val="FFFFFF"/>
                    </a:solidFill>
                  </a:tcPr>
                </a:tc>
                <a:tc>
                  <a:txBody>
                    <a:bodyPr wrap="square"/>
                    <a:lstStyle/>
                    <a:p>
                      <a:pPr algn="ctr"/>
                      <a:r>
                        <a:rPr sz="850" b="0" i="0">
                          <a:solidFill>
                            <a:srgbClr val="A31D1D"/>
                          </a:solidFill>
                          <a:latin typeface="Montserrat"/>
                        </a:rPr>
                        <a:t>0.13  FAIL</a:t>
                      </a:r>
                    </a:p>
                  </a:txBody>
                  <a:tcPr marL="45720" marR="45720" marT="18288" marB="18288" anchor="ctr">
                    <a:solidFill>
                      <a:srgbClr val="FFFFFF"/>
                    </a:solidFill>
                  </a:tcPr>
                </a:tc>
                <a:tc>
                  <a:txBody>
                    <a:bodyPr wrap="square"/>
                    <a:lstStyle/>
                    <a:p>
                      <a:pPr algn="ctr"/>
                      <a:r>
                        <a:rPr sz="850" b="0" i="0">
                          <a:solidFill>
                            <a:srgbClr val="A31D1D"/>
                          </a:solidFill>
                          <a:latin typeface="Montserrat"/>
                        </a:rPr>
                        <a:t>0.22  FAIL</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Net profit / trades</a:t>
                      </a:r>
                    </a:p>
                  </a:txBody>
                  <a:tcPr marL="45720" marR="45720" marT="18288" marB="18288" anchor="ctr">
                    <a:solidFill>
                      <a:srgbClr val="F7F9FB"/>
                    </a:solidFill>
                  </a:tcPr>
                </a:tc>
                <a:tc>
                  <a:txBody>
                    <a:bodyPr wrap="square"/>
                    <a:lstStyle/>
                    <a:p>
                      <a:pPr algn="ctr"/>
                      <a:r>
                        <a:rPr sz="850" b="0" i="0">
                          <a:solidFill>
                            <a:srgbClr val="1A1A1A"/>
                          </a:solidFill>
                          <a:latin typeface="Montserrat"/>
                        </a:rPr>
                        <a:t>—</a:t>
                      </a:r>
                    </a:p>
                  </a:txBody>
                  <a:tcPr marL="45720" marR="45720" marT="18288" marB="18288" anchor="ctr">
                    <a:solidFill>
                      <a:srgbClr val="F7F9FB"/>
                    </a:solidFill>
                  </a:tcPr>
                </a:tc>
                <a:tc>
                  <a:txBody>
                    <a:bodyPr wrap="square"/>
                    <a:lstStyle/>
                    <a:p>
                      <a:pPr algn="ctr"/>
                      <a:r>
                        <a:rPr sz="850" b="0" i="0">
                          <a:solidFill>
                            <a:srgbClr val="1A1A1A"/>
                          </a:solidFill>
                          <a:latin typeface="Montserrat"/>
                        </a:rPr>
                        <a:t>+$256.57  (30)</a:t>
                      </a:r>
                    </a:p>
                  </a:txBody>
                  <a:tcPr marL="45720" marR="45720" marT="18288" marB="18288" anchor="ctr">
                    <a:solidFill>
                      <a:srgbClr val="F7F9FB"/>
                    </a:solidFill>
                  </a:tcPr>
                </a:tc>
                <a:tc>
                  <a:txBody>
                    <a:bodyPr wrap="square"/>
                    <a:lstStyle/>
                    <a:p>
                      <a:pPr algn="ctr"/>
                      <a:r>
                        <a:rPr sz="850" b="0" i="0">
                          <a:solidFill>
                            <a:srgbClr val="1A1A1A"/>
                          </a:solidFill>
                          <a:latin typeface="Montserrat"/>
                        </a:rPr>
                        <a:t>+$531.82  (37)</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Targets met</a:t>
                      </a:r>
                    </a:p>
                  </a:txBody>
                  <a:tcPr marL="45720" marR="45720" marT="18288" marB="18288" anchor="ctr">
                    <a:solidFill>
                      <a:srgbClr val="FFFFFF"/>
                    </a:solidFill>
                  </a:tcPr>
                </a:tc>
                <a:tc>
                  <a:txBody>
                    <a:bodyPr wrap="square"/>
                    <a:lstStyle/>
                    <a:p>
                      <a:pPr algn="ctr"/>
                      <a:r>
                        <a:rPr sz="850" b="0" i="0">
                          <a:solidFill>
                            <a:srgbClr val="1A1A1A"/>
                          </a:solidFill>
                          <a:latin typeface="Montserrat"/>
                        </a:rPr>
                        <a:t>—</a:t>
                      </a:r>
                    </a:p>
                  </a:txBody>
                  <a:tcPr marL="45720" marR="45720" marT="18288" marB="18288" anchor="ctr">
                    <a:solidFill>
                      <a:srgbClr val="FFFFFF"/>
                    </a:solidFill>
                  </a:tcPr>
                </a:tc>
                <a:tc>
                  <a:txBody>
                    <a:bodyPr wrap="square"/>
                    <a:lstStyle/>
                    <a:p>
                      <a:pPr algn="ctr"/>
                      <a:r>
                        <a:rPr sz="850" b="0" i="0">
                          <a:solidFill>
                            <a:srgbClr val="1A1A1A"/>
                          </a:solidFill>
                          <a:latin typeface="Montserrat"/>
                        </a:rPr>
                        <a:t>2 of 4</a:t>
                      </a:r>
                    </a:p>
                  </a:txBody>
                  <a:tcPr marL="45720" marR="45720" marT="18288" marB="18288" anchor="ctr">
                    <a:solidFill>
                      <a:srgbClr val="FFFFFF"/>
                    </a:solidFill>
                  </a:tcPr>
                </a:tc>
                <a:tc>
                  <a:txBody>
                    <a:bodyPr wrap="square"/>
                    <a:lstStyle/>
                    <a:p>
                      <a:pPr algn="ctr"/>
                      <a:r>
                        <a:rPr sz="850" b="0" i="0">
                          <a:solidFill>
                            <a:srgbClr val="1A1A1A"/>
                          </a:solidFill>
                          <a:latin typeface="Montserrat"/>
                        </a:rPr>
                        <a:t>3 of 4</a:t>
                      </a:r>
                    </a:p>
                  </a:txBody>
                  <a:tcPr marL="45720" marR="45720" marT="18288" marB="18288" anchor="ctr">
                    <a:solidFill>
                      <a:srgbClr val="FFFFFF"/>
                    </a:solidFill>
                  </a:tcPr>
                </a:tc>
              </a:tr>
            </a:tbl>
          </a:graphicData>
        </a:graphic>
      </p:graphicFrame>
      <p:sp>
        <p:nvSpPr>
          <p:cNvPr id="7" name="TextBox 6"/>
          <p:cNvSpPr txBox="1"/>
          <p:nvPr/>
        </p:nvSpPr>
        <p:spPr>
          <a:xfrm>
            <a:off x="411480" y="3813048"/>
            <a:ext cx="8321040" cy="457200"/>
          </a:xfrm>
          <a:prstGeom prst="rect">
            <a:avLst/>
          </a:prstGeom>
          <a:noFill/>
        </p:spPr>
        <p:txBody>
          <a:bodyPr wrap="square" lIns="0" rIns="0" tIns="0" bIns="0" anchor="t">
            <a:spAutoFit/>
          </a:bodyPr>
          <a:lstStyle/>
          <a:p>
            <a:pPr algn="l"/>
            <a:r>
              <a:rPr sz="890" b="0" i="1">
                <a:solidFill>
                  <a:srgbClr val="555555"/>
                </a:solidFill>
                <a:latin typeface="Montserrat"/>
              </a:rPr>
              <a:t>Sharpe is reported per-trade and unannualised; the &gt; 1.0 benchmark is conventionally an annualised figure, so the two are not directly comparable. This is stated as a limitation rather than adjusted.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Results — How Much of This Is Actually the Model?</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22</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400"/>
              </a:spcAft>
            </a:pPr>
            <a:r>
              <a:rPr sz="1080" b="1" i="0">
                <a:solidFill>
                  <a:srgbClr val="1A1A1A"/>
                </a:solidFill>
                <a:latin typeface="Montserrat"/>
              </a:rPr>
              <a:t>•  A win rate alone can be manufactured by exit geometry.</a:t>
            </a:r>
          </a:p>
          <a:p>
            <a:pPr lvl="1">
              <a:spcAft>
                <a:spcPts val="400"/>
              </a:spcAft>
            </a:pPr>
            <a:r>
              <a:rPr sz="990" b="0" i="0">
                <a:solidFill>
                  <a:srgbClr val="333333"/>
                </a:solidFill>
                <a:latin typeface="Montserrat"/>
              </a:rPr>
              <a:t>–  With a stop-loss three times wider than the take-profit, most trades close as small wins. To test this, the same exits were run with a RANDOM trade direction: that baseline wins 67–69%.</a:t>
            </a:r>
          </a:p>
          <a:p>
            <a:pPr lvl="1">
              <a:spcAft>
                <a:spcPts val="400"/>
              </a:spcAft>
            </a:pPr>
            <a:r>
              <a:rPr sz="990" b="0" i="0">
                <a:solidFill>
                  <a:srgbClr val="333333"/>
                </a:solidFill>
                <a:latin typeface="Montserrat"/>
              </a:rPr>
              <a:t>–  So the 73–78% headline win rate is mostly geometry, not prediction.</a:t>
            </a:r>
          </a:p>
          <a:p>
            <a:pPr>
              <a:spcAft>
                <a:spcPts val="400"/>
              </a:spcAft>
            </a:pPr>
            <a:r>
              <a:rPr sz="1080" b="1" i="0">
                <a:solidFill>
                  <a:srgbClr val="1A1A1A"/>
                </a:solidFill>
                <a:latin typeface="Montserrat"/>
              </a:rPr>
              <a:t>•  Where the model's edge does show:</a:t>
            </a:r>
          </a:p>
          <a:p>
            <a:pPr lvl="1">
              <a:spcAft>
                <a:spcPts val="400"/>
              </a:spcAft>
            </a:pPr>
            <a:r>
              <a:rPr sz="990" b="0" i="0">
                <a:solidFill>
                  <a:srgbClr val="333333"/>
                </a:solidFill>
                <a:latin typeface="Montserrat"/>
              </a:rPr>
              <a:t>–  Profit factor. Against every random-direction seed, the trained model wins on profit factor — the metric that measures whether the trades KEPT were better than the trades SKIPPED.</a:t>
            </a:r>
          </a:p>
          <a:p>
            <a:pPr>
              <a:spcAft>
                <a:spcPts val="400"/>
              </a:spcAft>
            </a:pPr>
            <a:r>
              <a:rPr sz="1080" b="1" i="0">
                <a:solidFill>
                  <a:srgbClr val="1A1A1A"/>
                </a:solidFill>
                <a:latin typeface="Montserrat"/>
              </a:rPr>
              <a:t>•  Remaining honest caveats:</a:t>
            </a:r>
          </a:p>
          <a:p>
            <a:pPr lvl="1">
              <a:spcAft>
                <a:spcPts val="400"/>
              </a:spcAft>
            </a:pPr>
            <a:r>
              <a:rPr sz="990" b="0" i="0">
                <a:solidFill>
                  <a:srgbClr val="333333"/>
                </a:solidFill>
                <a:latin typeface="Montserrat"/>
              </a:rPr>
              <a:t>–  Only ~30 trades per pair, hence the wide confidence intervals.</a:t>
            </a:r>
          </a:p>
          <a:p>
            <a:pPr lvl="1">
              <a:spcAft>
                <a:spcPts val="400"/>
              </a:spcAft>
            </a:pPr>
            <a:r>
              <a:rPr sz="990" b="0" i="0">
                <a:solidFill>
                  <a:srgbClr val="333333"/>
                </a:solidFill>
                <a:latin typeface="Montserrat"/>
              </a:rPr>
              <a:t>–  The training label is long-only with a 24-bar horizon, while live trades take both directions and are held to their barriers — a documented inconsistency.</a:t>
            </a:r>
          </a:p>
          <a:p>
            <a:pPr lvl="1">
              <a:spcAft>
                <a:spcPts val="400"/>
              </a:spcAft>
            </a:pPr>
            <a:r>
              <a:rPr sz="990" b="0" i="0">
                <a:solidFill>
                  <a:srgbClr val="333333"/>
                </a:solidFill>
                <a:latin typeface="Montserrat"/>
              </a:rPr>
              <a:t>–  Execution latency was measured only on a demo account, not at scale.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Results — Six Measured Negative Results</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23</a:t>
            </a:r>
          </a:p>
        </p:txBody>
      </p:sp>
      <p:sp>
        <p:nvSpPr>
          <p:cNvPr id="5" name="TextBox 4"/>
          <p:cNvSpPr txBox="1"/>
          <p:nvPr/>
        </p:nvSpPr>
        <p:spPr>
          <a:xfrm>
            <a:off x="411480" y="932688"/>
            <a:ext cx="8321040" cy="274320"/>
          </a:xfrm>
          <a:prstGeom prst="rect">
            <a:avLst/>
          </a:prstGeom>
          <a:noFill/>
        </p:spPr>
        <p:txBody>
          <a:bodyPr wrap="square" lIns="0" rIns="0" tIns="0" bIns="0" anchor="t">
            <a:spAutoFit/>
          </a:bodyPr>
          <a:lstStyle/>
          <a:p>
            <a:pPr algn="l"/>
            <a:r>
              <a:rPr sz="1030" b="0" i="0">
                <a:solidFill>
                  <a:srgbClr val="1A1A1A"/>
                </a:solidFill>
                <a:latin typeface="Montserrat"/>
              </a:rPr>
              <a:t>Each feature was added alone, retrained, and measured on both pairs. None improved both, so all are switched off — with the code kept.</a:t>
            </a:r>
          </a:p>
        </p:txBody>
      </p:sp>
      <p:graphicFrame>
        <p:nvGraphicFramePr>
          <p:cNvPr id="6" name="Table 5"/>
          <p:cNvGraphicFramePr>
            <a:graphicFrameLocks noGrp="1"/>
          </p:cNvGraphicFramePr>
          <p:nvPr/>
        </p:nvGraphicFramePr>
        <p:xfrm>
          <a:off x="411480" y="1316736"/>
          <a:ext cx="8321040" cy="1664208"/>
        </p:xfrm>
        <a:graphic>
          <a:graphicData uri="http://schemas.openxmlformats.org/drawingml/2006/table">
            <a:tbl>
              <a:tblPr firstRow="1" bandRow="1">
                <a:tableStyleId>{5C22544A-7EE6-4342-B048-85BDC9FD1C3A}</a:tableStyleId>
              </a:tblPr>
              <a:tblGrid>
                <a:gridCol w="2743200"/>
                <a:gridCol w="2194560"/>
                <a:gridCol w="3383280"/>
              </a:tblGrid>
              <a:tr h="237744">
                <a:tc>
                  <a:txBody>
                    <a:bodyPr wrap="square"/>
                    <a:lstStyle/>
                    <a:p>
                      <a:pPr algn="l"/>
                      <a:r>
                        <a:rPr sz="850" b="1" i="0">
                          <a:solidFill>
                            <a:srgbClr val="FFFFFF"/>
                          </a:solidFill>
                          <a:latin typeface="Montserrat"/>
                        </a:rPr>
                        <a:t>Feature tested</a:t>
                      </a:r>
                    </a:p>
                  </a:txBody>
                  <a:tcPr marL="45720" marR="45720" marT="18288" marB="18288" anchor="ctr">
                    <a:solidFill>
                      <a:srgbClr val="1F3A5F"/>
                    </a:solidFill>
                  </a:tcPr>
                </a:tc>
                <a:tc>
                  <a:txBody>
                    <a:bodyPr wrap="square"/>
                    <a:lstStyle/>
                    <a:p>
                      <a:pPr algn="ctr"/>
                      <a:r>
                        <a:rPr sz="850" b="1" i="0">
                          <a:solidFill>
                            <a:srgbClr val="FFFFFF"/>
                          </a:solidFill>
                          <a:latin typeface="Montserrat"/>
                        </a:rPr>
                        <a:t>In the literature?</a:t>
                      </a:r>
                    </a:p>
                  </a:txBody>
                  <a:tcPr marL="45720" marR="45720" marT="18288" marB="18288" anchor="ctr">
                    <a:solidFill>
                      <a:srgbClr val="1F3A5F"/>
                    </a:solidFill>
                  </a:tcPr>
                </a:tc>
                <a:tc>
                  <a:txBody>
                    <a:bodyPr wrap="square"/>
                    <a:lstStyle/>
                    <a:p>
                      <a:pPr algn="ctr"/>
                      <a:r>
                        <a:rPr sz="850" b="1" i="0">
                          <a:solidFill>
                            <a:srgbClr val="FFFFFF"/>
                          </a:solidFill>
                          <a:latin typeface="Montserrat"/>
                        </a:rPr>
                        <a:t>Measured outcome</a:t>
                      </a:r>
                    </a:p>
                  </a:txBody>
                  <a:tcPr marL="45720" marR="45720" marT="18288" marB="18288" anchor="ctr">
                    <a:solidFill>
                      <a:srgbClr val="1F3A5F"/>
                    </a:solidFill>
                  </a:tcPr>
                </a:tc>
              </a:tr>
              <a:tr h="237744">
                <a:tc>
                  <a:txBody>
                    <a:bodyPr wrap="square"/>
                    <a:lstStyle/>
                    <a:p>
                      <a:pPr algn="l"/>
                      <a:r>
                        <a:rPr sz="850" b="0" i="0">
                          <a:solidFill>
                            <a:srgbClr val="1A1A1A"/>
                          </a:solidFill>
                          <a:latin typeface="Montserrat"/>
                        </a:rPr>
                        <a:t>RSI</a:t>
                      </a:r>
                    </a:p>
                  </a:txBody>
                  <a:tcPr marL="45720" marR="45720" marT="18288" marB="18288" anchor="ctr">
                    <a:solidFill>
                      <a:srgbClr val="FFFFFF"/>
                    </a:solidFill>
                  </a:tcPr>
                </a:tc>
                <a:tc>
                  <a:txBody>
                    <a:bodyPr wrap="square"/>
                    <a:lstStyle/>
                    <a:p>
                      <a:pPr algn="ctr"/>
                      <a:r>
                        <a:rPr sz="850" b="0" i="0">
                          <a:solidFill>
                            <a:srgbClr val="1A1A1A"/>
                          </a:solidFill>
                          <a:latin typeface="Montserrat"/>
                        </a:rPr>
                        <a:t>Yes (Chong et al.)</a:t>
                      </a:r>
                    </a:p>
                  </a:txBody>
                  <a:tcPr marL="45720" marR="45720" marT="18288" marB="18288" anchor="ctr">
                    <a:solidFill>
                      <a:srgbClr val="FFFFFF"/>
                    </a:solidFill>
                  </a:tcPr>
                </a:tc>
                <a:tc>
                  <a:txBody>
                    <a:bodyPr wrap="square"/>
                    <a:lstStyle/>
                    <a:p>
                      <a:pPr algn="ctr"/>
                      <a:r>
                        <a:rPr sz="850" b="0" i="0">
                          <a:solidFill>
                            <a:srgbClr val="1A1A1A"/>
                          </a:solidFill>
                          <a:latin typeface="Montserrat"/>
                        </a:rPr>
                        <a:t>Hurt both pairs</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MACD</a:t>
                      </a:r>
                    </a:p>
                  </a:txBody>
                  <a:tcPr marL="45720" marR="45720" marT="18288" marB="18288" anchor="ctr">
                    <a:solidFill>
                      <a:srgbClr val="F7F9FB"/>
                    </a:solidFill>
                  </a:tcPr>
                </a:tc>
                <a:tc>
                  <a:txBody>
                    <a:bodyPr wrap="square"/>
                    <a:lstStyle/>
                    <a:p>
                      <a:pPr algn="ctr"/>
                      <a:r>
                        <a:rPr sz="850" b="0" i="0">
                          <a:solidFill>
                            <a:srgbClr val="1A1A1A"/>
                          </a:solidFill>
                          <a:latin typeface="Montserrat"/>
                        </a:rPr>
                        <a:t>Yes (Chong et al.)</a:t>
                      </a:r>
                    </a:p>
                  </a:txBody>
                  <a:tcPr marL="45720" marR="45720" marT="18288" marB="18288" anchor="ctr">
                    <a:solidFill>
                      <a:srgbClr val="F7F9FB"/>
                    </a:solidFill>
                  </a:tcPr>
                </a:tc>
                <a:tc>
                  <a:txBody>
                    <a:bodyPr wrap="square"/>
                    <a:lstStyle/>
                    <a:p>
                      <a:pPr algn="ctr"/>
                      <a:r>
                        <a:rPr sz="850" b="0" i="0">
                          <a:solidFill>
                            <a:srgbClr val="1A1A1A"/>
                          </a:solidFill>
                          <a:latin typeface="Montserrat"/>
                        </a:rPr>
                        <a:t>Hurt badly — drawdown above 15%</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ATR (feature and stops)</a:t>
                      </a:r>
                    </a:p>
                  </a:txBody>
                  <a:tcPr marL="45720" marR="45720" marT="18288" marB="18288" anchor="ctr">
                    <a:solidFill>
                      <a:srgbClr val="FFFFFF"/>
                    </a:solidFill>
                  </a:tcPr>
                </a:tc>
                <a:tc>
                  <a:txBody>
                    <a:bodyPr wrap="square"/>
                    <a:lstStyle/>
                    <a:p>
                      <a:pPr algn="ctr"/>
                      <a:r>
                        <a:rPr sz="850" b="0" i="0">
                          <a:solidFill>
                            <a:srgbClr val="1A1A1A"/>
                          </a:solidFill>
                          <a:latin typeface="Montserrat"/>
                        </a:rPr>
                        <a:t>No</a:t>
                      </a:r>
                    </a:p>
                  </a:txBody>
                  <a:tcPr marL="45720" marR="45720" marT="18288" marB="18288" anchor="ctr">
                    <a:solidFill>
                      <a:srgbClr val="FFFFFF"/>
                    </a:solidFill>
                  </a:tcPr>
                </a:tc>
                <a:tc>
                  <a:txBody>
                    <a:bodyPr wrap="square"/>
                    <a:lstStyle/>
                    <a:p>
                      <a:pPr algn="ctr"/>
                      <a:r>
                        <a:rPr sz="850" b="0" i="0">
                          <a:solidFill>
                            <a:srgbClr val="1A1A1A"/>
                          </a:solidFill>
                          <a:latin typeface="Montserrat"/>
                        </a:rPr>
                        <a:t>Neutral to harmful</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Higher-timeframe trend</a:t>
                      </a:r>
                    </a:p>
                  </a:txBody>
                  <a:tcPr marL="45720" marR="45720" marT="18288" marB="18288" anchor="ctr">
                    <a:solidFill>
                      <a:srgbClr val="F7F9FB"/>
                    </a:solidFill>
                  </a:tcPr>
                </a:tc>
                <a:tc>
                  <a:txBody>
                    <a:bodyPr wrap="square"/>
                    <a:lstStyle/>
                    <a:p>
                      <a:pPr algn="ctr"/>
                      <a:r>
                        <a:rPr sz="850" b="0" i="0">
                          <a:solidFill>
                            <a:srgbClr val="1A1A1A"/>
                          </a:solidFill>
                          <a:latin typeface="Montserrat"/>
                        </a:rPr>
                        <a:t>No</a:t>
                      </a:r>
                    </a:p>
                  </a:txBody>
                  <a:tcPr marL="45720" marR="45720" marT="18288" marB="18288" anchor="ctr">
                    <a:solidFill>
                      <a:srgbClr val="F7F9FB"/>
                    </a:solidFill>
                  </a:tcPr>
                </a:tc>
                <a:tc>
                  <a:txBody>
                    <a:bodyPr wrap="square"/>
                    <a:lstStyle/>
                    <a:p>
                      <a:pPr algn="ctr"/>
                      <a:r>
                        <a:rPr sz="850" b="0" i="0">
                          <a:solidFill>
                            <a:srgbClr val="1A1A1A"/>
                          </a:solidFill>
                          <a:latin typeface="Montserrat"/>
                        </a:rPr>
                        <a:t>Helped EUR/USD, hurt GBP/USD</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Time-of-day / session</a:t>
                      </a:r>
                    </a:p>
                  </a:txBody>
                  <a:tcPr marL="45720" marR="45720" marT="18288" marB="18288" anchor="ctr">
                    <a:solidFill>
                      <a:srgbClr val="FFFFFF"/>
                    </a:solidFill>
                  </a:tcPr>
                </a:tc>
                <a:tc>
                  <a:txBody>
                    <a:bodyPr wrap="square"/>
                    <a:lstStyle/>
                    <a:p>
                      <a:pPr algn="ctr"/>
                      <a:r>
                        <a:rPr sz="850" b="0" i="0">
                          <a:solidFill>
                            <a:srgbClr val="1A1A1A"/>
                          </a:solidFill>
                          <a:latin typeface="Montserrat"/>
                        </a:rPr>
                        <a:t>No</a:t>
                      </a:r>
                    </a:p>
                  </a:txBody>
                  <a:tcPr marL="45720" marR="45720" marT="18288" marB="18288" anchor="ctr">
                    <a:solidFill>
                      <a:srgbClr val="FFFFFF"/>
                    </a:solidFill>
                  </a:tcPr>
                </a:tc>
                <a:tc>
                  <a:txBody>
                    <a:bodyPr wrap="square"/>
                    <a:lstStyle/>
                    <a:p>
                      <a:pPr algn="ctr"/>
                      <a:r>
                        <a:rPr sz="850" b="0" i="0">
                          <a:solidFill>
                            <a:srgbClr val="1A1A1A"/>
                          </a:solidFill>
                          <a:latin typeface="Montserrat"/>
                        </a:rPr>
                        <a:t>Helped EUR/USD, hurt GBP/USD</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Order blocks (SMC zones)</a:t>
                      </a:r>
                    </a:p>
                  </a:txBody>
                  <a:tcPr marL="45720" marR="45720" marT="18288" marB="18288" anchor="ctr">
                    <a:solidFill>
                      <a:srgbClr val="F7F9FB"/>
                    </a:solidFill>
                  </a:tcPr>
                </a:tc>
                <a:tc>
                  <a:txBody>
                    <a:bodyPr wrap="square"/>
                    <a:lstStyle/>
                    <a:p>
                      <a:pPr algn="ctr"/>
                      <a:r>
                        <a:rPr sz="850" b="0" i="0">
                          <a:solidFill>
                            <a:srgbClr val="1A1A1A"/>
                          </a:solidFill>
                          <a:latin typeface="Montserrat"/>
                        </a:rPr>
                        <a:t>Yes (Sirignano &amp; Cont)</a:t>
                      </a:r>
                    </a:p>
                  </a:txBody>
                  <a:tcPr marL="45720" marR="45720" marT="18288" marB="18288" anchor="ctr">
                    <a:solidFill>
                      <a:srgbClr val="F7F9FB"/>
                    </a:solidFill>
                  </a:tcPr>
                </a:tc>
                <a:tc>
                  <a:txBody>
                    <a:bodyPr wrap="square"/>
                    <a:lstStyle/>
                    <a:p>
                      <a:pPr algn="ctr"/>
                      <a:r>
                        <a:rPr sz="850" b="0" i="0">
                          <a:solidFill>
                            <a:srgbClr val="1A1A1A"/>
                          </a:solidFill>
                          <a:latin typeface="Montserrat"/>
                        </a:rPr>
                        <a:t>Helped GBP/USD only — 1 of 4 configurations</a:t>
                      </a:r>
                    </a:p>
                  </a:txBody>
                  <a:tcPr marL="45720" marR="45720" marT="18288" marB="18288" anchor="ctr">
                    <a:solidFill>
                      <a:srgbClr val="F7F9FB"/>
                    </a:solidFill>
                  </a:tcPr>
                </a:tc>
              </a:tr>
            </a:tbl>
          </a:graphicData>
        </a:graphic>
      </p:graphicFrame>
      <p:sp>
        <p:nvSpPr>
          <p:cNvPr id="7" name="TextBox 6"/>
          <p:cNvSpPr txBox="1"/>
          <p:nvPr/>
        </p:nvSpPr>
        <p:spPr>
          <a:xfrm>
            <a:off x="411480" y="3538728"/>
            <a:ext cx="8321040" cy="502920"/>
          </a:xfrm>
          <a:prstGeom prst="rect">
            <a:avLst/>
          </a:prstGeom>
          <a:noFill/>
        </p:spPr>
        <p:txBody>
          <a:bodyPr wrap="square" lIns="0" rIns="0" tIns="0" bIns="0" anchor="t">
            <a:spAutoFit/>
          </a:bodyPr>
          <a:lstStyle/>
          <a:p>
            <a:pPr algn="l"/>
            <a:r>
              <a:rPr sz="990" b="0" i="1">
                <a:solidFill>
                  <a:srgbClr val="1F3A5F"/>
                </a:solidFill>
                <a:latin typeface="Montserrat"/>
              </a:rPr>
              <a:t>Reporting these is a deliberate contribution: the widely-taught indicators did not generalise across two closely related currency pairs, which is evidence about the method, not a failure of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Case Study — Order Blocks, Tested Properly</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24</a:t>
            </a:r>
          </a:p>
        </p:txBody>
      </p:sp>
      <p:sp>
        <p:nvSpPr>
          <p:cNvPr id="5" name="TextBox 4"/>
          <p:cNvSpPr txBox="1"/>
          <p:nvPr/>
        </p:nvSpPr>
        <p:spPr>
          <a:xfrm>
            <a:off x="411480" y="932688"/>
            <a:ext cx="8321040" cy="1051560"/>
          </a:xfrm>
          <a:prstGeom prst="rect">
            <a:avLst/>
          </a:prstGeom>
          <a:noFill/>
        </p:spPr>
        <p:txBody>
          <a:bodyPr wrap="square" lIns="0" rIns="0" tIns="0" bIns="0">
            <a:spAutoFit/>
          </a:bodyPr>
          <a:lstStyle/>
          <a:p>
            <a:pPr>
              <a:spcAft>
                <a:spcPts val="400"/>
              </a:spcAft>
            </a:pPr>
            <a:r>
              <a:rPr sz="1080" b="0" i="0">
                <a:solidFill>
                  <a:srgbClr val="1A1A1A"/>
                </a:solidFill>
                <a:latin typeface="Montserrat"/>
              </a:rPr>
              <a:t>•  Order blocks are the core of the sibling live product, so the concept was implemented here and measured rather than asserted.</a:t>
            </a:r>
          </a:p>
          <a:p>
            <a:pPr lvl="1">
              <a:spcAft>
                <a:spcPts val="400"/>
              </a:spcAft>
            </a:pPr>
            <a:r>
              <a:rPr sz="990" b="0" i="0">
                <a:solidFill>
                  <a:srgbClr val="333333"/>
                </a:solidFill>
                <a:latin typeface="Montserrat"/>
              </a:rPr>
              <a:t>–  A zone is created when a candle CLOSES beyond the recent swing (a break of structure, not a wick), filtered by ATR size, and consumed when price trades back into it. The model receives distance-to-zone and an inside-zone flag.</a:t>
            </a:r>
          </a:p>
        </p:txBody>
      </p:sp>
      <p:graphicFrame>
        <p:nvGraphicFramePr>
          <p:cNvPr id="6" name="Table 5"/>
          <p:cNvGraphicFramePr>
            <a:graphicFrameLocks noGrp="1"/>
          </p:cNvGraphicFramePr>
          <p:nvPr/>
        </p:nvGraphicFramePr>
        <p:xfrm>
          <a:off x="411480" y="2029968"/>
          <a:ext cx="8321040" cy="1188720"/>
        </p:xfrm>
        <a:graphic>
          <a:graphicData uri="http://schemas.openxmlformats.org/drawingml/2006/table">
            <a:tbl>
              <a:tblPr firstRow="1" bandRow="1">
                <a:tableStyleId>{5C22544A-7EE6-4342-B048-85BDC9FD1C3A}</a:tableStyleId>
              </a:tblPr>
              <a:tblGrid>
                <a:gridCol w="2011680"/>
                <a:gridCol w="1234440"/>
                <a:gridCol w="1828800"/>
                <a:gridCol w="1828800"/>
                <a:gridCol w="1417320"/>
              </a:tblGrid>
              <a:tr h="237744">
                <a:tc>
                  <a:txBody>
                    <a:bodyPr wrap="square"/>
                    <a:lstStyle/>
                    <a:p>
                      <a:pPr algn="l"/>
                      <a:r>
                        <a:rPr sz="850" b="1" i="0">
                          <a:solidFill>
                            <a:srgbClr val="FFFFFF"/>
                          </a:solidFill>
                          <a:latin typeface="Montserrat"/>
                        </a:rPr>
                        <a:t>Configuration</a:t>
                      </a:r>
                    </a:p>
                  </a:txBody>
                  <a:tcPr marL="45720" marR="45720" marT="18288" marB="18288" anchor="ctr">
                    <a:solidFill>
                      <a:srgbClr val="1F3A5F"/>
                    </a:solidFill>
                  </a:tcPr>
                </a:tc>
                <a:tc>
                  <a:txBody>
                    <a:bodyPr wrap="square"/>
                    <a:lstStyle/>
                    <a:p>
                      <a:pPr algn="ctr"/>
                      <a:r>
                        <a:rPr sz="850" b="1" i="0">
                          <a:solidFill>
                            <a:srgbClr val="FFFFFF"/>
                          </a:solidFill>
                          <a:latin typeface="Montserrat"/>
                        </a:rPr>
                        <a:t>Pair</a:t>
                      </a:r>
                    </a:p>
                  </a:txBody>
                  <a:tcPr marL="45720" marR="45720" marT="18288" marB="18288" anchor="ctr">
                    <a:solidFill>
                      <a:srgbClr val="1F3A5F"/>
                    </a:solidFill>
                  </a:tcPr>
                </a:tc>
                <a:tc>
                  <a:txBody>
                    <a:bodyPr wrap="square"/>
                    <a:lstStyle/>
                    <a:p>
                      <a:pPr algn="ctr"/>
                      <a:r>
                        <a:rPr sz="850" b="1" i="0">
                          <a:solidFill>
                            <a:srgbClr val="FFFFFF"/>
                          </a:solidFill>
                          <a:latin typeface="Montserrat"/>
                        </a:rPr>
                        <a:t>Win rate</a:t>
                      </a:r>
                    </a:p>
                  </a:txBody>
                  <a:tcPr marL="45720" marR="45720" marT="18288" marB="18288" anchor="ctr">
                    <a:solidFill>
                      <a:srgbClr val="1F3A5F"/>
                    </a:solidFill>
                  </a:tcPr>
                </a:tc>
                <a:tc>
                  <a:txBody>
                    <a:bodyPr wrap="square"/>
                    <a:lstStyle/>
                    <a:p>
                      <a:pPr algn="ctr"/>
                      <a:r>
                        <a:rPr sz="850" b="1" i="0">
                          <a:solidFill>
                            <a:srgbClr val="FFFFFF"/>
                          </a:solidFill>
                          <a:latin typeface="Montserrat"/>
                        </a:rPr>
                        <a:t>Profit factor</a:t>
                      </a:r>
                    </a:p>
                  </a:txBody>
                  <a:tcPr marL="45720" marR="45720" marT="18288" marB="18288" anchor="ctr">
                    <a:solidFill>
                      <a:srgbClr val="1F3A5F"/>
                    </a:solidFill>
                  </a:tcPr>
                </a:tc>
                <a:tc>
                  <a:txBody>
                    <a:bodyPr wrap="square"/>
                    <a:lstStyle/>
                    <a:p>
                      <a:pPr algn="ctr"/>
                      <a:r>
                        <a:rPr sz="850" b="1" i="0">
                          <a:solidFill>
                            <a:srgbClr val="FFFFFF"/>
                          </a:solidFill>
                          <a:latin typeface="Montserrat"/>
                        </a:rPr>
                        <a:t>Verdict</a:t>
                      </a:r>
                    </a:p>
                  </a:txBody>
                  <a:tcPr marL="45720" marR="45720" marT="18288" marB="18288" anchor="ctr">
                    <a:solidFill>
                      <a:srgbClr val="1F3A5F"/>
                    </a:solidFill>
                  </a:tcPr>
                </a:tc>
              </a:tr>
              <a:tr h="237744">
                <a:tc>
                  <a:txBody>
                    <a:bodyPr wrap="square"/>
                    <a:lstStyle/>
                    <a:p>
                      <a:pPr algn="l"/>
                      <a:r>
                        <a:rPr sz="850" b="0" i="0">
                          <a:solidFill>
                            <a:srgbClr val="1A1A1A"/>
                          </a:solidFill>
                          <a:latin typeface="Montserrat"/>
                        </a:rPr>
                        <a:t>Default exits</a:t>
                      </a:r>
                    </a:p>
                  </a:txBody>
                  <a:tcPr marL="45720" marR="45720" marT="18288" marB="18288" anchor="ctr">
                    <a:solidFill>
                      <a:srgbClr val="FFFFFF"/>
                    </a:solidFill>
                  </a:tcPr>
                </a:tc>
                <a:tc>
                  <a:txBody>
                    <a:bodyPr wrap="square"/>
                    <a:lstStyle/>
                    <a:p>
                      <a:pPr algn="ctr"/>
                      <a:r>
                        <a:rPr sz="850" b="0" i="0">
                          <a:solidFill>
                            <a:srgbClr val="1A1A1A"/>
                          </a:solidFill>
                          <a:latin typeface="Montserrat"/>
                        </a:rPr>
                        <a:t>EUR/USD</a:t>
                      </a:r>
                    </a:p>
                  </a:txBody>
                  <a:tcPr marL="45720" marR="45720" marT="18288" marB="18288" anchor="ctr">
                    <a:solidFill>
                      <a:srgbClr val="FFFFFF"/>
                    </a:solidFill>
                  </a:tcPr>
                </a:tc>
                <a:tc>
                  <a:txBody>
                    <a:bodyPr wrap="square"/>
                    <a:lstStyle/>
                    <a:p>
                      <a:pPr algn="ctr"/>
                      <a:r>
                        <a:rPr sz="850" b="0" i="0">
                          <a:solidFill>
                            <a:srgbClr val="1A1A1A"/>
                          </a:solidFill>
                          <a:latin typeface="Montserrat"/>
                        </a:rPr>
                        <a:t>73.3% → 71.0%</a:t>
                      </a:r>
                    </a:p>
                  </a:txBody>
                  <a:tcPr marL="45720" marR="45720" marT="18288" marB="18288" anchor="ctr">
                    <a:solidFill>
                      <a:srgbClr val="FFFFFF"/>
                    </a:solidFill>
                  </a:tcPr>
                </a:tc>
                <a:tc>
                  <a:txBody>
                    <a:bodyPr wrap="square"/>
                    <a:lstStyle/>
                    <a:p>
                      <a:pPr algn="ctr"/>
                      <a:r>
                        <a:rPr sz="850" b="0" i="0">
                          <a:solidFill>
                            <a:srgbClr val="1A1A1A"/>
                          </a:solidFill>
                          <a:latin typeface="Montserrat"/>
                        </a:rPr>
                        <a:t>1.34 → 1.21</a:t>
                      </a:r>
                    </a:p>
                  </a:txBody>
                  <a:tcPr marL="45720" marR="45720" marT="18288" marB="18288" anchor="ctr">
                    <a:solidFill>
                      <a:srgbClr val="FFFFFF"/>
                    </a:solidFill>
                  </a:tcPr>
                </a:tc>
                <a:tc>
                  <a:txBody>
                    <a:bodyPr wrap="square"/>
                    <a:lstStyle/>
                    <a:p>
                      <a:pPr algn="ctr"/>
                      <a:r>
                        <a:rPr sz="850" b="0" i="0">
                          <a:solidFill>
                            <a:srgbClr val="1A1A1A"/>
                          </a:solidFill>
                          <a:latin typeface="Montserrat"/>
                        </a:rPr>
                        <a:t>worse</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Default exits</a:t>
                      </a:r>
                    </a:p>
                  </a:txBody>
                  <a:tcPr marL="45720" marR="45720" marT="18288" marB="18288" anchor="ctr">
                    <a:solidFill>
                      <a:srgbClr val="F7F9FB"/>
                    </a:solidFill>
                  </a:tcPr>
                </a:tc>
                <a:tc>
                  <a:txBody>
                    <a:bodyPr wrap="square"/>
                    <a:lstStyle/>
                    <a:p>
                      <a:pPr algn="ctr"/>
                      <a:r>
                        <a:rPr sz="850" b="0" i="0">
                          <a:solidFill>
                            <a:srgbClr val="1A1A1A"/>
                          </a:solidFill>
                          <a:latin typeface="Montserrat"/>
                        </a:rPr>
                        <a:t>GBP/USD</a:t>
                      </a:r>
                    </a:p>
                  </a:txBody>
                  <a:tcPr marL="45720" marR="45720" marT="18288" marB="18288" anchor="ctr">
                    <a:solidFill>
                      <a:srgbClr val="F7F9FB"/>
                    </a:solidFill>
                  </a:tcPr>
                </a:tc>
                <a:tc>
                  <a:txBody>
                    <a:bodyPr wrap="square"/>
                    <a:lstStyle/>
                    <a:p>
                      <a:pPr algn="ctr"/>
                      <a:r>
                        <a:rPr sz="850" b="0" i="0">
                          <a:solidFill>
                            <a:srgbClr val="1A1A1A"/>
                          </a:solidFill>
                          <a:latin typeface="Montserrat"/>
                        </a:rPr>
                        <a:t>78.4% → 79.1%</a:t>
                      </a:r>
                    </a:p>
                  </a:txBody>
                  <a:tcPr marL="45720" marR="45720" marT="18288" marB="18288" anchor="ctr">
                    <a:solidFill>
                      <a:srgbClr val="F7F9FB"/>
                    </a:solidFill>
                  </a:tcPr>
                </a:tc>
                <a:tc>
                  <a:txBody>
                    <a:bodyPr wrap="square"/>
                    <a:lstStyle/>
                    <a:p>
                      <a:pPr algn="ctr"/>
                      <a:r>
                        <a:rPr sz="850" b="0" i="0">
                          <a:solidFill>
                            <a:srgbClr val="1A1A1A"/>
                          </a:solidFill>
                          <a:latin typeface="Montserrat"/>
                        </a:rPr>
                        <a:t>1.62 → 1.77</a:t>
                      </a:r>
                    </a:p>
                  </a:txBody>
                  <a:tcPr marL="45720" marR="45720" marT="18288" marB="18288" anchor="ctr">
                    <a:solidFill>
                      <a:srgbClr val="F7F9FB"/>
                    </a:solidFill>
                  </a:tcPr>
                </a:tc>
                <a:tc>
                  <a:txBody>
                    <a:bodyPr wrap="square"/>
                    <a:lstStyle/>
                    <a:p>
                      <a:pPr algn="ctr"/>
                      <a:r>
                        <a:rPr sz="850" b="0" i="0">
                          <a:solidFill>
                            <a:srgbClr val="1A1A1A"/>
                          </a:solidFill>
                          <a:latin typeface="Montserrat"/>
                        </a:rPr>
                        <a:t>better</a:t>
                      </a:r>
                    </a:p>
                  </a:txBody>
                  <a:tcPr marL="45720" marR="45720" marT="18288" marB="18288" anchor="ctr">
                    <a:solidFill>
                      <a:srgbClr val="F7F9FB"/>
                    </a:solidFill>
                  </a:tcPr>
                </a:tc>
              </a:tr>
              <a:tr h="237744">
                <a:tc>
                  <a:txBody>
                    <a:bodyPr wrap="square"/>
                    <a:lstStyle/>
                    <a:p>
                      <a:pPr algn="l"/>
                      <a:r>
                        <a:rPr sz="850" b="0" i="0">
                          <a:solidFill>
                            <a:srgbClr val="1A1A1A"/>
                          </a:solidFill>
                          <a:latin typeface="Montserrat"/>
                        </a:rPr>
                        <a:t>Far take-profit</a:t>
                      </a:r>
                    </a:p>
                  </a:txBody>
                  <a:tcPr marL="45720" marR="45720" marT="18288" marB="18288" anchor="ctr">
                    <a:solidFill>
                      <a:srgbClr val="FFFFFF"/>
                    </a:solidFill>
                  </a:tcPr>
                </a:tc>
                <a:tc>
                  <a:txBody>
                    <a:bodyPr wrap="square"/>
                    <a:lstStyle/>
                    <a:p>
                      <a:pPr algn="ctr"/>
                      <a:r>
                        <a:rPr sz="850" b="0" i="0">
                          <a:solidFill>
                            <a:srgbClr val="1A1A1A"/>
                          </a:solidFill>
                          <a:latin typeface="Montserrat"/>
                        </a:rPr>
                        <a:t>EUR/USD</a:t>
                      </a:r>
                    </a:p>
                  </a:txBody>
                  <a:tcPr marL="45720" marR="45720" marT="18288" marB="18288" anchor="ctr">
                    <a:solidFill>
                      <a:srgbClr val="FFFFFF"/>
                    </a:solidFill>
                  </a:tcPr>
                </a:tc>
                <a:tc>
                  <a:txBody>
                    <a:bodyPr wrap="square"/>
                    <a:lstStyle/>
                    <a:p>
                      <a:pPr algn="ctr"/>
                      <a:r>
                        <a:rPr sz="850" b="0" i="0">
                          <a:solidFill>
                            <a:srgbClr val="1A1A1A"/>
                          </a:solidFill>
                          <a:latin typeface="Montserrat"/>
                        </a:rPr>
                        <a:t>36.8% → 30.0%</a:t>
                      </a:r>
                    </a:p>
                  </a:txBody>
                  <a:tcPr marL="45720" marR="45720" marT="18288" marB="18288" anchor="ctr">
                    <a:solidFill>
                      <a:srgbClr val="FFFFFF"/>
                    </a:solidFill>
                  </a:tcPr>
                </a:tc>
                <a:tc>
                  <a:txBody>
                    <a:bodyPr wrap="square"/>
                    <a:lstStyle/>
                    <a:p>
                      <a:pPr algn="ctr"/>
                      <a:r>
                        <a:rPr sz="850" b="0" i="0">
                          <a:solidFill>
                            <a:srgbClr val="1A1A1A"/>
                          </a:solidFill>
                          <a:latin typeface="Montserrat"/>
                        </a:rPr>
                        <a:t>1.42 → 1.09</a:t>
                      </a:r>
                    </a:p>
                  </a:txBody>
                  <a:tcPr marL="45720" marR="45720" marT="18288" marB="18288" anchor="ctr">
                    <a:solidFill>
                      <a:srgbClr val="FFFFFF"/>
                    </a:solidFill>
                  </a:tcPr>
                </a:tc>
                <a:tc>
                  <a:txBody>
                    <a:bodyPr wrap="square"/>
                    <a:lstStyle/>
                    <a:p>
                      <a:pPr algn="ctr"/>
                      <a:r>
                        <a:rPr sz="850" b="0" i="0">
                          <a:solidFill>
                            <a:srgbClr val="1A1A1A"/>
                          </a:solidFill>
                          <a:latin typeface="Montserrat"/>
                        </a:rPr>
                        <a:t>worse</a:t>
                      </a:r>
                    </a:p>
                  </a:txBody>
                  <a:tcPr marL="45720" marR="45720" marT="18288" marB="18288" anchor="ctr">
                    <a:solidFill>
                      <a:srgbClr val="FFFFFF"/>
                    </a:solidFill>
                  </a:tcPr>
                </a:tc>
              </a:tr>
              <a:tr h="237744">
                <a:tc>
                  <a:txBody>
                    <a:bodyPr wrap="square"/>
                    <a:lstStyle/>
                    <a:p>
                      <a:pPr algn="l"/>
                      <a:r>
                        <a:rPr sz="850" b="0" i="0">
                          <a:solidFill>
                            <a:srgbClr val="1A1A1A"/>
                          </a:solidFill>
                          <a:latin typeface="Montserrat"/>
                        </a:rPr>
                        <a:t>Far take-profit</a:t>
                      </a:r>
                    </a:p>
                  </a:txBody>
                  <a:tcPr marL="45720" marR="45720" marT="18288" marB="18288" anchor="ctr">
                    <a:solidFill>
                      <a:srgbClr val="F7F9FB"/>
                    </a:solidFill>
                  </a:tcPr>
                </a:tc>
                <a:tc>
                  <a:txBody>
                    <a:bodyPr wrap="square"/>
                    <a:lstStyle/>
                    <a:p>
                      <a:pPr algn="ctr"/>
                      <a:r>
                        <a:rPr sz="850" b="0" i="0">
                          <a:solidFill>
                            <a:srgbClr val="1A1A1A"/>
                          </a:solidFill>
                          <a:latin typeface="Montserrat"/>
                        </a:rPr>
                        <a:t>GBP/USD</a:t>
                      </a:r>
                    </a:p>
                  </a:txBody>
                  <a:tcPr marL="45720" marR="45720" marT="18288" marB="18288" anchor="ctr">
                    <a:solidFill>
                      <a:srgbClr val="F7F9FB"/>
                    </a:solidFill>
                  </a:tcPr>
                </a:tc>
                <a:tc>
                  <a:txBody>
                    <a:bodyPr wrap="square"/>
                    <a:lstStyle/>
                    <a:p>
                      <a:pPr algn="ctr"/>
                      <a:r>
                        <a:rPr sz="850" b="0" i="0">
                          <a:solidFill>
                            <a:srgbClr val="1A1A1A"/>
                          </a:solidFill>
                          <a:latin typeface="Montserrat"/>
                        </a:rPr>
                        <a:t>50.0% → 36.8%</a:t>
                      </a:r>
                    </a:p>
                  </a:txBody>
                  <a:tcPr marL="45720" marR="45720" marT="18288" marB="18288" anchor="ctr">
                    <a:solidFill>
                      <a:srgbClr val="F7F9FB"/>
                    </a:solidFill>
                  </a:tcPr>
                </a:tc>
                <a:tc>
                  <a:txBody>
                    <a:bodyPr wrap="square"/>
                    <a:lstStyle/>
                    <a:p>
                      <a:pPr algn="ctr"/>
                      <a:r>
                        <a:rPr sz="850" b="0" i="0">
                          <a:solidFill>
                            <a:srgbClr val="1A1A1A"/>
                          </a:solidFill>
                          <a:latin typeface="Montserrat"/>
                        </a:rPr>
                        <a:t>2.42 → 1.78</a:t>
                      </a:r>
                    </a:p>
                  </a:txBody>
                  <a:tcPr marL="45720" marR="45720" marT="18288" marB="18288" anchor="ctr">
                    <a:solidFill>
                      <a:srgbClr val="F7F9FB"/>
                    </a:solidFill>
                  </a:tcPr>
                </a:tc>
                <a:tc>
                  <a:txBody>
                    <a:bodyPr wrap="square"/>
                    <a:lstStyle/>
                    <a:p>
                      <a:pPr algn="ctr"/>
                      <a:r>
                        <a:rPr sz="850" b="0" i="0">
                          <a:solidFill>
                            <a:srgbClr val="1A1A1A"/>
                          </a:solidFill>
                          <a:latin typeface="Montserrat"/>
                        </a:rPr>
                        <a:t>worse</a:t>
                      </a:r>
                    </a:p>
                  </a:txBody>
                  <a:tcPr marL="45720" marR="45720" marT="18288" marB="18288" anchor="ctr">
                    <a:solidFill>
                      <a:srgbClr val="F7F9FB"/>
                    </a:solidFill>
                  </a:tcPr>
                </a:tc>
              </a:tr>
            </a:tbl>
          </a:graphicData>
        </a:graphic>
      </p:graphicFrame>
      <p:sp>
        <p:nvSpPr>
          <p:cNvPr id="7" name="TextBox 6"/>
          <p:cNvSpPr txBox="1"/>
          <p:nvPr/>
        </p:nvSpPr>
        <p:spPr>
          <a:xfrm>
            <a:off x="411480" y="3538728"/>
            <a:ext cx="8321040" cy="1330452"/>
          </a:xfrm>
          <a:prstGeom prst="rect">
            <a:avLst/>
          </a:prstGeom>
          <a:noFill/>
        </p:spPr>
        <p:txBody>
          <a:bodyPr wrap="square" lIns="0" rIns="0" tIns="0" bIns="0">
            <a:spAutoFit/>
          </a:bodyPr>
          <a:lstStyle/>
          <a:p>
            <a:pPr>
              <a:spcAft>
                <a:spcPts val="400"/>
              </a:spcAft>
            </a:pPr>
            <a:r>
              <a:rPr sz="1030" b="0" i="0">
                <a:solidFill>
                  <a:srgbClr val="1A1A1A"/>
                </a:solidFill>
                <a:latin typeface="Montserrat"/>
              </a:rPr>
              <a:t>•  The model DID use them — the order-block features carry about 20% of total feature importance. This was not an ignored input.</a:t>
            </a:r>
          </a:p>
          <a:p>
            <a:pPr>
              <a:spcAft>
                <a:spcPts val="400"/>
              </a:spcAft>
            </a:pPr>
            <a:r>
              <a:rPr sz="1030" b="0" i="0">
                <a:solidFill>
                  <a:srgbClr val="1A1A1A"/>
                </a:solidFill>
                <a:latin typeface="Montserrat"/>
              </a:rPr>
              <a:t>•  But the textbook part was the useless part: the 'price is inside a zone' flag scored 0.001 importance, because price is inside a live zone on only 3.5% of candles. What the model used was proximity, not the zone as a trigger.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Evidence — Backtest Run and Dashboard</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25</a:t>
            </a:r>
          </a:p>
        </p:txBody>
      </p:sp>
      <p:sp>
        <p:nvSpPr>
          <p:cNvPr id="5" name="Rectangle 4"/>
          <p:cNvSpPr/>
          <p:nvPr/>
        </p:nvSpPr>
        <p:spPr>
          <a:xfrm>
            <a:off x="411480" y="978408"/>
            <a:ext cx="4023360" cy="2788920"/>
          </a:xfrm>
          <a:prstGeom prst="rect">
            <a:avLst/>
          </a:prstGeom>
          <a:solidFill>
            <a:srgbClr val="FAFBFC"/>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6" name="TextBox 5"/>
          <p:cNvSpPr txBox="1"/>
          <p:nvPr/>
        </p:nvSpPr>
        <p:spPr>
          <a:xfrm>
            <a:off x="411480" y="2116836"/>
            <a:ext cx="4023360" cy="219456"/>
          </a:xfrm>
          <a:prstGeom prst="rect">
            <a:avLst/>
          </a:prstGeom>
          <a:noFill/>
        </p:spPr>
        <p:txBody>
          <a:bodyPr wrap="square" lIns="0" rIns="0" tIns="0" bIns="0" anchor="t">
            <a:spAutoFit/>
          </a:bodyPr>
          <a:lstStyle/>
          <a:p>
            <a:pPr algn="ctr"/>
            <a:r>
              <a:rPr sz="1030" b="1" i="0">
                <a:solidFill>
                  <a:srgbClr val="8A8A8A"/>
                </a:solidFill>
                <a:latin typeface="Montserrat"/>
              </a:rPr>
              <a:t>[  INSERT SCREENSHOT  ]</a:t>
            </a:r>
          </a:p>
        </p:txBody>
      </p:sp>
      <p:sp>
        <p:nvSpPr>
          <p:cNvPr id="7" name="TextBox 6"/>
          <p:cNvSpPr txBox="1"/>
          <p:nvPr/>
        </p:nvSpPr>
        <p:spPr>
          <a:xfrm>
            <a:off x="548640" y="2391156"/>
            <a:ext cx="3749040" cy="457200"/>
          </a:xfrm>
          <a:prstGeom prst="rect">
            <a:avLst/>
          </a:prstGeom>
          <a:noFill/>
        </p:spPr>
        <p:txBody>
          <a:bodyPr wrap="square" lIns="0" rIns="0" tIns="0" bIns="0" anchor="t">
            <a:spAutoFit/>
          </a:bodyPr>
          <a:lstStyle/>
          <a:p>
            <a:pPr algn="ctr"/>
            <a:r>
              <a:rPr sz="850" b="0" i="0">
                <a:solidFill>
                  <a:srgbClr val="8A8A8A"/>
                </a:solidFill>
                <a:latin typeface="Montserrat"/>
              </a:rPr>
              <a:t>Terminal output of:
scripts/run_backtest.py EURUSD 1h
Show the metrics block and the PASS/FAIL lines against targets.</a:t>
            </a:r>
          </a:p>
        </p:txBody>
      </p:sp>
      <p:sp>
        <p:nvSpPr>
          <p:cNvPr id="8" name="Rectangle 7"/>
          <p:cNvSpPr/>
          <p:nvPr/>
        </p:nvSpPr>
        <p:spPr>
          <a:xfrm>
            <a:off x="4709160" y="978408"/>
            <a:ext cx="4023360" cy="2788920"/>
          </a:xfrm>
          <a:prstGeom prst="rect">
            <a:avLst/>
          </a:prstGeom>
          <a:solidFill>
            <a:srgbClr val="FAFBFC"/>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9" name="TextBox 8"/>
          <p:cNvSpPr txBox="1"/>
          <p:nvPr/>
        </p:nvSpPr>
        <p:spPr>
          <a:xfrm>
            <a:off x="4709160" y="2116836"/>
            <a:ext cx="4023360" cy="219456"/>
          </a:xfrm>
          <a:prstGeom prst="rect">
            <a:avLst/>
          </a:prstGeom>
          <a:noFill/>
        </p:spPr>
        <p:txBody>
          <a:bodyPr wrap="square" lIns="0" rIns="0" tIns="0" bIns="0" anchor="t">
            <a:spAutoFit/>
          </a:bodyPr>
          <a:lstStyle/>
          <a:p>
            <a:pPr algn="ctr"/>
            <a:r>
              <a:rPr sz="1030" b="1" i="0">
                <a:solidFill>
                  <a:srgbClr val="8A8A8A"/>
                </a:solidFill>
                <a:latin typeface="Montserrat"/>
              </a:rPr>
              <a:t>[  INSERT SCREENSHOT  ]</a:t>
            </a:r>
          </a:p>
        </p:txBody>
      </p:sp>
      <p:sp>
        <p:nvSpPr>
          <p:cNvPr id="10" name="TextBox 9"/>
          <p:cNvSpPr txBox="1"/>
          <p:nvPr/>
        </p:nvSpPr>
        <p:spPr>
          <a:xfrm>
            <a:off x="4846320" y="2391156"/>
            <a:ext cx="3749040" cy="457200"/>
          </a:xfrm>
          <a:prstGeom prst="rect">
            <a:avLst/>
          </a:prstGeom>
          <a:noFill/>
        </p:spPr>
        <p:txBody>
          <a:bodyPr wrap="square" lIns="0" rIns="0" tIns="0" bIns="0" anchor="t">
            <a:spAutoFit/>
          </a:bodyPr>
          <a:lstStyle/>
          <a:p>
            <a:pPr algn="ctr"/>
            <a:r>
              <a:rPr sz="850" b="0" i="0">
                <a:solidFill>
                  <a:srgbClr val="8A8A8A"/>
                </a:solidFill>
                <a:latin typeface="Montserrat"/>
              </a:rPr>
              <a:t>Streamlit dashboard at localhost:8501
Show the metric cards, the equity curve and the trade table.</a:t>
            </a:r>
          </a:p>
        </p:txBody>
      </p:sp>
      <p:sp>
        <p:nvSpPr>
          <p:cNvPr id="11" name="TextBox 10"/>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7: Reproducible backtest output (left) and the monitoring dashboard (right)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Deployment — A Documented Engineering Finding</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26</a:t>
            </a:r>
          </a:p>
        </p:txBody>
      </p:sp>
      <p:sp>
        <p:nvSpPr>
          <p:cNvPr id="5" name="TextBox 4"/>
          <p:cNvSpPr txBox="1"/>
          <p:nvPr/>
        </p:nvSpPr>
        <p:spPr>
          <a:xfrm>
            <a:off x="411480" y="932688"/>
            <a:ext cx="8321040" cy="2286000"/>
          </a:xfrm>
          <a:prstGeom prst="rect">
            <a:avLst/>
          </a:prstGeom>
          <a:noFill/>
        </p:spPr>
        <p:txBody>
          <a:bodyPr wrap="square" lIns="0" rIns="0" tIns="0" bIns="0">
            <a:spAutoFit/>
          </a:bodyPr>
          <a:lstStyle/>
          <a:p>
            <a:pPr>
              <a:spcAft>
                <a:spcPts val="400"/>
              </a:spcAft>
            </a:pPr>
            <a:r>
              <a:rPr sz="1080" b="1" i="0">
                <a:solidFill>
                  <a:srgbClr val="1A1A1A"/>
                </a:solidFill>
                <a:latin typeface="Montserrat"/>
              </a:rPr>
              <a:t>•  The plan was to run MetaTrader 5 headless in a Linux Docker container under Wine.</a:t>
            </a:r>
          </a:p>
          <a:p>
            <a:pPr lvl="1">
              <a:spcAft>
                <a:spcPts val="400"/>
              </a:spcAft>
            </a:pPr>
            <a:r>
              <a:rPr sz="990" b="0" i="0">
                <a:solidFill>
                  <a:srgbClr val="333333"/>
                </a:solidFill>
                <a:latin typeface="Montserrat"/>
              </a:rPr>
              <a:t>–  It cannot work. MetaTrader's Python API fails to initialise under Wine with error -10005 (an inter-process communication timeout) — reproduced across three environments, including native x86 with no emulation, and including a byte-for-byte copy of a published working reference.</a:t>
            </a:r>
          </a:p>
          <a:p>
            <a:pPr>
              <a:spcAft>
                <a:spcPts val="400"/>
              </a:spcAft>
            </a:pPr>
            <a:r>
              <a:rPr sz="1080" b="1" i="0">
                <a:solidFill>
                  <a:srgbClr val="1A1A1A"/>
                </a:solidFill>
                <a:latin typeface="Montserrat"/>
              </a:rPr>
              <a:t>•  The resolution:</a:t>
            </a:r>
          </a:p>
          <a:p>
            <a:pPr lvl="1">
              <a:spcAft>
                <a:spcPts val="400"/>
              </a:spcAft>
            </a:pPr>
            <a:r>
              <a:rPr sz="990" b="0" i="0">
                <a:solidFill>
                  <a:srgbClr val="333333"/>
                </a:solidFill>
                <a:latin typeface="Montserrat"/>
              </a:rPr>
              <a:t>–  A native Windows host runs the terminal and a small RPC service; the analytical engine runs unchanged on macOS or Linux and reaches it over TCP. On Windows the same API initialises on the first attempt.</a:t>
            </a:r>
          </a:p>
          <a:p>
            <a:pPr>
              <a:spcAft>
                <a:spcPts val="400"/>
              </a:spcAft>
            </a:pPr>
            <a:r>
              <a:rPr sz="1080" b="1" i="0">
                <a:solidFill>
                  <a:srgbClr val="1A1A1A"/>
                </a:solidFill>
                <a:latin typeface="Montserrat"/>
              </a:rPr>
              <a:t>•  Why this belongs in the report:</a:t>
            </a:r>
          </a:p>
          <a:p>
            <a:pPr lvl="1">
              <a:spcAft>
                <a:spcPts val="400"/>
              </a:spcAft>
            </a:pPr>
            <a:r>
              <a:rPr sz="990" b="0" i="0">
                <a:solidFill>
                  <a:srgbClr val="333333"/>
                </a:solidFill>
                <a:latin typeface="Montserrat"/>
              </a:rPr>
              <a:t>–  It is a negative engineering result with a clear cause, a reproduction, and a working alternative — and it is exactly the kind of finding that saves the next person weeks.</a:t>
            </a:r>
          </a:p>
        </p:txBody>
      </p:sp>
      <p:sp>
        <p:nvSpPr>
          <p:cNvPr id="6" name="Rounded Rectangle 5"/>
          <p:cNvSpPr/>
          <p:nvPr/>
        </p:nvSpPr>
        <p:spPr>
          <a:xfrm>
            <a:off x="502920" y="3429000"/>
            <a:ext cx="2011680" cy="502920"/>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Engine</a:t>
            </a:r>
          </a:p>
          <a:p>
            <a:pPr algn="ctr"/>
            <a:r>
              <a:rPr sz="800" b="0" i="0">
                <a:solidFill>
                  <a:srgbClr val="1A1A1A"/>
                </a:solidFill>
                <a:latin typeface="Montserrat"/>
              </a:rPr>
              <a:t>(macOS / Linux)</a:t>
            </a:r>
          </a:p>
        </p:txBody>
      </p:sp>
      <p:sp>
        <p:nvSpPr>
          <p:cNvPr id="7" name="Rounded Rectangle 6"/>
          <p:cNvSpPr/>
          <p:nvPr/>
        </p:nvSpPr>
        <p:spPr>
          <a:xfrm>
            <a:off x="3154680" y="3429000"/>
            <a:ext cx="2011680" cy="502920"/>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RPC Service</a:t>
            </a:r>
          </a:p>
          <a:p>
            <a:pPr algn="ctr"/>
            <a:r>
              <a:rPr sz="800" b="0" i="0">
                <a:solidFill>
                  <a:srgbClr val="1A1A1A"/>
                </a:solidFill>
                <a:latin typeface="Montserrat"/>
              </a:rPr>
              <a:t>(Windows host)</a:t>
            </a:r>
          </a:p>
        </p:txBody>
      </p:sp>
      <p:sp>
        <p:nvSpPr>
          <p:cNvPr id="8" name="Rounded Rectangle 7"/>
          <p:cNvSpPr/>
          <p:nvPr/>
        </p:nvSpPr>
        <p:spPr>
          <a:xfrm>
            <a:off x="5806440" y="3429000"/>
            <a:ext cx="2011680" cy="502920"/>
          </a:xfrm>
          <a:prstGeom prst="round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MetaTrader 5</a:t>
            </a:r>
          </a:p>
          <a:p>
            <a:pPr algn="ctr"/>
            <a:r>
              <a:rPr sz="800" b="0" i="0">
                <a:solidFill>
                  <a:srgbClr val="1A1A1A"/>
                </a:solidFill>
                <a:latin typeface="Montserrat"/>
              </a:rPr>
              <a:t>(demo account)</a:t>
            </a:r>
          </a:p>
        </p:txBody>
      </p:sp>
      <p:cxnSp>
        <p:nvCxnSpPr>
          <p:cNvPr id="9" name="Connector 8"/>
          <p:cNvCxnSpPr/>
          <p:nvPr/>
        </p:nvCxnSpPr>
        <p:spPr>
          <a:xfrm>
            <a:off x="2514600" y="3675888"/>
            <a:ext cx="640080" cy="0"/>
          </a:xfrm>
          <a:prstGeom prst="line">
            <a:avLst/>
          </a:prstGeom>
          <a:ln w="12700">
            <a:solidFill>
              <a:srgbClr val="1A1A1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66360" y="3675888"/>
            <a:ext cx="640080" cy="0"/>
          </a:xfrm>
          <a:prstGeom prst="line">
            <a:avLst/>
          </a:prstGeom>
          <a:ln w="12700">
            <a:solidFill>
              <a:srgbClr val="1A1A1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23160" y="3246120"/>
            <a:ext cx="822960" cy="182880"/>
          </a:xfrm>
          <a:prstGeom prst="rect">
            <a:avLst/>
          </a:prstGeom>
          <a:noFill/>
        </p:spPr>
        <p:txBody>
          <a:bodyPr wrap="square" lIns="0" rIns="0" tIns="0" bIns="0" anchor="t">
            <a:spAutoFit/>
          </a:bodyPr>
          <a:lstStyle/>
          <a:p>
            <a:pPr algn="ctr"/>
            <a:r>
              <a:rPr sz="700" b="0" i="0">
                <a:solidFill>
                  <a:srgbClr val="333333"/>
                </a:solidFill>
                <a:latin typeface="Montserrat"/>
              </a:rPr>
              <a:t>JSON over TCP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From Research to a Live Product</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27</a:t>
            </a:r>
          </a:p>
        </p:txBody>
      </p:sp>
      <p:sp>
        <p:nvSpPr>
          <p:cNvPr id="5" name="TextBox 4"/>
          <p:cNvSpPr txBox="1"/>
          <p:nvPr/>
        </p:nvSpPr>
        <p:spPr>
          <a:xfrm>
            <a:off x="411480" y="932688"/>
            <a:ext cx="8321040" cy="320040"/>
          </a:xfrm>
          <a:prstGeom prst="rect">
            <a:avLst/>
          </a:prstGeom>
          <a:noFill/>
        </p:spPr>
        <p:txBody>
          <a:bodyPr wrap="square" lIns="0" rIns="0" tIns="0" bIns="0" anchor="t">
            <a:spAutoFit/>
          </a:bodyPr>
          <a:lstStyle/>
          <a:p>
            <a:pPr algn="l"/>
            <a:r>
              <a:rPr sz="1130" b="1" i="0">
                <a:solidFill>
                  <a:srgbClr val="1F3A5F"/>
                </a:solidFill>
                <a:latin typeface="Montserrat"/>
              </a:rPr>
              <a:t>The execution architecture developed in this research is the same architecture now running in a live production trading system (Gadel).</a:t>
            </a:r>
          </a:p>
        </p:txBody>
      </p:sp>
      <p:sp>
        <p:nvSpPr>
          <p:cNvPr id="6" name="Rectangle 5"/>
          <p:cNvSpPr/>
          <p:nvPr/>
        </p:nvSpPr>
        <p:spPr>
          <a:xfrm>
            <a:off x="411480" y="1371600"/>
            <a:ext cx="4023360" cy="292608"/>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940" b="1" i="0">
                <a:solidFill>
                  <a:srgbClr val="FFFFFF"/>
                </a:solidFill>
                <a:latin typeface="Montserrat"/>
              </a:rPr>
              <a:t>THIS PROJECT  (research)</a:t>
            </a:r>
          </a:p>
        </p:txBody>
      </p:sp>
      <p:sp>
        <p:nvSpPr>
          <p:cNvPr id="7" name="Rectangle 6"/>
          <p:cNvSpPr/>
          <p:nvPr/>
        </p:nvSpPr>
        <p:spPr>
          <a:xfrm>
            <a:off x="411480" y="1737360"/>
            <a:ext cx="4023360" cy="32918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Streamlit dashboard</a:t>
            </a:r>
          </a:p>
        </p:txBody>
      </p:sp>
      <p:cxnSp>
        <p:nvCxnSpPr>
          <p:cNvPr id="8" name="Connector 7"/>
          <p:cNvCxnSpPr/>
          <p:nvPr/>
        </p:nvCxnSpPr>
        <p:spPr>
          <a:xfrm>
            <a:off x="2423160" y="2066544"/>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11480" y="2121408"/>
            <a:ext cx="4023360" cy="32918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Signal Generator (Z-Score AND Random Forest)</a:t>
            </a:r>
          </a:p>
        </p:txBody>
      </p:sp>
      <p:cxnSp>
        <p:nvCxnSpPr>
          <p:cNvPr id="10" name="Connector 9"/>
          <p:cNvCxnSpPr/>
          <p:nvPr/>
        </p:nvCxnSpPr>
        <p:spPr>
          <a:xfrm>
            <a:off x="2423160" y="2450592"/>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11480" y="2505456"/>
            <a:ext cx="4023360" cy="32918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Risk Manager</a:t>
            </a:r>
          </a:p>
        </p:txBody>
      </p:sp>
      <p:cxnSp>
        <p:nvCxnSpPr>
          <p:cNvPr id="12" name="Connector 11"/>
          <p:cNvCxnSpPr/>
          <p:nvPr/>
        </p:nvCxnSpPr>
        <p:spPr>
          <a:xfrm>
            <a:off x="2423160" y="2834640"/>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11480" y="2889504"/>
            <a:ext cx="4023360" cy="329184"/>
          </a:xfrm>
          <a:prstGeom prst="rect">
            <a:avLst/>
          </a:prstGeom>
          <a:solidFill>
            <a:srgbClr val="D8E2E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Abstract ExecutionHandler</a:t>
            </a:r>
          </a:p>
        </p:txBody>
      </p:sp>
      <p:cxnSp>
        <p:nvCxnSpPr>
          <p:cNvPr id="14" name="Connector 13"/>
          <p:cNvCxnSpPr/>
          <p:nvPr/>
        </p:nvCxnSpPr>
        <p:spPr>
          <a:xfrm>
            <a:off x="2423160" y="3218688"/>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11480" y="3273552"/>
            <a:ext cx="4023360" cy="329184"/>
          </a:xfrm>
          <a:prstGeom prst="rect">
            <a:avLst/>
          </a:prstGeom>
          <a:solidFill>
            <a:srgbClr val="D8E2E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RPC service</a:t>
            </a:r>
          </a:p>
        </p:txBody>
      </p:sp>
      <p:cxnSp>
        <p:nvCxnSpPr>
          <p:cNvPr id="16" name="Connector 15"/>
          <p:cNvCxnSpPr/>
          <p:nvPr/>
        </p:nvCxnSpPr>
        <p:spPr>
          <a:xfrm>
            <a:off x="2423160" y="3602736"/>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11480" y="3657600"/>
            <a:ext cx="4023360" cy="329184"/>
          </a:xfrm>
          <a:prstGeom prst="rect">
            <a:avLst/>
          </a:prstGeom>
          <a:solidFill>
            <a:srgbClr val="F2F4F7"/>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MetaTrader 5  (demo)</a:t>
            </a:r>
          </a:p>
        </p:txBody>
      </p:sp>
      <p:sp>
        <p:nvSpPr>
          <p:cNvPr id="18" name="Rectangle 17"/>
          <p:cNvSpPr/>
          <p:nvPr/>
        </p:nvSpPr>
        <p:spPr>
          <a:xfrm>
            <a:off x="4709160" y="1371600"/>
            <a:ext cx="4023360" cy="292608"/>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940" b="1" i="0">
                <a:solidFill>
                  <a:srgbClr val="FFFFFF"/>
                </a:solidFill>
                <a:latin typeface="Montserrat"/>
              </a:rPr>
              <a:t>GADEL  (live production)</a:t>
            </a:r>
          </a:p>
        </p:txBody>
      </p:sp>
      <p:sp>
        <p:nvSpPr>
          <p:cNvPr id="19" name="Rectangle 18"/>
          <p:cNvSpPr/>
          <p:nvPr/>
        </p:nvSpPr>
        <p:spPr>
          <a:xfrm>
            <a:off x="4709160" y="1737360"/>
            <a:ext cx="4023360" cy="329184"/>
          </a:xfrm>
          <a:prstGeom prst="rect">
            <a:avLst/>
          </a:prstGeom>
          <a:solidFill>
            <a:srgbClr val="F4F0E8"/>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Web dashboard</a:t>
            </a:r>
          </a:p>
        </p:txBody>
      </p:sp>
      <p:cxnSp>
        <p:nvCxnSpPr>
          <p:cNvPr id="20" name="Connector 19"/>
          <p:cNvCxnSpPr/>
          <p:nvPr/>
        </p:nvCxnSpPr>
        <p:spPr>
          <a:xfrm>
            <a:off x="6720840" y="2066544"/>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709160" y="2121408"/>
            <a:ext cx="4023360" cy="329184"/>
          </a:xfrm>
          <a:prstGeom prst="rect">
            <a:avLst/>
          </a:prstGeom>
          <a:solidFill>
            <a:srgbClr val="F4F0E8"/>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MQL5 Expert Advisor (EMA cross AND order blocks)</a:t>
            </a:r>
          </a:p>
        </p:txBody>
      </p:sp>
      <p:cxnSp>
        <p:nvCxnSpPr>
          <p:cNvPr id="22" name="Connector 21"/>
          <p:cNvCxnSpPr/>
          <p:nvPr/>
        </p:nvCxnSpPr>
        <p:spPr>
          <a:xfrm>
            <a:off x="6720840" y="2450592"/>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09160" y="2505456"/>
            <a:ext cx="4023360" cy="329184"/>
          </a:xfrm>
          <a:prstGeom prst="rect">
            <a:avLst/>
          </a:prstGeom>
          <a:solidFill>
            <a:srgbClr val="F4F0E8"/>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Risk / position manager</a:t>
            </a:r>
          </a:p>
        </p:txBody>
      </p:sp>
      <p:cxnSp>
        <p:nvCxnSpPr>
          <p:cNvPr id="24" name="Connector 23"/>
          <p:cNvCxnSpPr/>
          <p:nvPr/>
        </p:nvCxnSpPr>
        <p:spPr>
          <a:xfrm>
            <a:off x="6720840" y="2834640"/>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709160" y="2889504"/>
            <a:ext cx="4023360" cy="329184"/>
          </a:xfrm>
          <a:prstGeom prst="rect">
            <a:avLst/>
          </a:prstGeom>
          <a:solidFill>
            <a:srgbClr val="D8E2E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Abstract execution layer</a:t>
            </a:r>
          </a:p>
        </p:txBody>
      </p:sp>
      <p:cxnSp>
        <p:nvCxnSpPr>
          <p:cNvPr id="26" name="Connector 25"/>
          <p:cNvCxnSpPr/>
          <p:nvPr/>
        </p:nvCxnSpPr>
        <p:spPr>
          <a:xfrm>
            <a:off x="6720840" y="3218688"/>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709160" y="3273552"/>
            <a:ext cx="4023360" cy="329184"/>
          </a:xfrm>
          <a:prstGeom prst="rect">
            <a:avLst/>
          </a:prstGeom>
          <a:solidFill>
            <a:srgbClr val="D8E2E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1" i="0">
                <a:solidFill>
                  <a:srgbClr val="1A1A1A"/>
                </a:solidFill>
                <a:latin typeface="Montserrat"/>
              </a:rPr>
              <a:t>RPC service</a:t>
            </a:r>
          </a:p>
        </p:txBody>
      </p:sp>
      <p:cxnSp>
        <p:nvCxnSpPr>
          <p:cNvPr id="28" name="Connector 27"/>
          <p:cNvCxnSpPr/>
          <p:nvPr/>
        </p:nvCxnSpPr>
        <p:spPr>
          <a:xfrm>
            <a:off x="6720840" y="3602736"/>
            <a:ext cx="0" cy="54864"/>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709160" y="3657600"/>
            <a:ext cx="4023360" cy="329184"/>
          </a:xfrm>
          <a:prstGeom prst="rect">
            <a:avLst/>
          </a:prstGeom>
          <a:solidFill>
            <a:srgbClr val="F4F0E8"/>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00" b="0" i="0">
                <a:solidFill>
                  <a:srgbClr val="1A1A1A"/>
                </a:solidFill>
                <a:latin typeface="Montserrat"/>
              </a:rPr>
              <a:t>MetaTrader 5  (live)</a:t>
            </a:r>
          </a:p>
        </p:txBody>
      </p:sp>
      <p:sp>
        <p:nvSpPr>
          <p:cNvPr id="30" name="TextBox 29"/>
          <p:cNvSpPr txBox="1"/>
          <p:nvPr/>
        </p:nvSpPr>
        <p:spPr>
          <a:xfrm>
            <a:off x="411480" y="4315968"/>
            <a:ext cx="8321040" cy="365760"/>
          </a:xfrm>
          <a:prstGeom prst="rect">
            <a:avLst/>
          </a:prstGeom>
          <a:noFill/>
        </p:spPr>
        <p:txBody>
          <a:bodyPr wrap="square" lIns="0" rIns="0" tIns="0" bIns="0" anchor="t">
            <a:spAutoFit/>
          </a:bodyPr>
          <a:lstStyle/>
          <a:p>
            <a:pPr algn="ctr"/>
            <a:r>
              <a:rPr sz="890" b="0" i="1">
                <a:solidFill>
                  <a:srgbClr val="1F3A5F"/>
                </a:solidFill>
                <a:latin typeface="Montserrat"/>
              </a:rPr>
              <a:t>Shared (highlighted): the abstract execution interface and the RPC boundary — the two components this research designed and proved.</a:t>
            </a:r>
          </a:p>
        </p:txBody>
      </p:sp>
      <p:sp>
        <p:nvSpPr>
          <p:cNvPr id="31" name="TextBox 30"/>
          <p:cNvSpPr txBox="1"/>
          <p:nvPr/>
        </p:nvSpPr>
        <p:spPr>
          <a:xfrm>
            <a:off x="411480" y="4832604"/>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8: Architectural correspondence between the research system and the live product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What the Live Product Does and Does Not Prove</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28</a:t>
            </a:r>
          </a:p>
        </p:txBody>
      </p:sp>
      <p:sp>
        <p:nvSpPr>
          <p:cNvPr id="5" name="Rectangle 4"/>
          <p:cNvSpPr/>
          <p:nvPr/>
        </p:nvSpPr>
        <p:spPr>
          <a:xfrm>
            <a:off x="411480" y="978408"/>
            <a:ext cx="4023360" cy="310896"/>
          </a:xfrm>
          <a:prstGeom prst="rect">
            <a:avLst/>
          </a:prstGeom>
          <a:solidFill>
            <a:srgbClr val="1B6B3A"/>
          </a:solidFill>
          <a:ln w="12700">
            <a:solidFill>
              <a:srgbClr val="1B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990" b="1" i="0">
                <a:solidFill>
                  <a:srgbClr val="FFFFFF"/>
                </a:solidFill>
                <a:latin typeface="Montserrat"/>
              </a:rPr>
              <a:t>IT SUPPORTS</a:t>
            </a:r>
          </a:p>
        </p:txBody>
      </p:sp>
      <p:sp>
        <p:nvSpPr>
          <p:cNvPr id="6" name="TextBox 5"/>
          <p:cNvSpPr txBox="1"/>
          <p:nvPr/>
        </p:nvSpPr>
        <p:spPr>
          <a:xfrm>
            <a:off x="521208" y="1408176"/>
            <a:ext cx="3794760" cy="2377440"/>
          </a:xfrm>
          <a:prstGeom prst="rect">
            <a:avLst/>
          </a:prstGeom>
          <a:noFill/>
        </p:spPr>
        <p:txBody>
          <a:bodyPr wrap="square">
            <a:spAutoFit/>
          </a:bodyPr>
          <a:lstStyle/>
          <a:p>
            <a:pPr>
              <a:spcAft>
                <a:spcPts val="800"/>
              </a:spcAft>
            </a:pPr>
            <a:r>
              <a:rPr sz="940" b="0" i="0">
                <a:solidFill>
                  <a:srgbClr val="1A1A1A"/>
                </a:solidFill>
                <a:latin typeface="Montserrat"/>
              </a:rPr>
              <a:t>•  That the execution architecture works in production, under real conditions.</a:t>
            </a:r>
          </a:p>
          <a:p>
            <a:pPr>
              <a:spcAft>
                <a:spcPts val="800"/>
              </a:spcAft>
            </a:pPr>
            <a:r>
              <a:rPr sz="940" b="0" i="0">
                <a:solidFill>
                  <a:srgbClr val="1A1A1A"/>
                </a:solidFill>
                <a:latin typeface="Montserrat"/>
              </a:rPr>
              <a:t>•  That Wine is a dead end and native Windows is the correct deployment route.</a:t>
            </a:r>
          </a:p>
          <a:p>
            <a:pPr>
              <a:spcAft>
                <a:spcPts val="800"/>
              </a:spcAft>
            </a:pPr>
            <a:r>
              <a:rPr sz="940" b="0" i="0">
                <a:solidFill>
                  <a:srgbClr val="1A1A1A"/>
                </a:solidFill>
                <a:latin typeface="Montserrat"/>
              </a:rPr>
              <a:t>•  Five defects in this project's live-order path that only real trading exposes — fill modes, thread affinity, magic numbers, lot rounding, whitespace in server names — all since fixed here.</a:t>
            </a:r>
          </a:p>
        </p:txBody>
      </p:sp>
      <p:sp>
        <p:nvSpPr>
          <p:cNvPr id="7" name="Rectangle 6"/>
          <p:cNvSpPr/>
          <p:nvPr/>
        </p:nvSpPr>
        <p:spPr>
          <a:xfrm>
            <a:off x="4709160" y="978408"/>
            <a:ext cx="4023360" cy="310896"/>
          </a:xfrm>
          <a:prstGeom prst="rect">
            <a:avLst/>
          </a:prstGeom>
          <a:solidFill>
            <a:srgbClr val="A31D1D"/>
          </a:solidFill>
          <a:ln w="12700">
            <a:solidFill>
              <a:srgbClr val="A31D1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990" b="1" i="0">
                <a:solidFill>
                  <a:srgbClr val="FFFFFF"/>
                </a:solidFill>
                <a:latin typeface="Montserrat"/>
              </a:rPr>
              <a:t>IT DOES NOT SUPPORT</a:t>
            </a:r>
          </a:p>
        </p:txBody>
      </p:sp>
      <p:sp>
        <p:nvSpPr>
          <p:cNvPr id="8" name="TextBox 7"/>
          <p:cNvSpPr txBox="1"/>
          <p:nvPr/>
        </p:nvSpPr>
        <p:spPr>
          <a:xfrm>
            <a:off x="4818888" y="1408176"/>
            <a:ext cx="3794760" cy="2377440"/>
          </a:xfrm>
          <a:prstGeom prst="rect">
            <a:avLst/>
          </a:prstGeom>
          <a:noFill/>
        </p:spPr>
        <p:txBody>
          <a:bodyPr wrap="square">
            <a:spAutoFit/>
          </a:bodyPr>
          <a:lstStyle/>
          <a:p>
            <a:pPr>
              <a:spcAft>
                <a:spcPts val="800"/>
              </a:spcAft>
            </a:pPr>
            <a:r>
              <a:rPr sz="940" b="0" i="0">
                <a:solidFill>
                  <a:srgbClr val="1A1A1A"/>
                </a:solidFill>
                <a:latin typeface="Montserrat"/>
              </a:rPr>
              <a:t>•  Any trading claim in this report. It contains NO machine learning — verified by a repository-wide search.</a:t>
            </a:r>
          </a:p>
          <a:p>
            <a:pPr>
              <a:spcAft>
                <a:spcPts val="800"/>
              </a:spcAft>
            </a:pPr>
            <a:r>
              <a:rPr sz="940" b="0" i="0">
                <a:solidFill>
                  <a:srgbClr val="1A1A1A"/>
                </a:solidFill>
                <a:latin typeface="Montserrat"/>
              </a:rPr>
              <a:t>•  It trades gold on hand-written rules; it has never run this project's model, volume gate, labelling method, currency pairs or timeframe.</a:t>
            </a:r>
          </a:p>
          <a:p>
            <a:pPr>
              <a:spcAft>
                <a:spcPts val="800"/>
              </a:spcAft>
            </a:pPr>
            <a:r>
              <a:rPr sz="940" b="0" i="0">
                <a:solidFill>
                  <a:srgbClr val="1A1A1A"/>
                </a:solidFill>
                <a:latin typeface="Montserrat"/>
              </a:rPr>
              <a:t>•  Therefore the win rate, profit factor, drawdown and Sharpe in this report remain backtested results — which is an honest and defensible basis.</a:t>
            </a:r>
          </a:p>
        </p:txBody>
      </p:sp>
      <p:sp>
        <p:nvSpPr>
          <p:cNvPr id="9" name="TextBox 8"/>
          <p:cNvSpPr txBox="1"/>
          <p:nvPr/>
        </p:nvSpPr>
        <p:spPr>
          <a:xfrm>
            <a:off x="411480" y="3977639"/>
            <a:ext cx="8321040" cy="640080"/>
          </a:xfrm>
          <a:prstGeom prst="rect">
            <a:avLst/>
          </a:prstGeom>
          <a:noFill/>
        </p:spPr>
        <p:txBody>
          <a:bodyPr wrap="square" lIns="0" rIns="0" tIns="0" bIns="0" anchor="t">
            <a:spAutoFit/>
          </a:bodyPr>
          <a:lstStyle/>
          <a:p>
            <a:pPr algn="l"/>
            <a:r>
              <a:rPr sz="940" b="0" i="1">
                <a:solidFill>
                  <a:srgbClr val="1F3A5F"/>
                </a:solidFill>
                <a:latin typeface="Montserrat"/>
              </a:rPr>
              <a:t>Defensible statement: "The Linux/Wine deployment route was shown to be unworkable, and the native-Windows route was verified end to end in a sibling production deployment using the same execution architecture. The strategy results reported here are obtained by backtesting on held-out data with modelled transaction costs."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Evidence — The Live Deployment</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29</a:t>
            </a:r>
          </a:p>
        </p:txBody>
      </p:sp>
      <p:sp>
        <p:nvSpPr>
          <p:cNvPr id="5" name="Rectangle 4"/>
          <p:cNvSpPr/>
          <p:nvPr/>
        </p:nvSpPr>
        <p:spPr>
          <a:xfrm>
            <a:off x="411480" y="978408"/>
            <a:ext cx="4023360" cy="2788920"/>
          </a:xfrm>
          <a:prstGeom prst="rect">
            <a:avLst/>
          </a:prstGeom>
          <a:solidFill>
            <a:srgbClr val="FAFBFC"/>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6" name="TextBox 5"/>
          <p:cNvSpPr txBox="1"/>
          <p:nvPr/>
        </p:nvSpPr>
        <p:spPr>
          <a:xfrm>
            <a:off x="411480" y="2116836"/>
            <a:ext cx="4023360" cy="219456"/>
          </a:xfrm>
          <a:prstGeom prst="rect">
            <a:avLst/>
          </a:prstGeom>
          <a:noFill/>
        </p:spPr>
        <p:txBody>
          <a:bodyPr wrap="square" lIns="0" rIns="0" tIns="0" bIns="0" anchor="t">
            <a:spAutoFit/>
          </a:bodyPr>
          <a:lstStyle/>
          <a:p>
            <a:pPr algn="ctr"/>
            <a:r>
              <a:rPr sz="1030" b="1" i="0">
                <a:solidFill>
                  <a:srgbClr val="8A8A8A"/>
                </a:solidFill>
                <a:latin typeface="Montserrat"/>
              </a:rPr>
              <a:t>[  INSERT SCREENSHOT  ]</a:t>
            </a:r>
          </a:p>
        </p:txBody>
      </p:sp>
      <p:sp>
        <p:nvSpPr>
          <p:cNvPr id="7" name="TextBox 6"/>
          <p:cNvSpPr txBox="1"/>
          <p:nvPr/>
        </p:nvSpPr>
        <p:spPr>
          <a:xfrm>
            <a:off x="548640" y="2391156"/>
            <a:ext cx="3749040" cy="457200"/>
          </a:xfrm>
          <a:prstGeom prst="rect">
            <a:avLst/>
          </a:prstGeom>
          <a:noFill/>
        </p:spPr>
        <p:txBody>
          <a:bodyPr wrap="square" lIns="0" rIns="0" tIns="0" bIns="0" anchor="t">
            <a:spAutoFit/>
          </a:bodyPr>
          <a:lstStyle/>
          <a:p>
            <a:pPr algn="ctr"/>
            <a:r>
              <a:rPr sz="850" b="0" i="0">
                <a:solidFill>
                  <a:srgbClr val="8A8A8A"/>
                </a:solidFill>
                <a:latin typeface="Montserrat"/>
              </a:rPr>
              <a:t>MetaTrader 5 on the Windows host:
Trade / History tab showing positions placed by this system
REDACT: account number, balance, server name</a:t>
            </a:r>
          </a:p>
        </p:txBody>
      </p:sp>
      <p:sp>
        <p:nvSpPr>
          <p:cNvPr id="8" name="Rectangle 7"/>
          <p:cNvSpPr/>
          <p:nvPr/>
        </p:nvSpPr>
        <p:spPr>
          <a:xfrm>
            <a:off x="4709160" y="978408"/>
            <a:ext cx="4023360" cy="2788920"/>
          </a:xfrm>
          <a:prstGeom prst="rect">
            <a:avLst/>
          </a:prstGeom>
          <a:solidFill>
            <a:srgbClr val="FAFBFC"/>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9" name="TextBox 8"/>
          <p:cNvSpPr txBox="1"/>
          <p:nvPr/>
        </p:nvSpPr>
        <p:spPr>
          <a:xfrm>
            <a:off x="4709160" y="2116836"/>
            <a:ext cx="4023360" cy="219456"/>
          </a:xfrm>
          <a:prstGeom prst="rect">
            <a:avLst/>
          </a:prstGeom>
          <a:noFill/>
        </p:spPr>
        <p:txBody>
          <a:bodyPr wrap="square" lIns="0" rIns="0" tIns="0" bIns="0" anchor="t">
            <a:spAutoFit/>
          </a:bodyPr>
          <a:lstStyle/>
          <a:p>
            <a:pPr algn="ctr"/>
            <a:r>
              <a:rPr sz="1030" b="1" i="0">
                <a:solidFill>
                  <a:srgbClr val="8A8A8A"/>
                </a:solidFill>
                <a:latin typeface="Montserrat"/>
              </a:rPr>
              <a:t>[  INSERT SCREENSHOT  ]</a:t>
            </a:r>
          </a:p>
        </p:txBody>
      </p:sp>
      <p:sp>
        <p:nvSpPr>
          <p:cNvPr id="10" name="TextBox 9"/>
          <p:cNvSpPr txBox="1"/>
          <p:nvPr/>
        </p:nvSpPr>
        <p:spPr>
          <a:xfrm>
            <a:off x="4846320" y="2391156"/>
            <a:ext cx="3749040" cy="457200"/>
          </a:xfrm>
          <a:prstGeom prst="rect">
            <a:avLst/>
          </a:prstGeom>
          <a:noFill/>
        </p:spPr>
        <p:txBody>
          <a:bodyPr wrap="square" lIns="0" rIns="0" tIns="0" bIns="0" anchor="t">
            <a:spAutoFit/>
          </a:bodyPr>
          <a:lstStyle/>
          <a:p>
            <a:pPr algn="ctr"/>
            <a:r>
              <a:rPr sz="850" b="0" i="0">
                <a:solidFill>
                  <a:srgbClr val="8A8A8A"/>
                </a:solidFill>
                <a:latin typeface="Montserrat"/>
              </a:rPr>
              <a:t>Gadel dashboard or terminal
showing the shared execution layer running in production
REDACT: account numbers, balances, API keys</a:t>
            </a:r>
          </a:p>
        </p:txBody>
      </p:sp>
      <p:sp>
        <p:nvSpPr>
          <p:cNvPr id="11" name="TextBox 10"/>
          <p:cNvSpPr txBox="1"/>
          <p:nvPr/>
        </p:nvSpPr>
        <p:spPr>
          <a:xfrm>
            <a:off x="411480" y="4576572"/>
            <a:ext cx="8321040" cy="274320"/>
          </a:xfrm>
          <a:prstGeom prst="rect">
            <a:avLst/>
          </a:prstGeom>
          <a:noFill/>
        </p:spPr>
        <p:txBody>
          <a:bodyPr wrap="square" lIns="0" rIns="0" tIns="0" bIns="0" anchor="t">
            <a:spAutoFit/>
          </a:bodyPr>
          <a:lstStyle/>
          <a:p>
            <a:pPr algn="ctr"/>
            <a:r>
              <a:rPr sz="940" b="0" i="1">
                <a:solidFill>
                  <a:srgbClr val="444444"/>
                </a:solidFill>
                <a:latin typeface="Montserrat"/>
              </a:rPr>
              <a:t>Figure 9: Live execution evidence (identifying details redacted)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Relevance and Potential Impact</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30</a:t>
            </a:r>
          </a:p>
        </p:txBody>
      </p:sp>
      <p:sp>
        <p:nvSpPr>
          <p:cNvPr id="5" name="TextBox 4"/>
          <p:cNvSpPr txBox="1"/>
          <p:nvPr/>
        </p:nvSpPr>
        <p:spPr>
          <a:xfrm>
            <a:off x="411480" y="932688"/>
            <a:ext cx="8321040" cy="1737360"/>
          </a:xfrm>
          <a:prstGeom prst="rect">
            <a:avLst/>
          </a:prstGeom>
          <a:noFill/>
        </p:spPr>
        <p:txBody>
          <a:bodyPr wrap="square" lIns="0" rIns="0" tIns="0" bIns="0">
            <a:spAutoFit/>
          </a:bodyPr>
          <a:lstStyle/>
          <a:p>
            <a:pPr>
              <a:spcAft>
                <a:spcPts val="400"/>
              </a:spcAft>
            </a:pPr>
            <a:r>
              <a:rPr sz="1080" b="1" i="0">
                <a:solidFill>
                  <a:srgbClr val="1A1A1A"/>
                </a:solidFill>
                <a:latin typeface="Montserrat"/>
              </a:rPr>
              <a:t>•  Who benefits:</a:t>
            </a:r>
          </a:p>
          <a:p>
            <a:pPr lvl="1">
              <a:spcAft>
                <a:spcPts val="400"/>
              </a:spcAft>
            </a:pPr>
            <a:r>
              <a:rPr sz="990" b="0" i="0">
                <a:solidFill>
                  <a:srgbClr val="333333"/>
                </a:solidFill>
                <a:latin typeface="Montserrat"/>
              </a:rPr>
              <a:t>–  Retail traders, who gain consistent rule execution and enforced risk limits instead of emotional decisions.</a:t>
            </a:r>
          </a:p>
          <a:p>
            <a:pPr lvl="1">
              <a:spcAft>
                <a:spcPts val="400"/>
              </a:spcAft>
            </a:pPr>
            <a:r>
              <a:rPr sz="990" b="0" i="0">
                <a:solidFill>
                  <a:srgbClr val="333333"/>
                </a:solidFill>
                <a:latin typeface="Montserrat"/>
              </a:rPr>
              <a:t>–  Students and researchers, who gain a fully reproducible evaluation method — every number in this project has a command that regenerates it.</a:t>
            </a:r>
          </a:p>
          <a:p>
            <a:pPr lvl="1">
              <a:spcAft>
                <a:spcPts val="400"/>
              </a:spcAft>
            </a:pPr>
            <a:r>
              <a:rPr sz="990" b="0" i="0">
                <a:solidFill>
                  <a:srgbClr val="333333"/>
                </a:solidFill>
                <a:latin typeface="Montserrat"/>
              </a:rPr>
              <a:t>–  Practitioners, who gain a documented negative result on deployment and on five widely-taught indicators.</a:t>
            </a:r>
          </a:p>
          <a:p>
            <a:pPr>
              <a:spcAft>
                <a:spcPts val="400"/>
              </a:spcAft>
            </a:pPr>
            <a:r>
              <a:rPr sz="1080" b="1" i="0">
                <a:solidFill>
                  <a:srgbClr val="1A1A1A"/>
                </a:solidFill>
                <a:latin typeface="Montserrat"/>
              </a:rPr>
              <a:t>•  Evidence of demand:</a:t>
            </a:r>
          </a:p>
        </p:txBody>
      </p:sp>
      <p:sp>
        <p:nvSpPr>
          <p:cNvPr id="6" name="Rectangle 5"/>
          <p:cNvSpPr/>
          <p:nvPr/>
        </p:nvSpPr>
        <p:spPr>
          <a:xfrm>
            <a:off x="411480" y="2715768"/>
            <a:ext cx="3931920" cy="1737360"/>
          </a:xfrm>
          <a:prstGeom prst="rect">
            <a:avLst/>
          </a:prstGeom>
          <a:solidFill>
            <a:srgbClr val="FAFBFC"/>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7" name="TextBox 6"/>
          <p:cNvSpPr txBox="1"/>
          <p:nvPr/>
        </p:nvSpPr>
        <p:spPr>
          <a:xfrm>
            <a:off x="411480" y="3328416"/>
            <a:ext cx="3931920" cy="219456"/>
          </a:xfrm>
          <a:prstGeom prst="rect">
            <a:avLst/>
          </a:prstGeom>
          <a:noFill/>
        </p:spPr>
        <p:txBody>
          <a:bodyPr wrap="square" lIns="0" rIns="0" tIns="0" bIns="0" anchor="t">
            <a:spAutoFit/>
          </a:bodyPr>
          <a:lstStyle/>
          <a:p>
            <a:pPr algn="ctr"/>
            <a:r>
              <a:rPr sz="1030" b="1" i="0">
                <a:solidFill>
                  <a:srgbClr val="8A8A8A"/>
                </a:solidFill>
                <a:latin typeface="Montserrat"/>
              </a:rPr>
              <a:t>[  INSERT SCREENSHOT  ]</a:t>
            </a:r>
          </a:p>
        </p:txBody>
      </p:sp>
      <p:sp>
        <p:nvSpPr>
          <p:cNvPr id="8" name="TextBox 7"/>
          <p:cNvSpPr txBox="1"/>
          <p:nvPr/>
        </p:nvSpPr>
        <p:spPr>
          <a:xfrm>
            <a:off x="548640" y="3602736"/>
            <a:ext cx="3657600" cy="457200"/>
          </a:xfrm>
          <a:prstGeom prst="rect">
            <a:avLst/>
          </a:prstGeom>
          <a:noFill/>
        </p:spPr>
        <p:txBody>
          <a:bodyPr wrap="square" lIns="0" rIns="0" tIns="0" bIns="0" anchor="t">
            <a:spAutoFit/>
          </a:bodyPr>
          <a:lstStyle/>
          <a:p>
            <a:pPr algn="ctr"/>
            <a:r>
              <a:rPr sz="850" b="0" i="0">
                <a:solidFill>
                  <a:srgbClr val="8A8A8A"/>
                </a:solidFill>
                <a:latin typeface="Montserrat"/>
              </a:rPr>
              <a:t>Gadel waiting-list registrations
Show the count and the signup list (REDACT names and email addresses)</a:t>
            </a:r>
          </a:p>
        </p:txBody>
      </p:sp>
      <p:sp>
        <p:nvSpPr>
          <p:cNvPr id="9" name="TextBox 8"/>
          <p:cNvSpPr txBox="1"/>
          <p:nvPr/>
        </p:nvSpPr>
        <p:spPr>
          <a:xfrm>
            <a:off x="4572000" y="2715768"/>
            <a:ext cx="4160520" cy="2153412"/>
          </a:xfrm>
          <a:prstGeom prst="rect">
            <a:avLst/>
          </a:prstGeom>
          <a:noFill/>
        </p:spPr>
        <p:txBody>
          <a:bodyPr wrap="square" lIns="0" rIns="0" tIns="0" bIns="0">
            <a:spAutoFit/>
          </a:bodyPr>
          <a:lstStyle/>
          <a:p>
            <a:pPr>
              <a:spcAft>
                <a:spcPts val="500"/>
              </a:spcAft>
            </a:pPr>
            <a:r>
              <a:rPr sz="990" b="0" i="0">
                <a:solidFill>
                  <a:srgbClr val="1A1A1A"/>
                </a:solidFill>
                <a:latin typeface="Montserrat"/>
              </a:rPr>
              <a:t>•  Over 30 registrations on the live product's waiting list, with no paid advertising.</a:t>
            </a:r>
          </a:p>
          <a:p>
            <a:pPr>
              <a:spcAft>
                <a:spcPts val="500"/>
              </a:spcAft>
            </a:pPr>
            <a:r>
              <a:rPr sz="990" b="0" i="0">
                <a:solidFill>
                  <a:srgbClr val="1A1A1A"/>
                </a:solidFill>
                <a:latin typeface="Montserrat"/>
              </a:rPr>
              <a:t>•  This is expressed interest, not revenue — and is described as such.</a:t>
            </a:r>
          </a:p>
          <a:p>
            <a:pPr>
              <a:spcAft>
                <a:spcPts val="500"/>
              </a:spcAft>
            </a:pPr>
            <a:r>
              <a:rPr sz="990" b="0" i="0">
                <a:solidFill>
                  <a:srgbClr val="1A1A1A"/>
                </a:solidFill>
                <a:latin typeface="Montserrat"/>
              </a:rPr>
              <a:t>•  The academic contribution stands independently of any commercial outcome.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Contribution to Knowledge</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31</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500"/>
              </a:spcAft>
            </a:pPr>
            <a:r>
              <a:rPr sz="1080" b="0" i="0">
                <a:solidFill>
                  <a:srgbClr val="1A1A1A"/>
                </a:solidFill>
                <a:latin typeface="Montserrat"/>
              </a:rPr>
              <a:t>•  A hybrid decision architecture in which a statistical volume filter and a Random Forest must agree, giving every trade both a statistical reason and a model probability — a directly auditable design.</a:t>
            </a:r>
          </a:p>
          <a:p>
            <a:pPr>
              <a:spcAft>
                <a:spcPts val="500"/>
              </a:spcAft>
            </a:pPr>
            <a:r>
              <a:rPr sz="1080" b="0" i="0">
                <a:solidFill>
                  <a:srgbClr val="1A1A1A"/>
                </a:solidFill>
                <a:latin typeface="Montserrat"/>
              </a:rPr>
              <a:t>•  Empirical evidence that triple-barrier labelling — aligning the training target with how a trade actually closes — is more consequential than any indicator tested here, turning both pairs from loss to profit.</a:t>
            </a:r>
          </a:p>
          <a:p>
            <a:pPr>
              <a:spcAft>
                <a:spcPts val="500"/>
              </a:spcAft>
            </a:pPr>
            <a:r>
              <a:rPr sz="1080" b="0" i="0">
                <a:solidFill>
                  <a:srgbClr val="1A1A1A"/>
                </a:solidFill>
                <a:latin typeface="Montserrat"/>
              </a:rPr>
              <a:t>•  Six documented negative results: RSI, MACD, ATR, higher-timeframe trend, time-of-day and order blocks each failed to generalise across two closely related currency pairs.</a:t>
            </a:r>
          </a:p>
          <a:p>
            <a:pPr>
              <a:spcAft>
                <a:spcPts val="500"/>
              </a:spcAft>
            </a:pPr>
            <a:r>
              <a:rPr sz="1080" b="0" i="0">
                <a:solidFill>
                  <a:srgbClr val="1A1A1A"/>
                </a:solidFill>
                <a:latin typeface="Montserrat"/>
              </a:rPr>
              <a:t>•  A demonstration that a headline win rate can be produced by exit geometry alone, with a no-skill baseline showing how to separate geometry from genuine skill — a method other studies can reuse.</a:t>
            </a:r>
          </a:p>
          <a:p>
            <a:pPr>
              <a:spcAft>
                <a:spcPts val="500"/>
              </a:spcAft>
            </a:pPr>
            <a:r>
              <a:rPr sz="1080" b="0" i="0">
                <a:solidFill>
                  <a:srgbClr val="1A1A1A"/>
                </a:solidFill>
                <a:latin typeface="Montserrat"/>
              </a:rPr>
              <a:t>•  A reproducible, costed evaluation protocol: sealed chronological test set, confidence intervals on every rate, and a published command for every number.</a:t>
            </a:r>
          </a:p>
          <a:p>
            <a:pPr>
              <a:spcAft>
                <a:spcPts val="500"/>
              </a:spcAft>
            </a:pPr>
            <a:r>
              <a:rPr sz="1080" b="0" i="0">
                <a:solidFill>
                  <a:srgbClr val="1A1A1A"/>
                </a:solidFill>
                <a:latin typeface="Montserrat"/>
              </a:rPr>
              <a:t>•  A documented deployment finding: MetaTrader 5's Python API cannot initialise under Wine, with the working native-Windows alternative and its architecture.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Work Left Undone</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32</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400"/>
              </a:spcAft>
            </a:pPr>
            <a:r>
              <a:rPr sz="1080" b="1" i="0">
                <a:solidFill>
                  <a:srgbClr val="1A1A1A"/>
                </a:solidFill>
                <a:latin typeface="Montserrat"/>
              </a:rPr>
              <a:t>•  In progress:</a:t>
            </a:r>
          </a:p>
          <a:p>
            <a:pPr lvl="1">
              <a:spcAft>
                <a:spcPts val="400"/>
              </a:spcAft>
            </a:pPr>
            <a:r>
              <a:rPr sz="990" b="0" i="0">
                <a:solidFill>
                  <a:srgbClr val="333333"/>
                </a:solidFill>
                <a:latin typeface="Montserrat"/>
              </a:rPr>
              <a:t>–  A live execution session on a broker demo account, running on a Windows host, to record signal-to-fill latency against the 500 ms target. The system and the protocol are complete; the session needs calendar time because the volume gate fires roughly once or twice per pair per week.</a:t>
            </a:r>
          </a:p>
          <a:p>
            <a:pPr>
              <a:spcAft>
                <a:spcPts val="400"/>
              </a:spcAft>
            </a:pPr>
            <a:r>
              <a:rPr sz="1080" b="1" i="0">
                <a:solidFill>
                  <a:srgbClr val="1A1A1A"/>
                </a:solidFill>
                <a:latin typeface="Montserrat"/>
              </a:rPr>
              <a:t>•  Remaining:</a:t>
            </a:r>
          </a:p>
          <a:p>
            <a:pPr lvl="1">
              <a:spcAft>
                <a:spcPts val="400"/>
              </a:spcAft>
            </a:pPr>
            <a:r>
              <a:rPr sz="990" b="0" i="0">
                <a:solidFill>
                  <a:srgbClr val="333333"/>
                </a:solidFill>
                <a:latin typeface="Montserrat"/>
              </a:rPr>
              <a:t>–  Chapters 4 and 5 of the report — the measured material and figures already exist in the project documentation.</a:t>
            </a:r>
          </a:p>
          <a:p>
            <a:pPr lvl="1">
              <a:spcAft>
                <a:spcPts val="400"/>
              </a:spcAft>
            </a:pPr>
            <a:r>
              <a:rPr sz="990" b="0" i="0">
                <a:solidFill>
                  <a:srgbClr val="333333"/>
                </a:solidFill>
                <a:latin typeface="Montserrat"/>
              </a:rPr>
              <a:t>–  Applying the documented factual corrections to Chapters 1–3.</a:t>
            </a:r>
          </a:p>
          <a:p>
            <a:pPr>
              <a:spcAft>
                <a:spcPts val="400"/>
              </a:spcAft>
            </a:pPr>
            <a:r>
              <a:rPr sz="1080" b="1" i="0">
                <a:solidFill>
                  <a:srgbClr val="1A1A1A"/>
                </a:solidFill>
                <a:latin typeface="Montserrat"/>
              </a:rPr>
              <a:t>•  Identified for future work:</a:t>
            </a:r>
          </a:p>
          <a:p>
            <a:pPr lvl="1">
              <a:spcAft>
                <a:spcPts val="400"/>
              </a:spcAft>
            </a:pPr>
            <a:r>
              <a:rPr sz="990" b="0" i="0">
                <a:solidFill>
                  <a:srgbClr val="333333"/>
                </a:solidFill>
                <a:latin typeface="Montserrat"/>
              </a:rPr>
              <a:t>–  Aligning the training label fully with the executed trade, most likely through separate long-side and short-side models.</a:t>
            </a:r>
          </a:p>
          <a:p>
            <a:pPr lvl="1">
              <a:spcAft>
                <a:spcPts val="400"/>
              </a:spcAft>
            </a:pPr>
            <a:r>
              <a:rPr sz="990" b="0" i="0">
                <a:solidFill>
                  <a:srgbClr val="333333"/>
                </a:solidFill>
                <a:latin typeface="Montserrat"/>
              </a:rPr>
              <a:t>–  Meta-labelling — a second model deciding whether to accept each primary signal — the standard route to raising precision at fixed risk-reward.</a:t>
            </a:r>
          </a:p>
          <a:p>
            <a:pPr lvl="1">
              <a:spcAft>
                <a:spcPts val="400"/>
              </a:spcAft>
            </a:pPr>
            <a:r>
              <a:rPr sz="990" b="0" i="0">
                <a:solidFill>
                  <a:srgbClr val="333333"/>
                </a:solidFill>
                <a:latin typeface="Montserrat"/>
              </a:rPr>
              <a:t>–  Extending beyond two pairs and one timeframe to test generalisation properly.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Conclusion</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33</a:t>
            </a:r>
          </a:p>
        </p:txBody>
      </p:sp>
      <p:sp>
        <p:nvSpPr>
          <p:cNvPr id="5" name="TextBox 4"/>
          <p:cNvSpPr txBox="1"/>
          <p:nvPr/>
        </p:nvSpPr>
        <p:spPr>
          <a:xfrm>
            <a:off x="411480" y="932688"/>
            <a:ext cx="8321040" cy="3657600"/>
          </a:xfrm>
          <a:prstGeom prst="rect">
            <a:avLst/>
          </a:prstGeom>
          <a:noFill/>
        </p:spPr>
        <p:txBody>
          <a:bodyPr wrap="square" lIns="0" rIns="0" tIns="0" bIns="0">
            <a:spAutoFit/>
          </a:bodyPr>
          <a:lstStyle/>
          <a:p>
            <a:pPr>
              <a:spcAft>
                <a:spcPts val="700"/>
              </a:spcAft>
            </a:pPr>
            <a:r>
              <a:rPr sz="1130" b="0" i="0">
                <a:solidFill>
                  <a:srgbClr val="1A1A1A"/>
                </a:solidFill>
                <a:latin typeface="Montserrat"/>
              </a:rPr>
              <a:t>•  A complete automated trading system was designed, implemented and evaluated: 13 modules, 231 automated tests, a dashboard, a containerised deployment and a live broker execution path.</a:t>
            </a:r>
          </a:p>
          <a:p>
            <a:pPr>
              <a:spcAft>
                <a:spcPts val="700"/>
              </a:spcAft>
            </a:pPr>
            <a:r>
              <a:rPr sz="1130" b="0" i="0">
                <a:solidFill>
                  <a:srgbClr val="1A1A1A"/>
                </a:solidFill>
                <a:latin typeface="Montserrat"/>
              </a:rPr>
              <a:t>•  On held-out data with transaction costs charged, it meets the win-rate and drawdown targets on both currency pairs and the profit-factor target on one; the Sharpe target is not met, and that is reported rather than adjusted away.</a:t>
            </a:r>
          </a:p>
          <a:p>
            <a:pPr>
              <a:spcAft>
                <a:spcPts val="700"/>
              </a:spcAft>
            </a:pPr>
            <a:r>
              <a:rPr sz="1130" b="0" i="0">
                <a:solidFill>
                  <a:srgbClr val="1A1A1A"/>
                </a:solidFill>
                <a:latin typeface="Montserrat"/>
              </a:rPr>
              <a:t>•  The most valuable outcomes are methodological: the labelling insight, the no-skill baseline that separates exit geometry from genuine skill, and six negative results reported in full.</a:t>
            </a:r>
          </a:p>
          <a:p>
            <a:pPr>
              <a:spcAft>
                <a:spcPts val="700"/>
              </a:spcAft>
            </a:pPr>
            <a:r>
              <a:rPr sz="1130" b="0" i="0">
                <a:solidFill>
                  <a:srgbClr val="1A1A1A"/>
                </a:solidFill>
                <a:latin typeface="Montserrat"/>
              </a:rPr>
              <a:t>•  The execution architecture designed here is already running in a live production system, while the trading results reported remain, correctly, backtested results.</a:t>
            </a:r>
          </a:p>
          <a:p>
            <a:pPr>
              <a:spcAft>
                <a:spcPts val="700"/>
              </a:spcAft>
            </a:pPr>
            <a:r>
              <a:rPr sz="1130" b="1" i="0">
                <a:solidFill>
                  <a:srgbClr val="1A1A1A"/>
                </a:solidFill>
                <a:latin typeface="Montserrat"/>
              </a:rPr>
              <a:t>•  Every claim in this presentation is reproducible from the project repository with a single documented command.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References (1 of 2)</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34</a:t>
            </a:r>
          </a:p>
        </p:txBody>
      </p:sp>
      <p:sp>
        <p:nvSpPr>
          <p:cNvPr id="5" name="TextBox 4"/>
          <p:cNvSpPr txBox="1"/>
          <p:nvPr/>
        </p:nvSpPr>
        <p:spPr>
          <a:xfrm>
            <a:off x="411480" y="978408"/>
            <a:ext cx="8321040" cy="3566160"/>
          </a:xfrm>
          <a:prstGeom prst="rect">
            <a:avLst/>
          </a:prstGeom>
          <a:noFill/>
        </p:spPr>
        <p:txBody>
          <a:bodyPr wrap="square">
            <a:spAutoFit/>
          </a:bodyPr>
          <a:lstStyle/>
          <a:p>
            <a:pPr>
              <a:spcAft>
                <a:spcPts val="900"/>
              </a:spcAft>
            </a:pPr>
            <a:r>
              <a:rPr sz="940" b="0" i="0">
                <a:solidFill>
                  <a:srgbClr val="1A1A1A"/>
                </a:solidFill>
                <a:latin typeface="Montserrat"/>
              </a:rPr>
              <a:t>Bailey, D.H., Borwein, J., Lopez de Prado, M. and Zhu, Q.J. (2014). "Pseudo-mathematics and financial charlatanism: the effects of backtest overfitting on out-of-sample performance". Notices of the AMS, 61(5), pp. 458–471.</a:t>
            </a:r>
          </a:p>
          <a:p>
            <a:pPr>
              <a:spcAft>
                <a:spcPts val="900"/>
              </a:spcAft>
            </a:pPr>
            <a:r>
              <a:rPr sz="940" b="0" i="0">
                <a:solidFill>
                  <a:srgbClr val="1A1A1A"/>
                </a:solidFill>
                <a:latin typeface="Montserrat"/>
              </a:rPr>
              <a:t>Barber, B.M. and Odean, T. (2000). "Trading is hazardous to your wealth: the common stock investment performance of individual investors". Journal of Finance, 55(2), pp. 773–806.</a:t>
            </a:r>
          </a:p>
          <a:p>
            <a:pPr>
              <a:spcAft>
                <a:spcPts val="900"/>
              </a:spcAft>
            </a:pPr>
            <a:r>
              <a:rPr sz="940" b="0" i="0">
                <a:solidFill>
                  <a:srgbClr val="1A1A1A"/>
                </a:solidFill>
                <a:latin typeface="Montserrat"/>
              </a:rPr>
              <a:t>Chong, E., Han, C. and Park, F.C. (2017). "Deep learning networks for stock market analysis and prediction". Expert Systems with Applications, 83, pp. 187–205.</a:t>
            </a:r>
          </a:p>
          <a:p>
            <a:pPr>
              <a:spcAft>
                <a:spcPts val="900"/>
              </a:spcAft>
            </a:pPr>
            <a:r>
              <a:rPr sz="940" b="0" i="0">
                <a:solidFill>
                  <a:srgbClr val="1A1A1A"/>
                </a:solidFill>
                <a:latin typeface="Montserrat"/>
              </a:rPr>
              <a:t>European Securities and Markets Authority (2018). Product Intervention Measures relating to Contracts for Differences. ESMA35-43-1135.</a:t>
            </a:r>
          </a:p>
          <a:p>
            <a:pPr>
              <a:spcAft>
                <a:spcPts val="900"/>
              </a:spcAft>
            </a:pPr>
            <a:r>
              <a:rPr sz="940" b="0" i="0">
                <a:solidFill>
                  <a:srgbClr val="1A1A1A"/>
                </a:solidFill>
                <a:latin typeface="Montserrat"/>
              </a:rPr>
              <a:t>Hu, Z., Zhao, Y. and Khushi, M. (2021). "A survey of forex and stock price prediction using deep learning". Applied System Innovation, 4(1), 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37744"/>
            <a:ext cx="8321040" cy="457200"/>
          </a:xfrm>
          <a:prstGeom prst="rect">
            <a:avLst/>
          </a:prstGeom>
          <a:noFill/>
        </p:spPr>
        <p:txBody>
          <a:bodyPr wrap="square" lIns="0" rIns="0" tIns="0" bIns="0" anchor="t">
            <a:spAutoFit/>
          </a:bodyPr>
          <a:lstStyle/>
          <a:p>
            <a:pPr algn="l"/>
            <a:r>
              <a:rPr sz="2200" b="1" i="0">
                <a:solidFill>
                  <a:srgbClr val="1F3A5F"/>
                </a:solidFill>
                <a:latin typeface="Montserrat"/>
              </a:rPr>
              <a:t>References (2 of 2)</a:t>
            </a:r>
          </a:p>
        </p:txBody>
      </p:sp>
      <p:cxnSp>
        <p:nvCxnSpPr>
          <p:cNvPr id="3" name="Connector 2"/>
          <p:cNvCxnSpPr/>
          <p:nvPr/>
        </p:nvCxnSpPr>
        <p:spPr>
          <a:xfrm>
            <a:off x="411480" y="786384"/>
            <a:ext cx="8321040" cy="0"/>
          </a:xfrm>
          <a:prstGeom prst="line">
            <a:avLst/>
          </a:prstGeom>
          <a:ln w="19050">
            <a:solidFill>
              <a:srgbClr val="D8E2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366760" y="4796028"/>
            <a:ext cx="365760" cy="228600"/>
          </a:xfrm>
          <a:prstGeom prst="rect">
            <a:avLst/>
          </a:prstGeom>
          <a:noFill/>
        </p:spPr>
        <p:txBody>
          <a:bodyPr wrap="square" lIns="0" rIns="0" tIns="0" bIns="0" anchor="t">
            <a:spAutoFit/>
          </a:bodyPr>
          <a:lstStyle/>
          <a:p>
            <a:pPr algn="r"/>
            <a:r>
              <a:rPr sz="940" b="0" i="0">
                <a:solidFill>
                  <a:srgbClr val="8A8A8A"/>
                </a:solidFill>
                <a:latin typeface="Montserrat"/>
              </a:rPr>
              <a:t>35</a:t>
            </a:r>
          </a:p>
        </p:txBody>
      </p:sp>
      <p:sp>
        <p:nvSpPr>
          <p:cNvPr id="5" name="TextBox 4"/>
          <p:cNvSpPr txBox="1"/>
          <p:nvPr/>
        </p:nvSpPr>
        <p:spPr>
          <a:xfrm>
            <a:off x="411480" y="978408"/>
            <a:ext cx="8321040" cy="3566160"/>
          </a:xfrm>
          <a:prstGeom prst="rect">
            <a:avLst/>
          </a:prstGeom>
          <a:noFill/>
        </p:spPr>
        <p:txBody>
          <a:bodyPr wrap="square">
            <a:spAutoFit/>
          </a:bodyPr>
          <a:lstStyle/>
          <a:p>
            <a:pPr>
              <a:spcAft>
                <a:spcPts val="900"/>
              </a:spcAft>
            </a:pPr>
            <a:r>
              <a:rPr sz="940" b="0" i="0">
                <a:solidFill>
                  <a:srgbClr val="1A1A1A"/>
                </a:solidFill>
                <a:latin typeface="Montserrat"/>
              </a:rPr>
              <a:t>Lopez de Prado, M. (2018). Advances in Financial Machine Learning. Hoboken, New Jersey: John Wiley &amp; Sons.</a:t>
            </a:r>
          </a:p>
          <a:p>
            <a:pPr>
              <a:spcAft>
                <a:spcPts val="900"/>
              </a:spcAft>
            </a:pPr>
            <a:r>
              <a:rPr sz="940" b="0" i="0">
                <a:solidFill>
                  <a:srgbClr val="1A1A1A"/>
                </a:solidFill>
                <a:latin typeface="Montserrat"/>
              </a:rPr>
              <a:t>Pedregosa, F. et al. (2011). "Scikit-learn: machine learning in Python". Journal of Machine Learning Research, 12, pp. 2825–2830.</a:t>
            </a:r>
          </a:p>
          <a:p>
            <a:pPr>
              <a:spcAft>
                <a:spcPts val="900"/>
              </a:spcAft>
            </a:pPr>
            <a:r>
              <a:rPr sz="940" b="0" i="0">
                <a:solidFill>
                  <a:srgbClr val="1A1A1A"/>
                </a:solidFill>
                <a:latin typeface="Montserrat"/>
              </a:rPr>
              <a:t>Sirignano, J. and Cont, R. (2019). "Universal features of price formation in financial markets: perspectives from deep learning". Quantitative Finance, 19(9), pp. 1449–1459.</a:t>
            </a:r>
          </a:p>
          <a:p>
            <a:pPr>
              <a:spcAft>
                <a:spcPts val="900"/>
              </a:spcAft>
            </a:pPr>
            <a:r>
              <a:rPr sz="940" b="0" i="0">
                <a:solidFill>
                  <a:srgbClr val="1A1A1A"/>
                </a:solidFill>
                <a:latin typeface="Montserrat"/>
              </a:rPr>
              <a:t>Wilson, E.B. (1927). "Probable inference, the law of succession, and statistical inference". Journal of the American Statistical Association, 22(158), pp. 209–212.</a:t>
            </a:r>
          </a:p>
          <a:p>
            <a:pPr>
              <a:spcAft>
                <a:spcPts val="900"/>
              </a:spcAft>
            </a:pPr>
            <a:r>
              <a:rPr sz="940" b="0" i="0">
                <a:solidFill>
                  <a:srgbClr val="1A1A1A"/>
                </a:solidFill>
                <a:latin typeface="Montserrat"/>
              </a:rPr>
              <a:t>Yildirim, D.C., Toroslu, I.H. and Fiore, U. (2021). "Forecasting directional movement of Forex data using LSTM with technical and macroeconomic indicators". Financial Innovation, 7(1), 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1F3A5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r>
              <a:rPr sz="850" b="0" i="0">
                <a:solidFill>
                  <a:srgbClr val="1A1A1A"/>
                </a:solidFill>
                <a:latin typeface="Montserrat"/>
              </a:rPr>
              <a:t/>
            </a:r>
          </a:p>
        </p:txBody>
      </p:sp>
      <p:sp>
        <p:nvSpPr>
          <p:cNvPr id="3" name="TextBox 2"/>
          <p:cNvSpPr txBox="1"/>
          <p:nvPr/>
        </p:nvSpPr>
        <p:spPr>
          <a:xfrm>
            <a:off x="411480" y="1965960"/>
            <a:ext cx="8321040" cy="548640"/>
          </a:xfrm>
          <a:prstGeom prst="rect">
            <a:avLst/>
          </a:prstGeom>
          <a:noFill/>
        </p:spPr>
        <p:txBody>
          <a:bodyPr wrap="square" lIns="0" rIns="0" tIns="0" bIns="0" anchor="t">
            <a:spAutoFit/>
          </a:bodyPr>
          <a:lstStyle/>
          <a:p>
            <a:pPr algn="ctr"/>
            <a:r>
              <a:rPr sz="3400" b="1" i="0">
                <a:solidFill>
                  <a:srgbClr val="1F3A5F"/>
                </a:solidFill>
                <a:latin typeface="Montserrat"/>
              </a:rPr>
              <a:t>Thank You</a:t>
            </a:r>
          </a:p>
        </p:txBody>
      </p:sp>
      <p:sp>
        <p:nvSpPr>
          <p:cNvPr id="4" name="TextBox 3"/>
          <p:cNvSpPr txBox="1"/>
          <p:nvPr/>
        </p:nvSpPr>
        <p:spPr>
          <a:xfrm>
            <a:off x="411480" y="2697480"/>
            <a:ext cx="8321040" cy="365760"/>
          </a:xfrm>
          <a:prstGeom prst="rect">
            <a:avLst/>
          </a:prstGeom>
          <a:noFill/>
        </p:spPr>
        <p:txBody>
          <a:bodyPr wrap="square" lIns="0" rIns="0" tIns="0" bIns="0" anchor="t">
            <a:spAutoFit/>
          </a:bodyPr>
          <a:lstStyle/>
          <a:p>
            <a:pPr algn="ctr"/>
            <a:r>
              <a:rPr sz="1400" b="0" i="0">
                <a:solidFill>
                  <a:srgbClr val="555555"/>
                </a:solidFill>
                <a:latin typeface="Montserrat"/>
              </a:rPr>
              <a:t>Questions are welcome.</a:t>
            </a:r>
          </a:p>
        </p:txBody>
      </p:sp>
      <p:sp>
        <p:nvSpPr>
          <p:cNvPr id="5" name="TextBox 4"/>
          <p:cNvSpPr txBox="1"/>
          <p:nvPr/>
        </p:nvSpPr>
        <p:spPr>
          <a:xfrm>
            <a:off x="411480" y="3429000"/>
            <a:ext cx="8321040" cy="457200"/>
          </a:xfrm>
          <a:prstGeom prst="rect">
            <a:avLst/>
          </a:prstGeom>
          <a:noFill/>
        </p:spPr>
        <p:txBody>
          <a:bodyPr wrap="square" lIns="0" rIns="0" tIns="0" bIns="0" anchor="t">
            <a:spAutoFit/>
          </a:bodyPr>
          <a:lstStyle/>
          <a:p>
            <a:pPr algn="ctr"/>
            <a:r>
              <a:rPr sz="1030" b="0" i="0">
                <a:solidFill>
                  <a:srgbClr val="8A8A8A"/>
                </a:solidFill>
                <a:latin typeface="Montserrat"/>
              </a:rPr>
              <a:t>AWOSUSI GABRIEL AYOMIDE   •   CSC/2019/079   •   CSC 504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