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 id="2147483671" r:id="rId2"/>
  </p:sldMasterIdLst>
  <p:notesMasterIdLst>
    <p:notesMasterId r:id="rId3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13"/>
    <p:sldId id="276" r:id="rId12"/>
    <p:sldId id="277" r:id="rId11"/>
    <p:sldId id="278" r:id="rId10"/>
    <p:sldId id="279" r:id="rId9"/>
    <p:sldId id="280" r:id="rId8"/>
    <p:sldId id="281" r:id="rId7"/>
    <p:sldId id="282" r:id="rId6"/>
    <p:sldId id="283" r:id="rId5"/>
    <p:sldId id="284" r:id="rId4"/>
    <p:sldId id="285" r:id="rId3"/>
    <p:sldId id="286" r:id="rId44"/>
    <p:sldId id="287" r:id="rId45"/>
    <p:sldId id="288" r:id="rId46"/>
    <p:sldId id="289" r:id="rId47"/>
    <p:sldId id="290" r:id="rId48"/>
    <p:sldId id="291" r:id="rId49"/>
  </p:sldIdLst>
  <p:sldSz cx="9144000" cy="5143500"/>
  <p:notesSz cx="6858000" cy="9144000"/>
  <p:embeddedFontLst>
    <p:embeddedFont>
      <p:font typeface="Oswald" pitchFamily="2" charset="77"/>
      <p:regular r:id="rId34"/>
      <p:bold r:id="rId35"/>
    </p:embeddedFont>
    <p:embeddedFont>
      <p:font typeface="Source Code Pro" panose="020B0509030403020204" pitchFamily="49"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21B597B-DB9A-4BB6-B02E-52FB25035AD1}">
  <a:tblStyle styleId="{021B597B-DB9A-4BB6-B02E-52FB25035AD1}"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48"/>
  </p:normalViewPr>
  <p:slideViewPr>
    <p:cSldViewPr snapToGrid="0">
      <p:cViewPr varScale="1">
        <p:scale>
          <a:sx n="162" d="100"/>
          <a:sy n="162" d="100"/>
        </p:scale>
        <p:origin x="200" y="1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30.xml"/><Relationship Id="rId4" Type="http://schemas.openxmlformats.org/officeDocument/2006/relationships/slide" Target="slides/slide29.xml"/><Relationship Id="rId5" Type="http://schemas.openxmlformats.org/officeDocument/2006/relationships/slide" Target="slides/slide28.xml"/><Relationship Id="rId6" Type="http://schemas.openxmlformats.org/officeDocument/2006/relationships/slide" Target="slides/slide27.xml"/><Relationship Id="rId7" Type="http://schemas.openxmlformats.org/officeDocument/2006/relationships/slide" Target="slides/slide26.xml"/><Relationship Id="rId8" Type="http://schemas.openxmlformats.org/officeDocument/2006/relationships/slide" Target="slides/slide25.xml"/><Relationship Id="rId9" Type="http://schemas.openxmlformats.org/officeDocument/2006/relationships/slide" Target="slides/slide24.xml"/><Relationship Id="rId10" Type="http://schemas.openxmlformats.org/officeDocument/2006/relationships/slide" Target="slides/slide23.xml"/><Relationship Id="rId11" Type="http://schemas.openxmlformats.org/officeDocument/2006/relationships/slide" Target="slides/slide22.xml"/><Relationship Id="rId12" Type="http://schemas.openxmlformats.org/officeDocument/2006/relationships/slide" Target="slides/slide21.xml"/><Relationship Id="rId13" Type="http://schemas.openxmlformats.org/officeDocument/2006/relationships/slide" Target="slides/slide20.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notesMaster" Target="notesMasters/notesMaster1.xml"/><Relationship Id="rId34" Type="http://schemas.openxmlformats.org/officeDocument/2006/relationships/font" Target="fonts/font1.fntdata"/><Relationship Id="rId35" Type="http://schemas.openxmlformats.org/officeDocument/2006/relationships/font" Target="fonts/font2.fntdata"/><Relationship Id="rId36" Type="http://schemas.openxmlformats.org/officeDocument/2006/relationships/font" Target="fonts/font3.fntdata"/><Relationship Id="rId37" Type="http://schemas.openxmlformats.org/officeDocument/2006/relationships/font" Target="fonts/font4.fntdata"/><Relationship Id="rId38" Type="http://schemas.openxmlformats.org/officeDocument/2006/relationships/font" Target="fonts/font5.fntdata"/><Relationship Id="rId39" Type="http://schemas.openxmlformats.org/officeDocument/2006/relationships/font" Target="fonts/font6.fntdata"/><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Greet the panel. State the title, then one sentence: the system combines a statistical volume filter with a Random Forest, and every number reported comes from held-out data with spread and slippage charged.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this to fifteen seconds. Point out that the second column is where the evidence lives: design, results, and the live product.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Set up the problem in plain language. The last bullet is the framing the whole defence rests on: the contribution is a measurable method, not a promise of profit.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a panel member asks 'why not an LSTM?', this slide is the answer and it is already in Chapter 2. Interpretability is a stated project goal.</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third and fourth bullets are your differentiator. Most projects in this area cannot say them. Say them slowly.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Objective (iv) is the one to emphasise: the project is judged by whether the evaluation is sound, not by whether the numbers are flattering.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'Comment' column is the important one; it shows you engaged with each paper and measured its claim rather than citing it decoratively.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Bailey et al. is your defence against 'did you overfit?'. The answer is a process answer, and it was designed in from the start.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anti-leakage tests are worth naming aloud: each one deletes future rows and asserts that past feature values do not change.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Bullet four is the academic justification; bullet five is the engineering justification. Both matter to this panel.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State the data limitation yourself before anyone asks. It is a documented property of the data source, not a design flaw.</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map for the next twelve slides. Say: 'the design is not a proposal; all of it is built and measured.'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Standard Level-0 DFD: exactly one process, external entities as rectangles, labelled data flows, and no internal data stores at this level. Point out that the broker is an external entity; that is what makes it swappable.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rule that matters: nothing above Layer 4 knows which broker is in use. That is what makes mock-versus-real a one-line configuration change.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left to right in one sentence per block. Stress that the labeller feeds training only, and the backtester consumes the same pipeline as live trading.</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Notation check if asked: actors sit outside the boundary; «include» points from the base use case to the one it always invokes; «extend» points from the optional behaviour back to the base use case it may extend.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heart of the system. Both guards must be true; either [no] branch merges to HOLD. Note the strict greater-than on both thresholds.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generalization triangles point at the abstract class. This is the design decision that let the whole system be built and tested on macOS while the real broker library is Windows-only.</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are genuine numbers from a dry run, not invented. If asked, the selectivity (1.3% of candles) is deliberate; see Barber &amp; Odean.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you are asked 'what was your biggest contribution?', this is the answer: changing the question the model is asked, so the training target matches how a trade actually resolves.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hide the two FAILs; lead with them if necessary. A panel trusts a candidate who reports failures precisely far more than one whose every number passes.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slide wins vivas. You raised the objection before the panel did, quantified it, and showed where the model still adds value.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Frame this as publishable. Most student projects report only what worked; you can state precisely what did not, and by how much.</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your strongest single slide for demonstrating research method: a popular technique, implemented faithfully, measured, and rejected on evidence, with an explanation of WHY it failed.</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both of these open in a terminal and a browser tab during the defence in case the panel asks you to run it live. Commands are in docs/COMMANDS.md.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'negative result' with confidence. You proved a published approach does not work and documented why; that is a contribution.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 precise about the direction of transfer: the ARCHITECTURE and the Wine finding transferred. Gadel contains no machine learning and has never run this project's model; do not claim its trading results as yours.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Rehearse this slide. If a panel member suspects you are borrowing another system's results, this slide answers it before they finish the question.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Redaction is not optional: these are real accounts. Black boxes over account numbers, balances, server hostnames and any token.</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'expressed interest', never 'customers' or 'willing to pay': a waiting-list signup is not a purchase. Overstating this is the one thing that could damage your credibility on an otherwise careful project.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contributions, and four of them are about method rather than performance. That is the right emphasis for a Computer Science degree.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Being specific about what is unfinished, and why, reads as control. The latency session is limited by market conditions, not by unfinished code.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 on the last bullet and stop talking. It is the strongest sentence you have and it invites exactly the questions you are prepared for.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read these aloud. They are here so the panel can see the work is grounded in the literature; the full list is in the report.</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read these aloud. They are here so the panel can see the work is grounded in the literature; the full list is in the report.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docs/DEFENCE_GUIDE.md open on a second screen; it holds prepared answers to the twelve most likely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rot="10800000">
            <a:off x="4226100" y="2933550"/>
            <a:ext cx="691800" cy="3885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25" y="0"/>
            <a:ext cx="9144000" cy="3124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411175" y="644300"/>
            <a:ext cx="8282400" cy="21090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1"/>
              </a:buClr>
              <a:buSzPts val="6000"/>
              <a:buNone/>
              <a:defRPr sz="6000">
                <a:solidFill>
                  <a:schemeClr val="lt1"/>
                </a:solidFill>
              </a:defRPr>
            </a:lvl1pPr>
            <a:lvl2pPr lvl="1" algn="ctr">
              <a:spcBef>
                <a:spcPts val="0"/>
              </a:spcBef>
              <a:spcAft>
                <a:spcPts val="0"/>
              </a:spcAft>
              <a:buClr>
                <a:schemeClr val="lt1"/>
              </a:buClr>
              <a:buSzPts val="6000"/>
              <a:buNone/>
              <a:defRPr sz="6000">
                <a:solidFill>
                  <a:schemeClr val="lt1"/>
                </a:solidFill>
              </a:defRPr>
            </a:lvl2pPr>
            <a:lvl3pPr lvl="2" algn="ctr">
              <a:spcBef>
                <a:spcPts val="0"/>
              </a:spcBef>
              <a:spcAft>
                <a:spcPts val="0"/>
              </a:spcAft>
              <a:buClr>
                <a:schemeClr val="lt1"/>
              </a:buClr>
              <a:buSzPts val="6000"/>
              <a:buNone/>
              <a:defRPr sz="6000">
                <a:solidFill>
                  <a:schemeClr val="lt1"/>
                </a:solidFill>
              </a:defRPr>
            </a:lvl3pPr>
            <a:lvl4pPr lvl="3" algn="ctr">
              <a:spcBef>
                <a:spcPts val="0"/>
              </a:spcBef>
              <a:spcAft>
                <a:spcPts val="0"/>
              </a:spcAft>
              <a:buClr>
                <a:schemeClr val="lt1"/>
              </a:buClr>
              <a:buSzPts val="6000"/>
              <a:buNone/>
              <a:defRPr sz="6000">
                <a:solidFill>
                  <a:schemeClr val="lt1"/>
                </a:solidFill>
              </a:defRPr>
            </a:lvl4pPr>
            <a:lvl5pPr lvl="4" algn="ctr">
              <a:spcBef>
                <a:spcPts val="0"/>
              </a:spcBef>
              <a:spcAft>
                <a:spcPts val="0"/>
              </a:spcAft>
              <a:buClr>
                <a:schemeClr val="lt1"/>
              </a:buClr>
              <a:buSzPts val="6000"/>
              <a:buNone/>
              <a:defRPr sz="6000">
                <a:solidFill>
                  <a:schemeClr val="lt1"/>
                </a:solidFill>
              </a:defRPr>
            </a:lvl5pPr>
            <a:lvl6pPr lvl="5" algn="ctr">
              <a:spcBef>
                <a:spcPts val="0"/>
              </a:spcBef>
              <a:spcAft>
                <a:spcPts val="0"/>
              </a:spcAft>
              <a:buClr>
                <a:schemeClr val="lt1"/>
              </a:buClr>
              <a:buSzPts val="6000"/>
              <a:buNone/>
              <a:defRPr sz="6000">
                <a:solidFill>
                  <a:schemeClr val="lt1"/>
                </a:solidFill>
              </a:defRPr>
            </a:lvl6pPr>
            <a:lvl7pPr lvl="6" algn="ctr">
              <a:spcBef>
                <a:spcPts val="0"/>
              </a:spcBef>
              <a:spcAft>
                <a:spcPts val="0"/>
              </a:spcAft>
              <a:buClr>
                <a:schemeClr val="lt1"/>
              </a:buClr>
              <a:buSzPts val="6000"/>
              <a:buNone/>
              <a:defRPr sz="6000">
                <a:solidFill>
                  <a:schemeClr val="lt1"/>
                </a:solidFill>
              </a:defRPr>
            </a:lvl7pPr>
            <a:lvl8pPr lvl="7" algn="ctr">
              <a:spcBef>
                <a:spcPts val="0"/>
              </a:spcBef>
              <a:spcAft>
                <a:spcPts val="0"/>
              </a:spcAft>
              <a:buClr>
                <a:schemeClr val="lt1"/>
              </a:buClr>
              <a:buSzPts val="6000"/>
              <a:buNone/>
              <a:defRPr sz="6000">
                <a:solidFill>
                  <a:schemeClr val="lt1"/>
                </a:solidFill>
              </a:defRPr>
            </a:lvl8pPr>
            <a:lvl9pPr lvl="8" algn="ctr">
              <a:spcBef>
                <a:spcPts val="0"/>
              </a:spcBef>
              <a:spcAft>
                <a:spcPts val="0"/>
              </a:spcAft>
              <a:buClr>
                <a:schemeClr val="lt1"/>
              </a:buClr>
              <a:buSzPts val="6000"/>
              <a:buNone/>
              <a:defRPr sz="6000">
                <a:solidFill>
                  <a:schemeClr val="lt1"/>
                </a:solidFill>
              </a:defRPr>
            </a:lvl9pPr>
          </a:lstStyle>
          <a:p>
            <a:endParaRPr/>
          </a:p>
        </p:txBody>
      </p:sp>
      <p:sp>
        <p:nvSpPr>
          <p:cNvPr id="13" name="Google Shape;13;p2"/>
          <p:cNvSpPr txBox="1">
            <a:spLocks noGrp="1"/>
          </p:cNvSpPr>
          <p:nvPr>
            <p:ph type="subTitle" idx="1"/>
          </p:nvPr>
        </p:nvSpPr>
        <p:spPr>
          <a:xfrm>
            <a:off x="411175" y="3398250"/>
            <a:ext cx="8282400" cy="12606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3600"/>
              <a:buFont typeface="Oswald"/>
              <a:buNone/>
              <a:defRPr sz="3600">
                <a:latin typeface="Oswald"/>
                <a:ea typeface="Oswald"/>
                <a:cs typeface="Oswald"/>
                <a:sym typeface="Oswald"/>
              </a:defRPr>
            </a:lvl1pPr>
            <a:lvl2pPr lvl="1" algn="ctr">
              <a:lnSpc>
                <a:spcPct val="100000"/>
              </a:lnSpc>
              <a:spcBef>
                <a:spcPts val="0"/>
              </a:spcBef>
              <a:spcAft>
                <a:spcPts val="0"/>
              </a:spcAft>
              <a:buSzPts val="3600"/>
              <a:buFont typeface="Oswald"/>
              <a:buNone/>
              <a:defRPr sz="3600">
                <a:latin typeface="Oswald"/>
                <a:ea typeface="Oswald"/>
                <a:cs typeface="Oswald"/>
                <a:sym typeface="Oswald"/>
              </a:defRPr>
            </a:lvl2pPr>
            <a:lvl3pPr lvl="2" algn="ctr">
              <a:lnSpc>
                <a:spcPct val="100000"/>
              </a:lnSpc>
              <a:spcBef>
                <a:spcPts val="0"/>
              </a:spcBef>
              <a:spcAft>
                <a:spcPts val="0"/>
              </a:spcAft>
              <a:buSzPts val="3600"/>
              <a:buFont typeface="Oswald"/>
              <a:buNone/>
              <a:defRPr sz="3600">
                <a:latin typeface="Oswald"/>
                <a:ea typeface="Oswald"/>
                <a:cs typeface="Oswald"/>
                <a:sym typeface="Oswald"/>
              </a:defRPr>
            </a:lvl3pPr>
            <a:lvl4pPr lvl="3" algn="ctr">
              <a:lnSpc>
                <a:spcPct val="100000"/>
              </a:lnSpc>
              <a:spcBef>
                <a:spcPts val="0"/>
              </a:spcBef>
              <a:spcAft>
                <a:spcPts val="0"/>
              </a:spcAft>
              <a:buSzPts val="3600"/>
              <a:buFont typeface="Oswald"/>
              <a:buNone/>
              <a:defRPr sz="3600">
                <a:latin typeface="Oswald"/>
                <a:ea typeface="Oswald"/>
                <a:cs typeface="Oswald"/>
                <a:sym typeface="Oswald"/>
              </a:defRPr>
            </a:lvl4pPr>
            <a:lvl5pPr lvl="4" algn="ctr">
              <a:lnSpc>
                <a:spcPct val="100000"/>
              </a:lnSpc>
              <a:spcBef>
                <a:spcPts val="0"/>
              </a:spcBef>
              <a:spcAft>
                <a:spcPts val="0"/>
              </a:spcAft>
              <a:buSzPts val="3600"/>
              <a:buFont typeface="Oswald"/>
              <a:buNone/>
              <a:defRPr sz="3600">
                <a:latin typeface="Oswald"/>
                <a:ea typeface="Oswald"/>
                <a:cs typeface="Oswald"/>
                <a:sym typeface="Oswald"/>
              </a:defRPr>
            </a:lvl5pPr>
            <a:lvl6pPr lvl="5" algn="ctr">
              <a:lnSpc>
                <a:spcPct val="100000"/>
              </a:lnSpc>
              <a:spcBef>
                <a:spcPts val="0"/>
              </a:spcBef>
              <a:spcAft>
                <a:spcPts val="0"/>
              </a:spcAft>
              <a:buSzPts val="3600"/>
              <a:buFont typeface="Oswald"/>
              <a:buNone/>
              <a:defRPr sz="3600">
                <a:latin typeface="Oswald"/>
                <a:ea typeface="Oswald"/>
                <a:cs typeface="Oswald"/>
                <a:sym typeface="Oswald"/>
              </a:defRPr>
            </a:lvl6pPr>
            <a:lvl7pPr lvl="6" algn="ctr">
              <a:lnSpc>
                <a:spcPct val="100000"/>
              </a:lnSpc>
              <a:spcBef>
                <a:spcPts val="0"/>
              </a:spcBef>
              <a:spcAft>
                <a:spcPts val="0"/>
              </a:spcAft>
              <a:buSzPts val="3600"/>
              <a:buFont typeface="Oswald"/>
              <a:buNone/>
              <a:defRPr sz="3600">
                <a:latin typeface="Oswald"/>
                <a:ea typeface="Oswald"/>
                <a:cs typeface="Oswald"/>
                <a:sym typeface="Oswald"/>
              </a:defRPr>
            </a:lvl7pPr>
            <a:lvl8pPr lvl="7" algn="ctr">
              <a:lnSpc>
                <a:spcPct val="100000"/>
              </a:lnSpc>
              <a:spcBef>
                <a:spcPts val="0"/>
              </a:spcBef>
              <a:spcAft>
                <a:spcPts val="0"/>
              </a:spcAft>
              <a:buSzPts val="3600"/>
              <a:buFont typeface="Oswald"/>
              <a:buNone/>
              <a:defRPr sz="3600">
                <a:latin typeface="Oswald"/>
                <a:ea typeface="Oswald"/>
                <a:cs typeface="Oswald"/>
                <a:sym typeface="Oswald"/>
              </a:defRPr>
            </a:lvl8pPr>
            <a:lvl9pPr lvl="8" algn="ctr">
              <a:lnSpc>
                <a:spcPct val="100000"/>
              </a:lnSpc>
              <a:spcBef>
                <a:spcPts val="0"/>
              </a:spcBef>
              <a:spcAft>
                <a:spcPts val="0"/>
              </a:spcAft>
              <a:buSzPts val="3600"/>
              <a:buFont typeface="Oswald"/>
              <a:buNone/>
              <a:defRPr sz="3600">
                <a:latin typeface="Oswald"/>
                <a:ea typeface="Oswald"/>
                <a:cs typeface="Oswald"/>
                <a:sym typeface="Oswald"/>
              </a:defRPr>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p:nvPr/>
        </p:nvSpPr>
        <p:spPr>
          <a:xfrm>
            <a:off x="0" y="1567350"/>
            <a:ext cx="9144000" cy="2008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3"/>
          <p:cNvSpPr txBox="1">
            <a:spLocks noGrp="1"/>
          </p:cNvSpPr>
          <p:nvPr>
            <p:ph type="title"/>
          </p:nvPr>
        </p:nvSpPr>
        <p:spPr>
          <a:xfrm>
            <a:off x="430800" y="1889700"/>
            <a:ext cx="8282400" cy="15165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1"/>
              </a:buClr>
              <a:buSzPts val="3600"/>
              <a:buNone/>
              <a:defRPr sz="3600">
                <a:solidFill>
                  <a:schemeClr val="lt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cxnSp>
        <p:nvCxnSpPr>
          <p:cNvPr id="20" name="Google Shape;20;p4"/>
          <p:cNvCxnSpPr/>
          <p:nvPr/>
        </p:nvCxnSpPr>
        <p:spPr>
          <a:xfrm>
            <a:off x="429200" y="1275577"/>
            <a:ext cx="614100" cy="0"/>
          </a:xfrm>
          <a:prstGeom prst="straightConnector1">
            <a:avLst/>
          </a:prstGeom>
          <a:noFill/>
          <a:ln w="19050" cap="flat" cmpd="sng">
            <a:solidFill>
              <a:schemeClr val="dk2"/>
            </a:solidFill>
            <a:prstDash val="lgDash"/>
            <a:round/>
            <a:headEnd type="none" w="sm" len="sm"/>
            <a:tailEnd type="none" w="sm" len="sm"/>
          </a:ln>
        </p:spPr>
      </p:cxnSp>
      <p:sp>
        <p:nvSpPr>
          <p:cNvPr id="21" name="Google Shape;21;p4"/>
          <p:cNvSpPr txBox="1">
            <a:spLocks noGrp="1"/>
          </p:cNvSpPr>
          <p:nvPr>
            <p:ph type="title"/>
          </p:nvPr>
        </p:nvSpPr>
        <p:spPr>
          <a:xfrm>
            <a:off x="311700" y="372500"/>
            <a:ext cx="8520600" cy="7335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311700" y="1468825"/>
            <a:ext cx="8520600" cy="30999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3" name="Google Shape;23;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cxnSp>
        <p:nvCxnSpPr>
          <p:cNvPr id="25" name="Google Shape;25;p5"/>
          <p:cNvCxnSpPr/>
          <p:nvPr/>
        </p:nvCxnSpPr>
        <p:spPr>
          <a:xfrm>
            <a:off x="429200" y="1275577"/>
            <a:ext cx="614100" cy="0"/>
          </a:xfrm>
          <a:prstGeom prst="straightConnector1">
            <a:avLst/>
          </a:prstGeom>
          <a:noFill/>
          <a:ln w="19050" cap="flat" cmpd="sng">
            <a:solidFill>
              <a:schemeClr val="dk2"/>
            </a:solidFill>
            <a:prstDash val="lgDash"/>
            <a:round/>
            <a:headEnd type="none" w="sm" len="sm"/>
            <a:tailEnd type="none" w="sm" len="sm"/>
          </a:ln>
        </p:spPr>
      </p:cxnSp>
      <p:sp>
        <p:nvSpPr>
          <p:cNvPr id="26" name="Google Shape;26;p5"/>
          <p:cNvSpPr txBox="1">
            <a:spLocks noGrp="1"/>
          </p:cNvSpPr>
          <p:nvPr>
            <p:ph type="title"/>
          </p:nvPr>
        </p:nvSpPr>
        <p:spPr>
          <a:xfrm>
            <a:off x="311700" y="372500"/>
            <a:ext cx="8520600" cy="7335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7" name="Google Shape;27;p5"/>
          <p:cNvSpPr txBox="1">
            <a:spLocks noGrp="1"/>
          </p:cNvSpPr>
          <p:nvPr>
            <p:ph type="body" idx="1"/>
          </p:nvPr>
        </p:nvSpPr>
        <p:spPr>
          <a:xfrm>
            <a:off x="311700" y="1468825"/>
            <a:ext cx="3999900" cy="3099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8" name="Google Shape;28;p5"/>
          <p:cNvSpPr txBox="1">
            <a:spLocks noGrp="1"/>
          </p:cNvSpPr>
          <p:nvPr>
            <p:ph type="body" idx="2"/>
          </p:nvPr>
        </p:nvSpPr>
        <p:spPr>
          <a:xfrm>
            <a:off x="4832400" y="1468825"/>
            <a:ext cx="3999900" cy="3099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372500"/>
            <a:ext cx="8520600" cy="7335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cxnSp>
        <p:nvCxnSpPr>
          <p:cNvPr id="34" name="Google Shape;34;p7"/>
          <p:cNvCxnSpPr/>
          <p:nvPr/>
        </p:nvCxnSpPr>
        <p:spPr>
          <a:xfrm>
            <a:off x="418675" y="1457787"/>
            <a:ext cx="614100" cy="0"/>
          </a:xfrm>
          <a:prstGeom prst="straightConnector1">
            <a:avLst/>
          </a:prstGeom>
          <a:noFill/>
          <a:ln w="19050" cap="flat" cmpd="sng">
            <a:solidFill>
              <a:schemeClr val="dk2"/>
            </a:solidFill>
            <a:prstDash val="lgDash"/>
            <a:round/>
            <a:headEnd type="none" w="sm" len="sm"/>
            <a:tailEnd type="none" w="sm" len="sm"/>
          </a:ln>
        </p:spPr>
      </p:cxnSp>
      <p:sp>
        <p:nvSpPr>
          <p:cNvPr id="35" name="Google Shape;35;p7"/>
          <p:cNvSpPr txBox="1">
            <a:spLocks noGrp="1"/>
          </p:cNvSpPr>
          <p:nvPr>
            <p:ph type="title"/>
          </p:nvPr>
        </p:nvSpPr>
        <p:spPr>
          <a:xfrm>
            <a:off x="311700" y="6318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6" name="Google Shape;36;p7"/>
          <p:cNvSpPr txBox="1">
            <a:spLocks noGrp="1"/>
          </p:cNvSpPr>
          <p:nvPr>
            <p:ph type="body" idx="1"/>
          </p:nvPr>
        </p:nvSpPr>
        <p:spPr>
          <a:xfrm>
            <a:off x="311700" y="1618204"/>
            <a:ext cx="2808000" cy="29508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7" name="Google Shape;37;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38"/>
        <p:cNvGrpSpPr/>
        <p:nvPr/>
      </p:nvGrpSpPr>
      <p:grpSpPr>
        <a:xfrm>
          <a:off x="0" y="0"/>
          <a:ext cx="0" cy="0"/>
          <a:chOff x="0" y="0"/>
          <a:chExt cx="0" cy="0"/>
        </a:xfrm>
      </p:grpSpPr>
      <p:sp>
        <p:nvSpPr>
          <p:cNvPr id="39" name="Google Shape;39;p8"/>
          <p:cNvSpPr txBox="1">
            <a:spLocks noGrp="1"/>
          </p:cNvSpPr>
          <p:nvPr>
            <p:ph type="title"/>
          </p:nvPr>
        </p:nvSpPr>
        <p:spPr>
          <a:xfrm>
            <a:off x="490250" y="528900"/>
            <a:ext cx="5678100" cy="4085700"/>
          </a:xfrm>
          <a:prstGeom prst="rect">
            <a:avLst/>
          </a:prstGeom>
        </p:spPr>
        <p:txBody>
          <a:bodyPr spcFirstLastPara="1" wrap="square" lIns="91425" tIns="91425" rIns="91425" bIns="91425" anchor="ctr" anchorCtr="0">
            <a:noAutofit/>
          </a:bodyPr>
          <a:lstStyle>
            <a:lvl1pPr lvl="0">
              <a:spcBef>
                <a:spcPts val="0"/>
              </a:spcBef>
              <a:spcAft>
                <a:spcPts val="0"/>
              </a:spcAft>
              <a:buClr>
                <a:schemeClr val="lt1"/>
              </a:buClr>
              <a:buSzPts val="5400"/>
              <a:buNone/>
              <a:defRPr sz="5400">
                <a:solidFill>
                  <a:schemeClr val="lt1"/>
                </a:solidFill>
              </a:defRPr>
            </a:lvl1pPr>
            <a:lvl2pPr lvl="1">
              <a:spcBef>
                <a:spcPts val="0"/>
              </a:spcBef>
              <a:spcAft>
                <a:spcPts val="0"/>
              </a:spcAft>
              <a:buClr>
                <a:schemeClr val="lt1"/>
              </a:buClr>
              <a:buSzPts val="5400"/>
              <a:buNone/>
              <a:defRPr sz="5400">
                <a:solidFill>
                  <a:schemeClr val="lt1"/>
                </a:solidFill>
              </a:defRPr>
            </a:lvl2pPr>
            <a:lvl3pPr lvl="2">
              <a:spcBef>
                <a:spcPts val="0"/>
              </a:spcBef>
              <a:spcAft>
                <a:spcPts val="0"/>
              </a:spcAft>
              <a:buClr>
                <a:schemeClr val="lt1"/>
              </a:buClr>
              <a:buSzPts val="5400"/>
              <a:buNone/>
              <a:defRPr sz="5400">
                <a:solidFill>
                  <a:schemeClr val="lt1"/>
                </a:solidFill>
              </a:defRPr>
            </a:lvl3pPr>
            <a:lvl4pPr lvl="3">
              <a:spcBef>
                <a:spcPts val="0"/>
              </a:spcBef>
              <a:spcAft>
                <a:spcPts val="0"/>
              </a:spcAft>
              <a:buClr>
                <a:schemeClr val="lt1"/>
              </a:buClr>
              <a:buSzPts val="5400"/>
              <a:buNone/>
              <a:defRPr sz="5400">
                <a:solidFill>
                  <a:schemeClr val="lt1"/>
                </a:solidFill>
              </a:defRPr>
            </a:lvl4pPr>
            <a:lvl5pPr lvl="4">
              <a:spcBef>
                <a:spcPts val="0"/>
              </a:spcBef>
              <a:spcAft>
                <a:spcPts val="0"/>
              </a:spcAft>
              <a:buClr>
                <a:schemeClr val="lt1"/>
              </a:buClr>
              <a:buSzPts val="5400"/>
              <a:buNone/>
              <a:defRPr sz="5400">
                <a:solidFill>
                  <a:schemeClr val="lt1"/>
                </a:solidFill>
              </a:defRPr>
            </a:lvl5pPr>
            <a:lvl6pPr lvl="5">
              <a:spcBef>
                <a:spcPts val="0"/>
              </a:spcBef>
              <a:spcAft>
                <a:spcPts val="0"/>
              </a:spcAft>
              <a:buClr>
                <a:schemeClr val="lt1"/>
              </a:buClr>
              <a:buSzPts val="5400"/>
              <a:buNone/>
              <a:defRPr sz="5400">
                <a:solidFill>
                  <a:schemeClr val="lt1"/>
                </a:solidFill>
              </a:defRPr>
            </a:lvl6pPr>
            <a:lvl7pPr lvl="6">
              <a:spcBef>
                <a:spcPts val="0"/>
              </a:spcBef>
              <a:spcAft>
                <a:spcPts val="0"/>
              </a:spcAft>
              <a:buClr>
                <a:schemeClr val="lt1"/>
              </a:buClr>
              <a:buSzPts val="5400"/>
              <a:buNone/>
              <a:defRPr sz="5400">
                <a:solidFill>
                  <a:schemeClr val="lt1"/>
                </a:solidFill>
              </a:defRPr>
            </a:lvl7pPr>
            <a:lvl8pPr lvl="7">
              <a:spcBef>
                <a:spcPts val="0"/>
              </a:spcBef>
              <a:spcAft>
                <a:spcPts val="0"/>
              </a:spcAft>
              <a:buClr>
                <a:schemeClr val="lt1"/>
              </a:buClr>
              <a:buSzPts val="5400"/>
              <a:buNone/>
              <a:defRPr sz="5400">
                <a:solidFill>
                  <a:schemeClr val="lt1"/>
                </a:solidFill>
              </a:defRPr>
            </a:lvl8pPr>
            <a:lvl9pPr lvl="8">
              <a:spcBef>
                <a:spcPts val="0"/>
              </a:spcBef>
              <a:spcAft>
                <a:spcPts val="0"/>
              </a:spcAft>
              <a:buClr>
                <a:schemeClr val="lt1"/>
              </a:buClr>
              <a:buSzPts val="5400"/>
              <a:buNone/>
              <a:defRPr sz="5400">
                <a:solidFill>
                  <a:schemeClr val="lt1"/>
                </a:solidFill>
              </a:defRPr>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chemeClr val="dk1"/>
        </a:solidFill>
        <a:effectLst/>
      </p:bgPr>
    </p:bg>
    <p:spTree>
      <p:nvGrpSpPr>
        <p:cNvPr id="1" name="Shape 41"/>
        <p:cNvGrpSpPr/>
        <p:nvPr/>
      </p:nvGrpSpPr>
      <p:grpSpPr>
        <a:xfrm>
          <a:off x="0" y="0"/>
          <a:ext cx="0" cy="0"/>
          <a:chOff x="0" y="0"/>
          <a:chExt cx="0" cy="0"/>
        </a:xfrm>
      </p:grpSpPr>
      <p:sp>
        <p:nvSpPr>
          <p:cNvPr id="42" name="Google Shape;42;p9"/>
          <p:cNvSpPr/>
          <p:nvPr/>
        </p:nvSpPr>
        <p:spPr>
          <a:xfrm>
            <a:off x="4572000" y="175"/>
            <a:ext cx="4572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 name="Google Shape;43;p9"/>
          <p:cNvCxnSpPr/>
          <p:nvPr/>
        </p:nvCxnSpPr>
        <p:spPr>
          <a:xfrm>
            <a:off x="5029675" y="4495500"/>
            <a:ext cx="577200" cy="0"/>
          </a:xfrm>
          <a:prstGeom prst="straightConnector1">
            <a:avLst/>
          </a:prstGeom>
          <a:noFill/>
          <a:ln w="19050" cap="flat" cmpd="sng">
            <a:solidFill>
              <a:schemeClr val="dk1"/>
            </a:solidFill>
            <a:prstDash val="lgDash"/>
            <a:round/>
            <a:headEnd type="none" w="sm" len="sm"/>
            <a:tailEnd type="none" w="sm" len="sm"/>
          </a:ln>
        </p:spPr>
      </p:cxnSp>
      <p:sp>
        <p:nvSpPr>
          <p:cNvPr id="44" name="Google Shape;44;p9"/>
          <p:cNvSpPr txBox="1">
            <a:spLocks noGrp="1"/>
          </p:cNvSpPr>
          <p:nvPr>
            <p:ph type="title"/>
          </p:nvPr>
        </p:nvSpPr>
        <p:spPr>
          <a:xfrm>
            <a:off x="265500" y="1078750"/>
            <a:ext cx="4045200" cy="17892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1"/>
              </a:buClr>
              <a:buSzPts val="4600"/>
              <a:buNone/>
              <a:defRPr sz="4600">
                <a:solidFill>
                  <a:schemeClr val="lt1"/>
                </a:solidFill>
              </a:defRPr>
            </a:lvl1pPr>
            <a:lvl2pPr lvl="1" algn="ctr">
              <a:spcBef>
                <a:spcPts val="0"/>
              </a:spcBef>
              <a:spcAft>
                <a:spcPts val="0"/>
              </a:spcAft>
              <a:buClr>
                <a:schemeClr val="lt1"/>
              </a:buClr>
              <a:buSzPts val="4600"/>
              <a:buNone/>
              <a:defRPr sz="4600">
                <a:solidFill>
                  <a:schemeClr val="lt1"/>
                </a:solidFill>
              </a:defRPr>
            </a:lvl2pPr>
            <a:lvl3pPr lvl="2" algn="ctr">
              <a:spcBef>
                <a:spcPts val="0"/>
              </a:spcBef>
              <a:spcAft>
                <a:spcPts val="0"/>
              </a:spcAft>
              <a:buClr>
                <a:schemeClr val="lt1"/>
              </a:buClr>
              <a:buSzPts val="4600"/>
              <a:buNone/>
              <a:defRPr sz="4600">
                <a:solidFill>
                  <a:schemeClr val="lt1"/>
                </a:solidFill>
              </a:defRPr>
            </a:lvl3pPr>
            <a:lvl4pPr lvl="3" algn="ctr">
              <a:spcBef>
                <a:spcPts val="0"/>
              </a:spcBef>
              <a:spcAft>
                <a:spcPts val="0"/>
              </a:spcAft>
              <a:buClr>
                <a:schemeClr val="lt1"/>
              </a:buClr>
              <a:buSzPts val="4600"/>
              <a:buNone/>
              <a:defRPr sz="4600">
                <a:solidFill>
                  <a:schemeClr val="lt1"/>
                </a:solidFill>
              </a:defRPr>
            </a:lvl4pPr>
            <a:lvl5pPr lvl="4" algn="ctr">
              <a:spcBef>
                <a:spcPts val="0"/>
              </a:spcBef>
              <a:spcAft>
                <a:spcPts val="0"/>
              </a:spcAft>
              <a:buClr>
                <a:schemeClr val="lt1"/>
              </a:buClr>
              <a:buSzPts val="4600"/>
              <a:buNone/>
              <a:defRPr sz="4600">
                <a:solidFill>
                  <a:schemeClr val="lt1"/>
                </a:solidFill>
              </a:defRPr>
            </a:lvl5pPr>
            <a:lvl6pPr lvl="5" algn="ctr">
              <a:spcBef>
                <a:spcPts val="0"/>
              </a:spcBef>
              <a:spcAft>
                <a:spcPts val="0"/>
              </a:spcAft>
              <a:buClr>
                <a:schemeClr val="lt1"/>
              </a:buClr>
              <a:buSzPts val="4600"/>
              <a:buNone/>
              <a:defRPr sz="4600">
                <a:solidFill>
                  <a:schemeClr val="lt1"/>
                </a:solidFill>
              </a:defRPr>
            </a:lvl6pPr>
            <a:lvl7pPr lvl="6" algn="ctr">
              <a:spcBef>
                <a:spcPts val="0"/>
              </a:spcBef>
              <a:spcAft>
                <a:spcPts val="0"/>
              </a:spcAft>
              <a:buClr>
                <a:schemeClr val="lt1"/>
              </a:buClr>
              <a:buSzPts val="4600"/>
              <a:buNone/>
              <a:defRPr sz="4600">
                <a:solidFill>
                  <a:schemeClr val="lt1"/>
                </a:solidFill>
              </a:defRPr>
            </a:lvl7pPr>
            <a:lvl8pPr lvl="7" algn="ctr">
              <a:spcBef>
                <a:spcPts val="0"/>
              </a:spcBef>
              <a:spcAft>
                <a:spcPts val="0"/>
              </a:spcAft>
              <a:buClr>
                <a:schemeClr val="lt1"/>
              </a:buClr>
              <a:buSzPts val="4600"/>
              <a:buNone/>
              <a:defRPr sz="4600">
                <a:solidFill>
                  <a:schemeClr val="lt1"/>
                </a:solidFill>
              </a:defRPr>
            </a:lvl8pPr>
            <a:lvl9pPr lvl="8" algn="ctr">
              <a:spcBef>
                <a:spcPts val="0"/>
              </a:spcBef>
              <a:spcAft>
                <a:spcPts val="0"/>
              </a:spcAft>
              <a:buClr>
                <a:schemeClr val="lt1"/>
              </a:buClr>
              <a:buSzPts val="4600"/>
              <a:buNone/>
              <a:defRPr sz="4600">
                <a:solidFill>
                  <a:schemeClr val="lt1"/>
                </a:solidFill>
              </a:defRPr>
            </a:lvl9pPr>
          </a:lstStyle>
          <a:p>
            <a:endParaRPr/>
          </a:p>
        </p:txBody>
      </p:sp>
      <p:sp>
        <p:nvSpPr>
          <p:cNvPr id="45" name="Google Shape;45;p9"/>
          <p:cNvSpPr txBox="1">
            <a:spLocks noGrp="1"/>
          </p:cNvSpPr>
          <p:nvPr>
            <p:ph type="subTitle" idx="1"/>
          </p:nvPr>
        </p:nvSpPr>
        <p:spPr>
          <a:xfrm>
            <a:off x="265500" y="2921401"/>
            <a:ext cx="4045200" cy="1345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lt1"/>
              </a:buClr>
              <a:buSzPts val="1900"/>
              <a:buNone/>
              <a:defRPr sz="1900">
                <a:solidFill>
                  <a:schemeClr val="lt1"/>
                </a:solidFill>
              </a:defRPr>
            </a:lvl1pPr>
            <a:lvl2pPr lvl="1" algn="ctr">
              <a:lnSpc>
                <a:spcPct val="100000"/>
              </a:lnSpc>
              <a:spcBef>
                <a:spcPts val="0"/>
              </a:spcBef>
              <a:spcAft>
                <a:spcPts val="0"/>
              </a:spcAft>
              <a:buClr>
                <a:schemeClr val="lt1"/>
              </a:buClr>
              <a:buSzPts val="1900"/>
              <a:buNone/>
              <a:defRPr sz="1900">
                <a:solidFill>
                  <a:schemeClr val="lt1"/>
                </a:solidFill>
              </a:defRPr>
            </a:lvl2pPr>
            <a:lvl3pPr lvl="2" algn="ctr">
              <a:lnSpc>
                <a:spcPct val="100000"/>
              </a:lnSpc>
              <a:spcBef>
                <a:spcPts val="0"/>
              </a:spcBef>
              <a:spcAft>
                <a:spcPts val="0"/>
              </a:spcAft>
              <a:buClr>
                <a:schemeClr val="lt1"/>
              </a:buClr>
              <a:buSzPts val="1900"/>
              <a:buNone/>
              <a:defRPr sz="1900">
                <a:solidFill>
                  <a:schemeClr val="lt1"/>
                </a:solidFill>
              </a:defRPr>
            </a:lvl3pPr>
            <a:lvl4pPr lvl="3" algn="ctr">
              <a:lnSpc>
                <a:spcPct val="100000"/>
              </a:lnSpc>
              <a:spcBef>
                <a:spcPts val="0"/>
              </a:spcBef>
              <a:spcAft>
                <a:spcPts val="0"/>
              </a:spcAft>
              <a:buClr>
                <a:schemeClr val="lt1"/>
              </a:buClr>
              <a:buSzPts val="1900"/>
              <a:buNone/>
              <a:defRPr sz="1900">
                <a:solidFill>
                  <a:schemeClr val="lt1"/>
                </a:solidFill>
              </a:defRPr>
            </a:lvl4pPr>
            <a:lvl5pPr lvl="4" algn="ctr">
              <a:lnSpc>
                <a:spcPct val="100000"/>
              </a:lnSpc>
              <a:spcBef>
                <a:spcPts val="0"/>
              </a:spcBef>
              <a:spcAft>
                <a:spcPts val="0"/>
              </a:spcAft>
              <a:buClr>
                <a:schemeClr val="lt1"/>
              </a:buClr>
              <a:buSzPts val="1900"/>
              <a:buNone/>
              <a:defRPr sz="1900">
                <a:solidFill>
                  <a:schemeClr val="lt1"/>
                </a:solidFill>
              </a:defRPr>
            </a:lvl5pPr>
            <a:lvl6pPr lvl="5" algn="ctr">
              <a:lnSpc>
                <a:spcPct val="100000"/>
              </a:lnSpc>
              <a:spcBef>
                <a:spcPts val="0"/>
              </a:spcBef>
              <a:spcAft>
                <a:spcPts val="0"/>
              </a:spcAft>
              <a:buClr>
                <a:schemeClr val="lt1"/>
              </a:buClr>
              <a:buSzPts val="1900"/>
              <a:buNone/>
              <a:defRPr sz="1900">
                <a:solidFill>
                  <a:schemeClr val="lt1"/>
                </a:solidFill>
              </a:defRPr>
            </a:lvl6pPr>
            <a:lvl7pPr lvl="6" algn="ctr">
              <a:lnSpc>
                <a:spcPct val="100000"/>
              </a:lnSpc>
              <a:spcBef>
                <a:spcPts val="0"/>
              </a:spcBef>
              <a:spcAft>
                <a:spcPts val="0"/>
              </a:spcAft>
              <a:buClr>
                <a:schemeClr val="lt1"/>
              </a:buClr>
              <a:buSzPts val="1900"/>
              <a:buNone/>
              <a:defRPr sz="1900">
                <a:solidFill>
                  <a:schemeClr val="lt1"/>
                </a:solidFill>
              </a:defRPr>
            </a:lvl7pPr>
            <a:lvl8pPr lvl="7" algn="ctr">
              <a:lnSpc>
                <a:spcPct val="100000"/>
              </a:lnSpc>
              <a:spcBef>
                <a:spcPts val="0"/>
              </a:spcBef>
              <a:spcAft>
                <a:spcPts val="0"/>
              </a:spcAft>
              <a:buClr>
                <a:schemeClr val="lt1"/>
              </a:buClr>
              <a:buSzPts val="1900"/>
              <a:buNone/>
              <a:defRPr sz="1900">
                <a:solidFill>
                  <a:schemeClr val="lt1"/>
                </a:solidFill>
              </a:defRPr>
            </a:lvl8pPr>
            <a:lvl9pPr lvl="8" algn="ctr">
              <a:lnSpc>
                <a:spcPct val="100000"/>
              </a:lnSpc>
              <a:spcBef>
                <a:spcPts val="0"/>
              </a:spcBef>
              <a:spcAft>
                <a:spcPts val="0"/>
              </a:spcAft>
              <a:buClr>
                <a:schemeClr val="lt1"/>
              </a:buClr>
              <a:buSzPts val="1900"/>
              <a:buNone/>
              <a:defRPr sz="1900">
                <a:solidFill>
                  <a:schemeClr val="lt1"/>
                </a:solidFill>
              </a:defRPr>
            </a:lvl9pPr>
          </a:lstStyle>
          <a:p>
            <a:endParaRPr/>
          </a:p>
        </p:txBody>
      </p:sp>
      <p:sp>
        <p:nvSpPr>
          <p:cNvPr id="46" name="Google Shape;46;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7" name="Google Shape;47;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2100"/>
              <a:buFont typeface="Oswald"/>
              <a:buNone/>
              <a:defRPr sz="2100">
                <a:latin typeface="Oswald"/>
                <a:ea typeface="Oswald"/>
                <a:cs typeface="Oswald"/>
                <a:sym typeface="Oswald"/>
              </a:defRPr>
            </a:lvl1pPr>
          </a:lstStyle>
          <a:p>
            <a:endParaRPr/>
          </a:p>
        </p:txBody>
      </p:sp>
      <p:sp>
        <p:nvSpPr>
          <p:cNvPr id="50" name="Google Shape;50;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cxnSp>
        <p:nvCxnSpPr>
          <p:cNvPr id="52" name="Google Shape;52;p11"/>
          <p:cNvCxnSpPr/>
          <p:nvPr/>
        </p:nvCxnSpPr>
        <p:spPr>
          <a:xfrm>
            <a:off x="413275" y="2988275"/>
            <a:ext cx="910500" cy="0"/>
          </a:xfrm>
          <a:prstGeom prst="straightConnector1">
            <a:avLst/>
          </a:prstGeom>
          <a:noFill/>
          <a:ln w="28575" cap="flat" cmpd="sng">
            <a:solidFill>
              <a:schemeClr val="dk1"/>
            </a:solidFill>
            <a:prstDash val="lgDash"/>
            <a:round/>
            <a:headEnd type="none" w="sm" len="sm"/>
            <a:tailEnd type="none" w="sm" len="sm"/>
          </a:ln>
        </p:spPr>
      </p:cxnSp>
      <p:sp>
        <p:nvSpPr>
          <p:cNvPr id="53" name="Google Shape;53;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spcBef>
                <a:spcPts val="0"/>
              </a:spcBef>
              <a:spcAft>
                <a:spcPts val="0"/>
              </a:spcAft>
              <a:buSzPts val="12000"/>
              <a:buNone/>
              <a:defRPr sz="12000"/>
            </a:lvl1pPr>
            <a:lvl2pPr lvl="1">
              <a:spcBef>
                <a:spcPts val="0"/>
              </a:spcBef>
              <a:spcAft>
                <a:spcPts val="0"/>
              </a:spcAft>
              <a:buSzPts val="12000"/>
              <a:buNone/>
              <a:defRPr sz="12000"/>
            </a:lvl2pPr>
            <a:lvl3pPr lvl="2">
              <a:spcBef>
                <a:spcPts val="0"/>
              </a:spcBef>
              <a:spcAft>
                <a:spcPts val="0"/>
              </a:spcAft>
              <a:buSzPts val="12000"/>
              <a:buNone/>
              <a:defRPr sz="12000"/>
            </a:lvl3pPr>
            <a:lvl4pPr lvl="3">
              <a:spcBef>
                <a:spcPts val="0"/>
              </a:spcBef>
              <a:spcAft>
                <a:spcPts val="0"/>
              </a:spcAft>
              <a:buSzPts val="12000"/>
              <a:buNone/>
              <a:defRPr sz="12000"/>
            </a:lvl4pPr>
            <a:lvl5pPr lvl="4">
              <a:spcBef>
                <a:spcPts val="0"/>
              </a:spcBef>
              <a:spcAft>
                <a:spcPts val="0"/>
              </a:spcAft>
              <a:buSzPts val="12000"/>
              <a:buNone/>
              <a:defRPr sz="12000"/>
            </a:lvl5pPr>
            <a:lvl6pPr lvl="5">
              <a:spcBef>
                <a:spcPts val="0"/>
              </a:spcBef>
              <a:spcAft>
                <a:spcPts val="0"/>
              </a:spcAft>
              <a:buSzPts val="12000"/>
              <a:buNone/>
              <a:defRPr sz="12000"/>
            </a:lvl6pPr>
            <a:lvl7pPr lvl="6">
              <a:spcBef>
                <a:spcPts val="0"/>
              </a:spcBef>
              <a:spcAft>
                <a:spcPts val="0"/>
              </a:spcAft>
              <a:buSzPts val="12000"/>
              <a:buNone/>
              <a:defRPr sz="12000"/>
            </a:lvl7pPr>
            <a:lvl8pPr lvl="7">
              <a:spcBef>
                <a:spcPts val="0"/>
              </a:spcBef>
              <a:spcAft>
                <a:spcPts val="0"/>
              </a:spcAft>
              <a:buSzPts val="12000"/>
              <a:buNone/>
              <a:defRPr sz="12000"/>
            </a:lvl8pPr>
            <a:lvl9pPr lvl="8">
              <a:spcBef>
                <a:spcPts val="0"/>
              </a:spcBef>
              <a:spcAft>
                <a:spcPts val="0"/>
              </a:spcAft>
              <a:buSzPts val="12000"/>
              <a:buNone/>
              <a:defRPr sz="12000"/>
            </a:lvl9pPr>
          </a:lstStyle>
          <a:p>
            <a:r>
              <a:t>xx%</a:t>
            </a:r>
          </a:p>
        </p:txBody>
      </p:sp>
      <p:sp>
        <p:nvSpPr>
          <p:cNvPr id="54" name="Google Shape;54;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5" name="Google Shape;5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2"/>
        <p:cNvGrpSpPr/>
        <p:nvPr/>
      </p:nvGrpSpPr>
      <p:grpSpPr>
        <a:xfrm>
          <a:off x="0" y="0"/>
          <a:ext cx="0" cy="0"/>
          <a:chOff x="0" y="0"/>
          <a:chExt cx="0" cy="0"/>
        </a:xfrm>
      </p:grpSpPr>
      <p:sp>
        <p:nvSpPr>
          <p:cNvPr id="63" name="Google Shape;63;p14"/>
          <p:cNvSpPr/>
          <p:nvPr/>
        </p:nvSpPr>
        <p:spPr>
          <a:xfrm rot="10800000">
            <a:off x="4226100" y="2933550"/>
            <a:ext cx="691800" cy="3885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4"/>
          <p:cNvSpPr/>
          <p:nvPr/>
        </p:nvSpPr>
        <p:spPr>
          <a:xfrm>
            <a:off x="-25" y="0"/>
            <a:ext cx="9144000" cy="31242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4"/>
          <p:cNvSpPr txBox="1">
            <a:spLocks noGrp="1"/>
          </p:cNvSpPr>
          <p:nvPr>
            <p:ph type="ctrTitle"/>
          </p:nvPr>
        </p:nvSpPr>
        <p:spPr>
          <a:xfrm>
            <a:off x="411175" y="644300"/>
            <a:ext cx="8282400" cy="2109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chemeClr val="lt1"/>
              </a:buClr>
              <a:buSzPts val="6000"/>
              <a:buNone/>
              <a:defRPr sz="6000">
                <a:solidFill>
                  <a:schemeClr val="lt1"/>
                </a:solidFill>
              </a:defRPr>
            </a:lvl1pPr>
            <a:lvl2pPr lvl="1" algn="ctr">
              <a:lnSpc>
                <a:spcPct val="100000"/>
              </a:lnSpc>
              <a:spcBef>
                <a:spcPts val="0"/>
              </a:spcBef>
              <a:spcAft>
                <a:spcPts val="0"/>
              </a:spcAft>
              <a:buClr>
                <a:schemeClr val="lt1"/>
              </a:buClr>
              <a:buSzPts val="6000"/>
              <a:buNone/>
              <a:defRPr sz="6000">
                <a:solidFill>
                  <a:schemeClr val="lt1"/>
                </a:solidFill>
              </a:defRPr>
            </a:lvl2pPr>
            <a:lvl3pPr lvl="2" algn="ctr">
              <a:lnSpc>
                <a:spcPct val="100000"/>
              </a:lnSpc>
              <a:spcBef>
                <a:spcPts val="0"/>
              </a:spcBef>
              <a:spcAft>
                <a:spcPts val="0"/>
              </a:spcAft>
              <a:buClr>
                <a:schemeClr val="lt1"/>
              </a:buClr>
              <a:buSzPts val="6000"/>
              <a:buNone/>
              <a:defRPr sz="6000">
                <a:solidFill>
                  <a:schemeClr val="lt1"/>
                </a:solidFill>
              </a:defRPr>
            </a:lvl3pPr>
            <a:lvl4pPr lvl="3" algn="ctr">
              <a:lnSpc>
                <a:spcPct val="100000"/>
              </a:lnSpc>
              <a:spcBef>
                <a:spcPts val="0"/>
              </a:spcBef>
              <a:spcAft>
                <a:spcPts val="0"/>
              </a:spcAft>
              <a:buClr>
                <a:schemeClr val="lt1"/>
              </a:buClr>
              <a:buSzPts val="6000"/>
              <a:buNone/>
              <a:defRPr sz="6000">
                <a:solidFill>
                  <a:schemeClr val="lt1"/>
                </a:solidFill>
              </a:defRPr>
            </a:lvl4pPr>
            <a:lvl5pPr lvl="4" algn="ctr">
              <a:lnSpc>
                <a:spcPct val="100000"/>
              </a:lnSpc>
              <a:spcBef>
                <a:spcPts val="0"/>
              </a:spcBef>
              <a:spcAft>
                <a:spcPts val="0"/>
              </a:spcAft>
              <a:buClr>
                <a:schemeClr val="lt1"/>
              </a:buClr>
              <a:buSzPts val="6000"/>
              <a:buNone/>
              <a:defRPr sz="6000">
                <a:solidFill>
                  <a:schemeClr val="lt1"/>
                </a:solidFill>
              </a:defRPr>
            </a:lvl5pPr>
            <a:lvl6pPr lvl="5" algn="ctr">
              <a:lnSpc>
                <a:spcPct val="100000"/>
              </a:lnSpc>
              <a:spcBef>
                <a:spcPts val="0"/>
              </a:spcBef>
              <a:spcAft>
                <a:spcPts val="0"/>
              </a:spcAft>
              <a:buClr>
                <a:schemeClr val="lt1"/>
              </a:buClr>
              <a:buSzPts val="6000"/>
              <a:buNone/>
              <a:defRPr sz="6000">
                <a:solidFill>
                  <a:schemeClr val="lt1"/>
                </a:solidFill>
              </a:defRPr>
            </a:lvl6pPr>
            <a:lvl7pPr lvl="6" algn="ctr">
              <a:lnSpc>
                <a:spcPct val="100000"/>
              </a:lnSpc>
              <a:spcBef>
                <a:spcPts val="0"/>
              </a:spcBef>
              <a:spcAft>
                <a:spcPts val="0"/>
              </a:spcAft>
              <a:buClr>
                <a:schemeClr val="lt1"/>
              </a:buClr>
              <a:buSzPts val="6000"/>
              <a:buNone/>
              <a:defRPr sz="6000">
                <a:solidFill>
                  <a:schemeClr val="lt1"/>
                </a:solidFill>
              </a:defRPr>
            </a:lvl7pPr>
            <a:lvl8pPr lvl="7" algn="ctr">
              <a:lnSpc>
                <a:spcPct val="100000"/>
              </a:lnSpc>
              <a:spcBef>
                <a:spcPts val="0"/>
              </a:spcBef>
              <a:spcAft>
                <a:spcPts val="0"/>
              </a:spcAft>
              <a:buClr>
                <a:schemeClr val="lt1"/>
              </a:buClr>
              <a:buSzPts val="6000"/>
              <a:buNone/>
              <a:defRPr sz="6000">
                <a:solidFill>
                  <a:schemeClr val="lt1"/>
                </a:solidFill>
              </a:defRPr>
            </a:lvl8pPr>
            <a:lvl9pPr lvl="8" algn="ctr">
              <a:lnSpc>
                <a:spcPct val="100000"/>
              </a:lnSpc>
              <a:spcBef>
                <a:spcPts val="0"/>
              </a:spcBef>
              <a:spcAft>
                <a:spcPts val="0"/>
              </a:spcAft>
              <a:buClr>
                <a:schemeClr val="lt1"/>
              </a:buClr>
              <a:buSzPts val="6000"/>
              <a:buNone/>
              <a:defRPr sz="6000">
                <a:solidFill>
                  <a:schemeClr val="lt1"/>
                </a:solidFill>
              </a:defRPr>
            </a:lvl9pPr>
          </a:lstStyle>
          <a:p>
            <a:endParaRPr/>
          </a:p>
        </p:txBody>
      </p:sp>
      <p:sp>
        <p:nvSpPr>
          <p:cNvPr id="66" name="Google Shape;66;p14"/>
          <p:cNvSpPr txBox="1">
            <a:spLocks noGrp="1"/>
          </p:cNvSpPr>
          <p:nvPr>
            <p:ph type="subTitle" idx="1"/>
          </p:nvPr>
        </p:nvSpPr>
        <p:spPr>
          <a:xfrm>
            <a:off x="411175" y="3398250"/>
            <a:ext cx="8282400" cy="1260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Font typeface="Oswald"/>
              <a:buNone/>
              <a:defRPr sz="3600">
                <a:latin typeface="Oswald"/>
                <a:ea typeface="Oswald"/>
                <a:cs typeface="Oswald"/>
                <a:sym typeface="Oswald"/>
              </a:defRPr>
            </a:lvl1pPr>
            <a:lvl2pPr lvl="1" algn="ctr">
              <a:lnSpc>
                <a:spcPct val="100000"/>
              </a:lnSpc>
              <a:spcBef>
                <a:spcPts val="0"/>
              </a:spcBef>
              <a:spcAft>
                <a:spcPts val="0"/>
              </a:spcAft>
              <a:buSzPts val="3600"/>
              <a:buFont typeface="Oswald"/>
              <a:buNone/>
              <a:defRPr sz="3600">
                <a:latin typeface="Oswald"/>
                <a:ea typeface="Oswald"/>
                <a:cs typeface="Oswald"/>
                <a:sym typeface="Oswald"/>
              </a:defRPr>
            </a:lvl2pPr>
            <a:lvl3pPr lvl="2" algn="ctr">
              <a:lnSpc>
                <a:spcPct val="100000"/>
              </a:lnSpc>
              <a:spcBef>
                <a:spcPts val="0"/>
              </a:spcBef>
              <a:spcAft>
                <a:spcPts val="0"/>
              </a:spcAft>
              <a:buSzPts val="3600"/>
              <a:buFont typeface="Oswald"/>
              <a:buNone/>
              <a:defRPr sz="3600">
                <a:latin typeface="Oswald"/>
                <a:ea typeface="Oswald"/>
                <a:cs typeface="Oswald"/>
                <a:sym typeface="Oswald"/>
              </a:defRPr>
            </a:lvl3pPr>
            <a:lvl4pPr lvl="3" algn="ctr">
              <a:lnSpc>
                <a:spcPct val="100000"/>
              </a:lnSpc>
              <a:spcBef>
                <a:spcPts val="0"/>
              </a:spcBef>
              <a:spcAft>
                <a:spcPts val="0"/>
              </a:spcAft>
              <a:buSzPts val="3600"/>
              <a:buFont typeface="Oswald"/>
              <a:buNone/>
              <a:defRPr sz="3600">
                <a:latin typeface="Oswald"/>
                <a:ea typeface="Oswald"/>
                <a:cs typeface="Oswald"/>
                <a:sym typeface="Oswald"/>
              </a:defRPr>
            </a:lvl4pPr>
            <a:lvl5pPr lvl="4" algn="ctr">
              <a:lnSpc>
                <a:spcPct val="100000"/>
              </a:lnSpc>
              <a:spcBef>
                <a:spcPts val="0"/>
              </a:spcBef>
              <a:spcAft>
                <a:spcPts val="0"/>
              </a:spcAft>
              <a:buSzPts val="3600"/>
              <a:buFont typeface="Oswald"/>
              <a:buNone/>
              <a:defRPr sz="3600">
                <a:latin typeface="Oswald"/>
                <a:ea typeface="Oswald"/>
                <a:cs typeface="Oswald"/>
                <a:sym typeface="Oswald"/>
              </a:defRPr>
            </a:lvl5pPr>
            <a:lvl6pPr lvl="5" algn="ctr">
              <a:lnSpc>
                <a:spcPct val="100000"/>
              </a:lnSpc>
              <a:spcBef>
                <a:spcPts val="0"/>
              </a:spcBef>
              <a:spcAft>
                <a:spcPts val="0"/>
              </a:spcAft>
              <a:buSzPts val="3600"/>
              <a:buFont typeface="Oswald"/>
              <a:buNone/>
              <a:defRPr sz="3600">
                <a:latin typeface="Oswald"/>
                <a:ea typeface="Oswald"/>
                <a:cs typeface="Oswald"/>
                <a:sym typeface="Oswald"/>
              </a:defRPr>
            </a:lvl6pPr>
            <a:lvl7pPr lvl="6" algn="ctr">
              <a:lnSpc>
                <a:spcPct val="100000"/>
              </a:lnSpc>
              <a:spcBef>
                <a:spcPts val="0"/>
              </a:spcBef>
              <a:spcAft>
                <a:spcPts val="0"/>
              </a:spcAft>
              <a:buSzPts val="3600"/>
              <a:buFont typeface="Oswald"/>
              <a:buNone/>
              <a:defRPr sz="3600">
                <a:latin typeface="Oswald"/>
                <a:ea typeface="Oswald"/>
                <a:cs typeface="Oswald"/>
                <a:sym typeface="Oswald"/>
              </a:defRPr>
            </a:lvl7pPr>
            <a:lvl8pPr lvl="7" algn="ctr">
              <a:lnSpc>
                <a:spcPct val="100000"/>
              </a:lnSpc>
              <a:spcBef>
                <a:spcPts val="0"/>
              </a:spcBef>
              <a:spcAft>
                <a:spcPts val="0"/>
              </a:spcAft>
              <a:buSzPts val="3600"/>
              <a:buFont typeface="Oswald"/>
              <a:buNone/>
              <a:defRPr sz="3600">
                <a:latin typeface="Oswald"/>
                <a:ea typeface="Oswald"/>
                <a:cs typeface="Oswald"/>
                <a:sym typeface="Oswald"/>
              </a:defRPr>
            </a:lvl8pPr>
            <a:lvl9pPr lvl="8" algn="ctr">
              <a:lnSpc>
                <a:spcPct val="100000"/>
              </a:lnSpc>
              <a:spcBef>
                <a:spcPts val="0"/>
              </a:spcBef>
              <a:spcAft>
                <a:spcPts val="0"/>
              </a:spcAft>
              <a:buSzPts val="3600"/>
              <a:buFont typeface="Oswald"/>
              <a:buNone/>
              <a:defRPr sz="3600">
                <a:latin typeface="Oswald"/>
                <a:ea typeface="Oswald"/>
                <a:cs typeface="Oswald"/>
                <a:sym typeface="Oswald"/>
              </a:defRPr>
            </a:lvl9pPr>
          </a:lstStyle>
          <a:p>
            <a:endParaRPr/>
          </a:p>
        </p:txBody>
      </p:sp>
      <p:sp>
        <p:nvSpPr>
          <p:cNvPr id="67" name="Google Shape;67;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8"/>
        <p:cNvGrpSpPr/>
        <p:nvPr/>
      </p:nvGrpSpPr>
      <p:grpSpPr>
        <a:xfrm>
          <a:off x="0" y="0"/>
          <a:ext cx="0" cy="0"/>
          <a:chOff x="0" y="0"/>
          <a:chExt cx="0" cy="0"/>
        </a:xfrm>
      </p:grpSpPr>
      <p:cxnSp>
        <p:nvCxnSpPr>
          <p:cNvPr id="69" name="Google Shape;69;p15"/>
          <p:cNvCxnSpPr/>
          <p:nvPr/>
        </p:nvCxnSpPr>
        <p:spPr>
          <a:xfrm>
            <a:off x="429200" y="1275577"/>
            <a:ext cx="614100" cy="0"/>
          </a:xfrm>
          <a:prstGeom prst="straightConnector1">
            <a:avLst/>
          </a:prstGeom>
          <a:noFill/>
          <a:ln w="19050" cap="flat" cmpd="sng">
            <a:solidFill>
              <a:schemeClr val="dk2"/>
            </a:solidFill>
            <a:prstDash val="lgDash"/>
            <a:round/>
            <a:headEnd type="none" w="sm" len="sm"/>
            <a:tailEnd type="none" w="sm" len="sm"/>
          </a:ln>
        </p:spPr>
      </p:cxnSp>
      <p:sp>
        <p:nvSpPr>
          <p:cNvPr id="70" name="Google Shape;70;p15"/>
          <p:cNvSpPr txBox="1">
            <a:spLocks noGrp="1"/>
          </p:cNvSpPr>
          <p:nvPr>
            <p:ph type="title"/>
          </p:nvPr>
        </p:nvSpPr>
        <p:spPr>
          <a:xfrm>
            <a:off x="311700" y="372500"/>
            <a:ext cx="8520600" cy="7335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71" name="Google Shape;71;p15"/>
          <p:cNvSpPr txBox="1">
            <a:spLocks noGrp="1"/>
          </p:cNvSpPr>
          <p:nvPr>
            <p:ph type="body" idx="1"/>
          </p:nvPr>
        </p:nvSpPr>
        <p:spPr>
          <a:xfrm>
            <a:off x="311700" y="1468825"/>
            <a:ext cx="8520600" cy="30999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72" name="Google Shape;72;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3"/>
        <p:cNvGrpSpPr/>
        <p:nvPr/>
      </p:nvGrpSpPr>
      <p:grpSpPr>
        <a:xfrm>
          <a:off x="0" y="0"/>
          <a:ext cx="0" cy="0"/>
          <a:chOff x="0" y="0"/>
          <a:chExt cx="0" cy="0"/>
        </a:xfrm>
      </p:grpSpPr>
      <p:sp>
        <p:nvSpPr>
          <p:cNvPr id="74" name="Google Shape;74;p16"/>
          <p:cNvSpPr/>
          <p:nvPr/>
        </p:nvSpPr>
        <p:spPr>
          <a:xfrm>
            <a:off x="0" y="1567350"/>
            <a:ext cx="9144000" cy="20088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 name="Google Shape;75;p16"/>
          <p:cNvSpPr txBox="1">
            <a:spLocks noGrp="1"/>
          </p:cNvSpPr>
          <p:nvPr>
            <p:ph type="title"/>
          </p:nvPr>
        </p:nvSpPr>
        <p:spPr>
          <a:xfrm>
            <a:off x="430800" y="1889700"/>
            <a:ext cx="8282400" cy="15165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3600"/>
              <a:buNone/>
              <a:defRPr sz="3600">
                <a:solidFill>
                  <a:schemeClr val="lt1"/>
                </a:solidFill>
              </a:defRPr>
            </a:lvl1pPr>
            <a:lvl2pPr lvl="1" algn="ctr">
              <a:lnSpc>
                <a:spcPct val="100000"/>
              </a:lnSpc>
              <a:spcBef>
                <a:spcPts val="0"/>
              </a:spcBef>
              <a:spcAft>
                <a:spcPts val="0"/>
              </a:spcAft>
              <a:buClr>
                <a:schemeClr val="lt1"/>
              </a:buClr>
              <a:buSzPts val="3600"/>
              <a:buNone/>
              <a:defRPr sz="3600">
                <a:solidFill>
                  <a:schemeClr val="lt1"/>
                </a:solidFill>
              </a:defRPr>
            </a:lvl2pPr>
            <a:lvl3pPr lvl="2" algn="ctr">
              <a:lnSpc>
                <a:spcPct val="100000"/>
              </a:lnSpc>
              <a:spcBef>
                <a:spcPts val="0"/>
              </a:spcBef>
              <a:spcAft>
                <a:spcPts val="0"/>
              </a:spcAft>
              <a:buClr>
                <a:schemeClr val="lt1"/>
              </a:buClr>
              <a:buSzPts val="3600"/>
              <a:buNone/>
              <a:defRPr sz="3600">
                <a:solidFill>
                  <a:schemeClr val="lt1"/>
                </a:solidFill>
              </a:defRPr>
            </a:lvl3pPr>
            <a:lvl4pPr lvl="3" algn="ctr">
              <a:lnSpc>
                <a:spcPct val="100000"/>
              </a:lnSpc>
              <a:spcBef>
                <a:spcPts val="0"/>
              </a:spcBef>
              <a:spcAft>
                <a:spcPts val="0"/>
              </a:spcAft>
              <a:buClr>
                <a:schemeClr val="lt1"/>
              </a:buClr>
              <a:buSzPts val="3600"/>
              <a:buNone/>
              <a:defRPr sz="3600">
                <a:solidFill>
                  <a:schemeClr val="lt1"/>
                </a:solidFill>
              </a:defRPr>
            </a:lvl4pPr>
            <a:lvl5pPr lvl="4" algn="ctr">
              <a:lnSpc>
                <a:spcPct val="100000"/>
              </a:lnSpc>
              <a:spcBef>
                <a:spcPts val="0"/>
              </a:spcBef>
              <a:spcAft>
                <a:spcPts val="0"/>
              </a:spcAft>
              <a:buClr>
                <a:schemeClr val="lt1"/>
              </a:buClr>
              <a:buSzPts val="3600"/>
              <a:buNone/>
              <a:defRPr sz="3600">
                <a:solidFill>
                  <a:schemeClr val="lt1"/>
                </a:solidFill>
              </a:defRPr>
            </a:lvl5pPr>
            <a:lvl6pPr lvl="5" algn="ctr">
              <a:lnSpc>
                <a:spcPct val="100000"/>
              </a:lnSpc>
              <a:spcBef>
                <a:spcPts val="0"/>
              </a:spcBef>
              <a:spcAft>
                <a:spcPts val="0"/>
              </a:spcAft>
              <a:buClr>
                <a:schemeClr val="lt1"/>
              </a:buClr>
              <a:buSzPts val="3600"/>
              <a:buNone/>
              <a:defRPr sz="3600">
                <a:solidFill>
                  <a:schemeClr val="lt1"/>
                </a:solidFill>
              </a:defRPr>
            </a:lvl6pPr>
            <a:lvl7pPr lvl="6" algn="ctr">
              <a:lnSpc>
                <a:spcPct val="100000"/>
              </a:lnSpc>
              <a:spcBef>
                <a:spcPts val="0"/>
              </a:spcBef>
              <a:spcAft>
                <a:spcPts val="0"/>
              </a:spcAft>
              <a:buClr>
                <a:schemeClr val="lt1"/>
              </a:buClr>
              <a:buSzPts val="3600"/>
              <a:buNone/>
              <a:defRPr sz="3600">
                <a:solidFill>
                  <a:schemeClr val="lt1"/>
                </a:solidFill>
              </a:defRPr>
            </a:lvl7pPr>
            <a:lvl8pPr lvl="7" algn="ctr">
              <a:lnSpc>
                <a:spcPct val="100000"/>
              </a:lnSpc>
              <a:spcBef>
                <a:spcPts val="0"/>
              </a:spcBef>
              <a:spcAft>
                <a:spcPts val="0"/>
              </a:spcAft>
              <a:buClr>
                <a:schemeClr val="lt1"/>
              </a:buClr>
              <a:buSzPts val="3600"/>
              <a:buNone/>
              <a:defRPr sz="3600">
                <a:solidFill>
                  <a:schemeClr val="lt1"/>
                </a:solidFill>
              </a:defRPr>
            </a:lvl8pPr>
            <a:lvl9pPr lvl="8" algn="ctr">
              <a:lnSpc>
                <a:spcPct val="100000"/>
              </a:lnSpc>
              <a:spcBef>
                <a:spcPts val="0"/>
              </a:spcBef>
              <a:spcAft>
                <a:spcPts val="0"/>
              </a:spcAft>
              <a:buClr>
                <a:schemeClr val="lt1"/>
              </a:buClr>
              <a:buSzPts val="3600"/>
              <a:buNone/>
              <a:defRPr sz="3600">
                <a:solidFill>
                  <a:schemeClr val="lt1"/>
                </a:solidFill>
              </a:defRPr>
            </a:lvl9pPr>
          </a:lstStyle>
          <a:p>
            <a:endParaRPr/>
          </a:p>
        </p:txBody>
      </p:sp>
      <p:sp>
        <p:nvSpPr>
          <p:cNvPr id="76" name="Google Shape;76;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7"/>
        <p:cNvGrpSpPr/>
        <p:nvPr/>
      </p:nvGrpSpPr>
      <p:grpSpPr>
        <a:xfrm>
          <a:off x="0" y="0"/>
          <a:ext cx="0" cy="0"/>
          <a:chOff x="0" y="0"/>
          <a:chExt cx="0" cy="0"/>
        </a:xfrm>
      </p:grpSpPr>
      <p:cxnSp>
        <p:nvCxnSpPr>
          <p:cNvPr id="78" name="Google Shape;78;p17"/>
          <p:cNvCxnSpPr/>
          <p:nvPr/>
        </p:nvCxnSpPr>
        <p:spPr>
          <a:xfrm>
            <a:off x="429200" y="1275577"/>
            <a:ext cx="614100" cy="0"/>
          </a:xfrm>
          <a:prstGeom prst="straightConnector1">
            <a:avLst/>
          </a:prstGeom>
          <a:noFill/>
          <a:ln w="19050" cap="flat" cmpd="sng">
            <a:solidFill>
              <a:schemeClr val="dk2"/>
            </a:solidFill>
            <a:prstDash val="lgDash"/>
            <a:round/>
            <a:headEnd type="none" w="sm" len="sm"/>
            <a:tailEnd type="none" w="sm" len="sm"/>
          </a:ln>
        </p:spPr>
      </p:cxnSp>
      <p:sp>
        <p:nvSpPr>
          <p:cNvPr id="79" name="Google Shape;79;p17"/>
          <p:cNvSpPr txBox="1">
            <a:spLocks noGrp="1"/>
          </p:cNvSpPr>
          <p:nvPr>
            <p:ph type="title"/>
          </p:nvPr>
        </p:nvSpPr>
        <p:spPr>
          <a:xfrm>
            <a:off x="311700" y="372500"/>
            <a:ext cx="8520600" cy="7335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80" name="Google Shape;80;p17"/>
          <p:cNvSpPr txBox="1">
            <a:spLocks noGrp="1"/>
          </p:cNvSpPr>
          <p:nvPr>
            <p:ph type="body" idx="1"/>
          </p:nvPr>
        </p:nvSpPr>
        <p:spPr>
          <a:xfrm>
            <a:off x="311700" y="1468825"/>
            <a:ext cx="3999900" cy="30999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1" name="Google Shape;81;p17"/>
          <p:cNvSpPr txBox="1">
            <a:spLocks noGrp="1"/>
          </p:cNvSpPr>
          <p:nvPr>
            <p:ph type="body" idx="2"/>
          </p:nvPr>
        </p:nvSpPr>
        <p:spPr>
          <a:xfrm>
            <a:off x="4832400" y="1468825"/>
            <a:ext cx="3999900" cy="30999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2" name="Google Shape;82;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xfrm>
            <a:off x="311700" y="372500"/>
            <a:ext cx="8520600" cy="7335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85" name="Google Shape;85;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6"/>
        <p:cNvGrpSpPr/>
        <p:nvPr/>
      </p:nvGrpSpPr>
      <p:grpSpPr>
        <a:xfrm>
          <a:off x="0" y="0"/>
          <a:ext cx="0" cy="0"/>
          <a:chOff x="0" y="0"/>
          <a:chExt cx="0" cy="0"/>
        </a:xfrm>
      </p:grpSpPr>
      <p:cxnSp>
        <p:nvCxnSpPr>
          <p:cNvPr id="87" name="Google Shape;87;p19"/>
          <p:cNvCxnSpPr/>
          <p:nvPr/>
        </p:nvCxnSpPr>
        <p:spPr>
          <a:xfrm>
            <a:off x="418675" y="1457787"/>
            <a:ext cx="614100" cy="0"/>
          </a:xfrm>
          <a:prstGeom prst="straightConnector1">
            <a:avLst/>
          </a:prstGeom>
          <a:noFill/>
          <a:ln w="19050" cap="flat" cmpd="sng">
            <a:solidFill>
              <a:schemeClr val="dk2"/>
            </a:solidFill>
            <a:prstDash val="lgDash"/>
            <a:round/>
            <a:headEnd type="none" w="sm" len="sm"/>
            <a:tailEnd type="none" w="sm" len="sm"/>
          </a:ln>
        </p:spPr>
      </p:cxnSp>
      <p:sp>
        <p:nvSpPr>
          <p:cNvPr id="88" name="Google Shape;88;p19"/>
          <p:cNvSpPr txBox="1">
            <a:spLocks noGrp="1"/>
          </p:cNvSpPr>
          <p:nvPr>
            <p:ph type="title"/>
          </p:nvPr>
        </p:nvSpPr>
        <p:spPr>
          <a:xfrm>
            <a:off x="311700" y="6318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89" name="Google Shape;89;p19"/>
          <p:cNvSpPr txBox="1">
            <a:spLocks noGrp="1"/>
          </p:cNvSpPr>
          <p:nvPr>
            <p:ph type="body" idx="1"/>
          </p:nvPr>
        </p:nvSpPr>
        <p:spPr>
          <a:xfrm>
            <a:off x="311700" y="1618204"/>
            <a:ext cx="2808000" cy="29508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90" name="Google Shape;90;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91"/>
        <p:cNvGrpSpPr/>
        <p:nvPr/>
      </p:nvGrpSpPr>
      <p:grpSpPr>
        <a:xfrm>
          <a:off x="0" y="0"/>
          <a:ext cx="0" cy="0"/>
          <a:chOff x="0" y="0"/>
          <a:chExt cx="0" cy="0"/>
        </a:xfrm>
      </p:grpSpPr>
      <p:sp>
        <p:nvSpPr>
          <p:cNvPr id="92" name="Google Shape;92;p20"/>
          <p:cNvSpPr txBox="1">
            <a:spLocks noGrp="1"/>
          </p:cNvSpPr>
          <p:nvPr>
            <p:ph type="title"/>
          </p:nvPr>
        </p:nvSpPr>
        <p:spPr>
          <a:xfrm>
            <a:off x="490250" y="528900"/>
            <a:ext cx="5678100" cy="40857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5400"/>
              <a:buNone/>
              <a:defRPr sz="5400">
                <a:solidFill>
                  <a:schemeClr val="lt1"/>
                </a:solidFill>
              </a:defRPr>
            </a:lvl1pPr>
            <a:lvl2pPr lvl="1" algn="l">
              <a:lnSpc>
                <a:spcPct val="100000"/>
              </a:lnSpc>
              <a:spcBef>
                <a:spcPts val="0"/>
              </a:spcBef>
              <a:spcAft>
                <a:spcPts val="0"/>
              </a:spcAft>
              <a:buClr>
                <a:schemeClr val="lt1"/>
              </a:buClr>
              <a:buSzPts val="5400"/>
              <a:buNone/>
              <a:defRPr sz="5400">
                <a:solidFill>
                  <a:schemeClr val="lt1"/>
                </a:solidFill>
              </a:defRPr>
            </a:lvl2pPr>
            <a:lvl3pPr lvl="2" algn="l">
              <a:lnSpc>
                <a:spcPct val="100000"/>
              </a:lnSpc>
              <a:spcBef>
                <a:spcPts val="0"/>
              </a:spcBef>
              <a:spcAft>
                <a:spcPts val="0"/>
              </a:spcAft>
              <a:buClr>
                <a:schemeClr val="lt1"/>
              </a:buClr>
              <a:buSzPts val="5400"/>
              <a:buNone/>
              <a:defRPr sz="5400">
                <a:solidFill>
                  <a:schemeClr val="lt1"/>
                </a:solidFill>
              </a:defRPr>
            </a:lvl3pPr>
            <a:lvl4pPr lvl="3" algn="l">
              <a:lnSpc>
                <a:spcPct val="100000"/>
              </a:lnSpc>
              <a:spcBef>
                <a:spcPts val="0"/>
              </a:spcBef>
              <a:spcAft>
                <a:spcPts val="0"/>
              </a:spcAft>
              <a:buClr>
                <a:schemeClr val="lt1"/>
              </a:buClr>
              <a:buSzPts val="5400"/>
              <a:buNone/>
              <a:defRPr sz="5400">
                <a:solidFill>
                  <a:schemeClr val="lt1"/>
                </a:solidFill>
              </a:defRPr>
            </a:lvl4pPr>
            <a:lvl5pPr lvl="4" algn="l">
              <a:lnSpc>
                <a:spcPct val="100000"/>
              </a:lnSpc>
              <a:spcBef>
                <a:spcPts val="0"/>
              </a:spcBef>
              <a:spcAft>
                <a:spcPts val="0"/>
              </a:spcAft>
              <a:buClr>
                <a:schemeClr val="lt1"/>
              </a:buClr>
              <a:buSzPts val="5400"/>
              <a:buNone/>
              <a:defRPr sz="5400">
                <a:solidFill>
                  <a:schemeClr val="lt1"/>
                </a:solidFill>
              </a:defRPr>
            </a:lvl5pPr>
            <a:lvl6pPr lvl="5" algn="l">
              <a:lnSpc>
                <a:spcPct val="100000"/>
              </a:lnSpc>
              <a:spcBef>
                <a:spcPts val="0"/>
              </a:spcBef>
              <a:spcAft>
                <a:spcPts val="0"/>
              </a:spcAft>
              <a:buClr>
                <a:schemeClr val="lt1"/>
              </a:buClr>
              <a:buSzPts val="5400"/>
              <a:buNone/>
              <a:defRPr sz="5400">
                <a:solidFill>
                  <a:schemeClr val="lt1"/>
                </a:solidFill>
              </a:defRPr>
            </a:lvl6pPr>
            <a:lvl7pPr lvl="6" algn="l">
              <a:lnSpc>
                <a:spcPct val="100000"/>
              </a:lnSpc>
              <a:spcBef>
                <a:spcPts val="0"/>
              </a:spcBef>
              <a:spcAft>
                <a:spcPts val="0"/>
              </a:spcAft>
              <a:buClr>
                <a:schemeClr val="lt1"/>
              </a:buClr>
              <a:buSzPts val="5400"/>
              <a:buNone/>
              <a:defRPr sz="5400">
                <a:solidFill>
                  <a:schemeClr val="lt1"/>
                </a:solidFill>
              </a:defRPr>
            </a:lvl7pPr>
            <a:lvl8pPr lvl="7" algn="l">
              <a:lnSpc>
                <a:spcPct val="100000"/>
              </a:lnSpc>
              <a:spcBef>
                <a:spcPts val="0"/>
              </a:spcBef>
              <a:spcAft>
                <a:spcPts val="0"/>
              </a:spcAft>
              <a:buClr>
                <a:schemeClr val="lt1"/>
              </a:buClr>
              <a:buSzPts val="5400"/>
              <a:buNone/>
              <a:defRPr sz="5400">
                <a:solidFill>
                  <a:schemeClr val="lt1"/>
                </a:solidFill>
              </a:defRPr>
            </a:lvl8pPr>
            <a:lvl9pPr lvl="8" algn="l">
              <a:lnSpc>
                <a:spcPct val="100000"/>
              </a:lnSpc>
              <a:spcBef>
                <a:spcPts val="0"/>
              </a:spcBef>
              <a:spcAft>
                <a:spcPts val="0"/>
              </a:spcAft>
              <a:buClr>
                <a:schemeClr val="lt1"/>
              </a:buClr>
              <a:buSzPts val="5400"/>
              <a:buNone/>
              <a:defRPr sz="5400">
                <a:solidFill>
                  <a:schemeClr val="lt1"/>
                </a:solidFill>
              </a:defRPr>
            </a:lvl9pPr>
          </a:lstStyle>
          <a:p>
            <a:endParaRPr/>
          </a:p>
        </p:txBody>
      </p:sp>
      <p:sp>
        <p:nvSpPr>
          <p:cNvPr id="93" name="Google Shape;93;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chemeClr val="dk1"/>
        </a:solidFill>
        <a:effectLst/>
      </p:bgPr>
    </p:bg>
    <p:spTree>
      <p:nvGrpSpPr>
        <p:cNvPr id="1" name="Shape 94"/>
        <p:cNvGrpSpPr/>
        <p:nvPr/>
      </p:nvGrpSpPr>
      <p:grpSpPr>
        <a:xfrm>
          <a:off x="0" y="0"/>
          <a:ext cx="0" cy="0"/>
          <a:chOff x="0" y="0"/>
          <a:chExt cx="0" cy="0"/>
        </a:xfrm>
      </p:grpSpPr>
      <p:sp>
        <p:nvSpPr>
          <p:cNvPr id="95" name="Google Shape;95;p21"/>
          <p:cNvSpPr/>
          <p:nvPr/>
        </p:nvSpPr>
        <p:spPr>
          <a:xfrm>
            <a:off x="4572000" y="175"/>
            <a:ext cx="4572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96" name="Google Shape;96;p21"/>
          <p:cNvCxnSpPr/>
          <p:nvPr/>
        </p:nvCxnSpPr>
        <p:spPr>
          <a:xfrm>
            <a:off x="5029675" y="4495500"/>
            <a:ext cx="577200" cy="0"/>
          </a:xfrm>
          <a:prstGeom prst="straightConnector1">
            <a:avLst/>
          </a:prstGeom>
          <a:noFill/>
          <a:ln w="19050" cap="flat" cmpd="sng">
            <a:solidFill>
              <a:schemeClr val="dk1"/>
            </a:solidFill>
            <a:prstDash val="lgDash"/>
            <a:round/>
            <a:headEnd type="none" w="sm" len="sm"/>
            <a:tailEnd type="none" w="sm" len="sm"/>
          </a:ln>
        </p:spPr>
      </p:cxnSp>
      <p:sp>
        <p:nvSpPr>
          <p:cNvPr id="97" name="Google Shape;97;p21"/>
          <p:cNvSpPr txBox="1">
            <a:spLocks noGrp="1"/>
          </p:cNvSpPr>
          <p:nvPr>
            <p:ph type="title"/>
          </p:nvPr>
        </p:nvSpPr>
        <p:spPr>
          <a:xfrm>
            <a:off x="265500" y="1078750"/>
            <a:ext cx="4045200" cy="1789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chemeClr val="lt1"/>
              </a:buClr>
              <a:buSzPts val="4600"/>
              <a:buNone/>
              <a:defRPr sz="4600">
                <a:solidFill>
                  <a:schemeClr val="lt1"/>
                </a:solidFill>
              </a:defRPr>
            </a:lvl1pPr>
            <a:lvl2pPr lvl="1" algn="ctr">
              <a:lnSpc>
                <a:spcPct val="100000"/>
              </a:lnSpc>
              <a:spcBef>
                <a:spcPts val="0"/>
              </a:spcBef>
              <a:spcAft>
                <a:spcPts val="0"/>
              </a:spcAft>
              <a:buClr>
                <a:schemeClr val="lt1"/>
              </a:buClr>
              <a:buSzPts val="4600"/>
              <a:buNone/>
              <a:defRPr sz="4600">
                <a:solidFill>
                  <a:schemeClr val="lt1"/>
                </a:solidFill>
              </a:defRPr>
            </a:lvl2pPr>
            <a:lvl3pPr lvl="2" algn="ctr">
              <a:lnSpc>
                <a:spcPct val="100000"/>
              </a:lnSpc>
              <a:spcBef>
                <a:spcPts val="0"/>
              </a:spcBef>
              <a:spcAft>
                <a:spcPts val="0"/>
              </a:spcAft>
              <a:buClr>
                <a:schemeClr val="lt1"/>
              </a:buClr>
              <a:buSzPts val="4600"/>
              <a:buNone/>
              <a:defRPr sz="4600">
                <a:solidFill>
                  <a:schemeClr val="lt1"/>
                </a:solidFill>
              </a:defRPr>
            </a:lvl3pPr>
            <a:lvl4pPr lvl="3" algn="ctr">
              <a:lnSpc>
                <a:spcPct val="100000"/>
              </a:lnSpc>
              <a:spcBef>
                <a:spcPts val="0"/>
              </a:spcBef>
              <a:spcAft>
                <a:spcPts val="0"/>
              </a:spcAft>
              <a:buClr>
                <a:schemeClr val="lt1"/>
              </a:buClr>
              <a:buSzPts val="4600"/>
              <a:buNone/>
              <a:defRPr sz="4600">
                <a:solidFill>
                  <a:schemeClr val="lt1"/>
                </a:solidFill>
              </a:defRPr>
            </a:lvl4pPr>
            <a:lvl5pPr lvl="4" algn="ctr">
              <a:lnSpc>
                <a:spcPct val="100000"/>
              </a:lnSpc>
              <a:spcBef>
                <a:spcPts val="0"/>
              </a:spcBef>
              <a:spcAft>
                <a:spcPts val="0"/>
              </a:spcAft>
              <a:buClr>
                <a:schemeClr val="lt1"/>
              </a:buClr>
              <a:buSzPts val="4600"/>
              <a:buNone/>
              <a:defRPr sz="4600">
                <a:solidFill>
                  <a:schemeClr val="lt1"/>
                </a:solidFill>
              </a:defRPr>
            </a:lvl5pPr>
            <a:lvl6pPr lvl="5" algn="ctr">
              <a:lnSpc>
                <a:spcPct val="100000"/>
              </a:lnSpc>
              <a:spcBef>
                <a:spcPts val="0"/>
              </a:spcBef>
              <a:spcAft>
                <a:spcPts val="0"/>
              </a:spcAft>
              <a:buClr>
                <a:schemeClr val="lt1"/>
              </a:buClr>
              <a:buSzPts val="4600"/>
              <a:buNone/>
              <a:defRPr sz="4600">
                <a:solidFill>
                  <a:schemeClr val="lt1"/>
                </a:solidFill>
              </a:defRPr>
            </a:lvl6pPr>
            <a:lvl7pPr lvl="6" algn="ctr">
              <a:lnSpc>
                <a:spcPct val="100000"/>
              </a:lnSpc>
              <a:spcBef>
                <a:spcPts val="0"/>
              </a:spcBef>
              <a:spcAft>
                <a:spcPts val="0"/>
              </a:spcAft>
              <a:buClr>
                <a:schemeClr val="lt1"/>
              </a:buClr>
              <a:buSzPts val="4600"/>
              <a:buNone/>
              <a:defRPr sz="4600">
                <a:solidFill>
                  <a:schemeClr val="lt1"/>
                </a:solidFill>
              </a:defRPr>
            </a:lvl7pPr>
            <a:lvl8pPr lvl="7" algn="ctr">
              <a:lnSpc>
                <a:spcPct val="100000"/>
              </a:lnSpc>
              <a:spcBef>
                <a:spcPts val="0"/>
              </a:spcBef>
              <a:spcAft>
                <a:spcPts val="0"/>
              </a:spcAft>
              <a:buClr>
                <a:schemeClr val="lt1"/>
              </a:buClr>
              <a:buSzPts val="4600"/>
              <a:buNone/>
              <a:defRPr sz="4600">
                <a:solidFill>
                  <a:schemeClr val="lt1"/>
                </a:solidFill>
              </a:defRPr>
            </a:lvl8pPr>
            <a:lvl9pPr lvl="8" algn="ctr">
              <a:lnSpc>
                <a:spcPct val="100000"/>
              </a:lnSpc>
              <a:spcBef>
                <a:spcPts val="0"/>
              </a:spcBef>
              <a:spcAft>
                <a:spcPts val="0"/>
              </a:spcAft>
              <a:buClr>
                <a:schemeClr val="lt1"/>
              </a:buClr>
              <a:buSzPts val="4600"/>
              <a:buNone/>
              <a:defRPr sz="4600">
                <a:solidFill>
                  <a:schemeClr val="lt1"/>
                </a:solidFill>
              </a:defRPr>
            </a:lvl9pPr>
          </a:lstStyle>
          <a:p>
            <a:endParaRPr/>
          </a:p>
        </p:txBody>
      </p:sp>
      <p:sp>
        <p:nvSpPr>
          <p:cNvPr id="98" name="Google Shape;98;p21"/>
          <p:cNvSpPr txBox="1">
            <a:spLocks noGrp="1"/>
          </p:cNvSpPr>
          <p:nvPr>
            <p:ph type="subTitle" idx="1"/>
          </p:nvPr>
        </p:nvSpPr>
        <p:spPr>
          <a:xfrm>
            <a:off x="265500" y="2921401"/>
            <a:ext cx="4045200" cy="13455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lt1"/>
              </a:buClr>
              <a:buSzPts val="1900"/>
              <a:buNone/>
              <a:defRPr sz="1900">
                <a:solidFill>
                  <a:schemeClr val="lt1"/>
                </a:solidFill>
              </a:defRPr>
            </a:lvl1pPr>
            <a:lvl2pPr lvl="1" algn="ctr">
              <a:lnSpc>
                <a:spcPct val="100000"/>
              </a:lnSpc>
              <a:spcBef>
                <a:spcPts val="0"/>
              </a:spcBef>
              <a:spcAft>
                <a:spcPts val="0"/>
              </a:spcAft>
              <a:buClr>
                <a:schemeClr val="lt1"/>
              </a:buClr>
              <a:buSzPts val="1900"/>
              <a:buNone/>
              <a:defRPr sz="1900">
                <a:solidFill>
                  <a:schemeClr val="lt1"/>
                </a:solidFill>
              </a:defRPr>
            </a:lvl2pPr>
            <a:lvl3pPr lvl="2" algn="ctr">
              <a:lnSpc>
                <a:spcPct val="100000"/>
              </a:lnSpc>
              <a:spcBef>
                <a:spcPts val="0"/>
              </a:spcBef>
              <a:spcAft>
                <a:spcPts val="0"/>
              </a:spcAft>
              <a:buClr>
                <a:schemeClr val="lt1"/>
              </a:buClr>
              <a:buSzPts val="1900"/>
              <a:buNone/>
              <a:defRPr sz="1900">
                <a:solidFill>
                  <a:schemeClr val="lt1"/>
                </a:solidFill>
              </a:defRPr>
            </a:lvl3pPr>
            <a:lvl4pPr lvl="3" algn="ctr">
              <a:lnSpc>
                <a:spcPct val="100000"/>
              </a:lnSpc>
              <a:spcBef>
                <a:spcPts val="0"/>
              </a:spcBef>
              <a:spcAft>
                <a:spcPts val="0"/>
              </a:spcAft>
              <a:buClr>
                <a:schemeClr val="lt1"/>
              </a:buClr>
              <a:buSzPts val="1900"/>
              <a:buNone/>
              <a:defRPr sz="1900">
                <a:solidFill>
                  <a:schemeClr val="lt1"/>
                </a:solidFill>
              </a:defRPr>
            </a:lvl4pPr>
            <a:lvl5pPr lvl="4" algn="ctr">
              <a:lnSpc>
                <a:spcPct val="100000"/>
              </a:lnSpc>
              <a:spcBef>
                <a:spcPts val="0"/>
              </a:spcBef>
              <a:spcAft>
                <a:spcPts val="0"/>
              </a:spcAft>
              <a:buClr>
                <a:schemeClr val="lt1"/>
              </a:buClr>
              <a:buSzPts val="1900"/>
              <a:buNone/>
              <a:defRPr sz="1900">
                <a:solidFill>
                  <a:schemeClr val="lt1"/>
                </a:solidFill>
              </a:defRPr>
            </a:lvl5pPr>
            <a:lvl6pPr lvl="5" algn="ctr">
              <a:lnSpc>
                <a:spcPct val="100000"/>
              </a:lnSpc>
              <a:spcBef>
                <a:spcPts val="0"/>
              </a:spcBef>
              <a:spcAft>
                <a:spcPts val="0"/>
              </a:spcAft>
              <a:buClr>
                <a:schemeClr val="lt1"/>
              </a:buClr>
              <a:buSzPts val="1900"/>
              <a:buNone/>
              <a:defRPr sz="1900">
                <a:solidFill>
                  <a:schemeClr val="lt1"/>
                </a:solidFill>
              </a:defRPr>
            </a:lvl6pPr>
            <a:lvl7pPr lvl="6" algn="ctr">
              <a:lnSpc>
                <a:spcPct val="100000"/>
              </a:lnSpc>
              <a:spcBef>
                <a:spcPts val="0"/>
              </a:spcBef>
              <a:spcAft>
                <a:spcPts val="0"/>
              </a:spcAft>
              <a:buClr>
                <a:schemeClr val="lt1"/>
              </a:buClr>
              <a:buSzPts val="1900"/>
              <a:buNone/>
              <a:defRPr sz="1900">
                <a:solidFill>
                  <a:schemeClr val="lt1"/>
                </a:solidFill>
              </a:defRPr>
            </a:lvl7pPr>
            <a:lvl8pPr lvl="7" algn="ctr">
              <a:lnSpc>
                <a:spcPct val="100000"/>
              </a:lnSpc>
              <a:spcBef>
                <a:spcPts val="0"/>
              </a:spcBef>
              <a:spcAft>
                <a:spcPts val="0"/>
              </a:spcAft>
              <a:buClr>
                <a:schemeClr val="lt1"/>
              </a:buClr>
              <a:buSzPts val="1900"/>
              <a:buNone/>
              <a:defRPr sz="1900">
                <a:solidFill>
                  <a:schemeClr val="lt1"/>
                </a:solidFill>
              </a:defRPr>
            </a:lvl8pPr>
            <a:lvl9pPr lvl="8" algn="ctr">
              <a:lnSpc>
                <a:spcPct val="100000"/>
              </a:lnSpc>
              <a:spcBef>
                <a:spcPts val="0"/>
              </a:spcBef>
              <a:spcAft>
                <a:spcPts val="0"/>
              </a:spcAft>
              <a:buClr>
                <a:schemeClr val="lt1"/>
              </a:buClr>
              <a:buSzPts val="1900"/>
              <a:buNone/>
              <a:defRPr sz="1900">
                <a:solidFill>
                  <a:schemeClr val="lt1"/>
                </a:solidFill>
              </a:defRPr>
            </a:lvl9pPr>
          </a:lstStyle>
          <a:p>
            <a:endParaRPr/>
          </a:p>
        </p:txBody>
      </p:sp>
      <p:sp>
        <p:nvSpPr>
          <p:cNvPr id="99" name="Google Shape;99;p21"/>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00" name="Google Shape;10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01"/>
        <p:cNvGrpSpPr/>
        <p:nvPr/>
      </p:nvGrpSpPr>
      <p:grpSpPr>
        <a:xfrm>
          <a:off x="0" y="0"/>
          <a:ext cx="0" cy="0"/>
          <a:chOff x="0" y="0"/>
          <a:chExt cx="0" cy="0"/>
        </a:xfrm>
      </p:grpSpPr>
      <p:sp>
        <p:nvSpPr>
          <p:cNvPr id="102" name="Google Shape;102;p2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2100"/>
              <a:buFont typeface="Oswald"/>
              <a:buNone/>
              <a:defRPr sz="2100">
                <a:latin typeface="Oswald"/>
                <a:ea typeface="Oswald"/>
                <a:cs typeface="Oswald"/>
                <a:sym typeface="Oswald"/>
              </a:defRPr>
            </a:lvl1pPr>
          </a:lstStyle>
          <a:p>
            <a:endParaRPr/>
          </a:p>
        </p:txBody>
      </p:sp>
      <p:sp>
        <p:nvSpPr>
          <p:cNvPr id="103" name="Google Shape;103;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4"/>
        <p:cNvGrpSpPr/>
        <p:nvPr/>
      </p:nvGrpSpPr>
      <p:grpSpPr>
        <a:xfrm>
          <a:off x="0" y="0"/>
          <a:ext cx="0" cy="0"/>
          <a:chOff x="0" y="0"/>
          <a:chExt cx="0" cy="0"/>
        </a:xfrm>
      </p:grpSpPr>
      <p:cxnSp>
        <p:nvCxnSpPr>
          <p:cNvPr id="105" name="Google Shape;105;p23"/>
          <p:cNvCxnSpPr/>
          <p:nvPr/>
        </p:nvCxnSpPr>
        <p:spPr>
          <a:xfrm>
            <a:off x="413275" y="2988275"/>
            <a:ext cx="910500" cy="0"/>
          </a:xfrm>
          <a:prstGeom prst="straightConnector1">
            <a:avLst/>
          </a:prstGeom>
          <a:noFill/>
          <a:ln w="28575" cap="flat" cmpd="sng">
            <a:solidFill>
              <a:schemeClr val="dk1"/>
            </a:solidFill>
            <a:prstDash val="lgDash"/>
            <a:round/>
            <a:headEnd type="none" w="sm" len="sm"/>
            <a:tailEnd type="none" w="sm" len="sm"/>
          </a:ln>
        </p:spPr>
      </p:cxnSp>
      <p:sp>
        <p:nvSpPr>
          <p:cNvPr id="106" name="Google Shape;106;p23"/>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2000"/>
              <a:buNone/>
              <a:defRPr sz="12000"/>
            </a:lvl1pPr>
            <a:lvl2pPr lvl="1" algn="l">
              <a:lnSpc>
                <a:spcPct val="100000"/>
              </a:lnSpc>
              <a:spcBef>
                <a:spcPts val="0"/>
              </a:spcBef>
              <a:spcAft>
                <a:spcPts val="0"/>
              </a:spcAft>
              <a:buSzPts val="12000"/>
              <a:buNone/>
              <a:defRPr sz="12000"/>
            </a:lvl2pPr>
            <a:lvl3pPr lvl="2" algn="l">
              <a:lnSpc>
                <a:spcPct val="100000"/>
              </a:lnSpc>
              <a:spcBef>
                <a:spcPts val="0"/>
              </a:spcBef>
              <a:spcAft>
                <a:spcPts val="0"/>
              </a:spcAft>
              <a:buSzPts val="12000"/>
              <a:buNone/>
              <a:defRPr sz="12000"/>
            </a:lvl3pPr>
            <a:lvl4pPr lvl="3" algn="l">
              <a:lnSpc>
                <a:spcPct val="100000"/>
              </a:lnSpc>
              <a:spcBef>
                <a:spcPts val="0"/>
              </a:spcBef>
              <a:spcAft>
                <a:spcPts val="0"/>
              </a:spcAft>
              <a:buSzPts val="12000"/>
              <a:buNone/>
              <a:defRPr sz="12000"/>
            </a:lvl4pPr>
            <a:lvl5pPr lvl="4" algn="l">
              <a:lnSpc>
                <a:spcPct val="100000"/>
              </a:lnSpc>
              <a:spcBef>
                <a:spcPts val="0"/>
              </a:spcBef>
              <a:spcAft>
                <a:spcPts val="0"/>
              </a:spcAft>
              <a:buSzPts val="12000"/>
              <a:buNone/>
              <a:defRPr sz="12000"/>
            </a:lvl5pPr>
            <a:lvl6pPr lvl="5" algn="l">
              <a:lnSpc>
                <a:spcPct val="100000"/>
              </a:lnSpc>
              <a:spcBef>
                <a:spcPts val="0"/>
              </a:spcBef>
              <a:spcAft>
                <a:spcPts val="0"/>
              </a:spcAft>
              <a:buSzPts val="12000"/>
              <a:buNone/>
              <a:defRPr sz="12000"/>
            </a:lvl6pPr>
            <a:lvl7pPr lvl="6" algn="l">
              <a:lnSpc>
                <a:spcPct val="100000"/>
              </a:lnSpc>
              <a:spcBef>
                <a:spcPts val="0"/>
              </a:spcBef>
              <a:spcAft>
                <a:spcPts val="0"/>
              </a:spcAft>
              <a:buSzPts val="12000"/>
              <a:buNone/>
              <a:defRPr sz="12000"/>
            </a:lvl7pPr>
            <a:lvl8pPr lvl="7" algn="l">
              <a:lnSpc>
                <a:spcPct val="100000"/>
              </a:lnSpc>
              <a:spcBef>
                <a:spcPts val="0"/>
              </a:spcBef>
              <a:spcAft>
                <a:spcPts val="0"/>
              </a:spcAft>
              <a:buSzPts val="12000"/>
              <a:buNone/>
              <a:defRPr sz="12000"/>
            </a:lvl8pPr>
            <a:lvl9pPr lvl="8" algn="l">
              <a:lnSpc>
                <a:spcPct val="100000"/>
              </a:lnSpc>
              <a:spcBef>
                <a:spcPts val="0"/>
              </a:spcBef>
              <a:spcAft>
                <a:spcPts val="0"/>
              </a:spcAft>
              <a:buSzPts val="12000"/>
              <a:buNone/>
              <a:defRPr sz="12000"/>
            </a:lvl9pPr>
          </a:lstStyle>
          <a:p>
            <a:r>
              <a:t>xx%</a:t>
            </a:r>
          </a:p>
        </p:txBody>
      </p:sp>
      <p:sp>
        <p:nvSpPr>
          <p:cNvPr id="107" name="Google Shape;107;p2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08" name="Google Shape;108;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9"/>
        <p:cNvGrpSpPr/>
        <p:nvPr/>
      </p:nvGrpSpPr>
      <p:grpSpPr>
        <a:xfrm>
          <a:off x="0" y="0"/>
          <a:ext cx="0" cy="0"/>
          <a:chOff x="0" y="0"/>
          <a:chExt cx="0" cy="0"/>
        </a:xfrm>
      </p:grpSpPr>
      <p:sp>
        <p:nvSpPr>
          <p:cNvPr id="110" name="Google Shape;110;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odern-writer">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372500"/>
            <a:ext cx="8520600" cy="7335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1pPr>
            <a:lvl2pPr lvl="1">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2pPr>
            <a:lvl3pPr lvl="2">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3pPr>
            <a:lvl4pPr lvl="3">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4pPr>
            <a:lvl5pPr lvl="4">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5pPr>
            <a:lvl6pPr lvl="5">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6pPr>
            <a:lvl7pPr lvl="6">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7pPr>
            <a:lvl8pPr lvl="7">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8pPr>
            <a:lvl9pPr lvl="8">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9pPr>
          </a:lstStyle>
          <a:p>
            <a:endParaRPr/>
          </a:p>
        </p:txBody>
      </p:sp>
      <p:sp>
        <p:nvSpPr>
          <p:cNvPr id="7" name="Google Shape;7;p1"/>
          <p:cNvSpPr txBox="1">
            <a:spLocks noGrp="1"/>
          </p:cNvSpPr>
          <p:nvPr>
            <p:ph type="body" idx="1"/>
          </p:nvPr>
        </p:nvSpPr>
        <p:spPr>
          <a:xfrm>
            <a:off x="311700" y="1468825"/>
            <a:ext cx="8520600" cy="30999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Font typeface="Source Code Pro"/>
              <a:buChar char="●"/>
              <a:defRPr sz="1800">
                <a:solidFill>
                  <a:schemeClr val="dk2"/>
                </a:solidFill>
                <a:latin typeface="Source Code Pro"/>
                <a:ea typeface="Source Code Pro"/>
                <a:cs typeface="Source Code Pro"/>
                <a:sym typeface="Source Code Pro"/>
              </a:defRPr>
            </a:lvl1pPr>
            <a:lvl2pPr marL="914400" lvl="1"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2pPr>
            <a:lvl3pPr marL="1371600" lvl="2"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3pPr>
            <a:lvl4pPr marL="1828800" lvl="3"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4pPr>
            <a:lvl5pPr marL="2286000" lvl="4"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5pPr>
            <a:lvl6pPr marL="2743200" lvl="5"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6pPr>
            <a:lvl7pPr marL="3200400" lvl="6"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7pPr>
            <a:lvl8pPr marL="3657600" lvl="7"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8pPr>
            <a:lvl9pPr marL="4114800" lvl="8" indent="-317500">
              <a:lnSpc>
                <a:spcPct val="115000"/>
              </a:lnSpc>
              <a:spcBef>
                <a:spcPts val="1600"/>
              </a:spcBef>
              <a:spcAft>
                <a:spcPts val="160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Source Code Pro"/>
                <a:ea typeface="Source Code Pro"/>
                <a:cs typeface="Source Code Pro"/>
                <a:sym typeface="Source Code Pro"/>
              </a:defRPr>
            </a:lvl1pPr>
            <a:lvl2pPr lvl="1" algn="r">
              <a:buNone/>
              <a:defRPr sz="1000">
                <a:solidFill>
                  <a:schemeClr val="dk2"/>
                </a:solidFill>
                <a:latin typeface="Source Code Pro"/>
                <a:ea typeface="Source Code Pro"/>
                <a:cs typeface="Source Code Pro"/>
                <a:sym typeface="Source Code Pro"/>
              </a:defRPr>
            </a:lvl2pPr>
            <a:lvl3pPr lvl="2" algn="r">
              <a:buNone/>
              <a:defRPr sz="1000">
                <a:solidFill>
                  <a:schemeClr val="dk2"/>
                </a:solidFill>
                <a:latin typeface="Source Code Pro"/>
                <a:ea typeface="Source Code Pro"/>
                <a:cs typeface="Source Code Pro"/>
                <a:sym typeface="Source Code Pro"/>
              </a:defRPr>
            </a:lvl3pPr>
            <a:lvl4pPr lvl="3" algn="r">
              <a:buNone/>
              <a:defRPr sz="1000">
                <a:solidFill>
                  <a:schemeClr val="dk2"/>
                </a:solidFill>
                <a:latin typeface="Source Code Pro"/>
                <a:ea typeface="Source Code Pro"/>
                <a:cs typeface="Source Code Pro"/>
                <a:sym typeface="Source Code Pro"/>
              </a:defRPr>
            </a:lvl4pPr>
            <a:lvl5pPr lvl="4" algn="r">
              <a:buNone/>
              <a:defRPr sz="1000">
                <a:solidFill>
                  <a:schemeClr val="dk2"/>
                </a:solidFill>
                <a:latin typeface="Source Code Pro"/>
                <a:ea typeface="Source Code Pro"/>
                <a:cs typeface="Source Code Pro"/>
                <a:sym typeface="Source Code Pro"/>
              </a:defRPr>
            </a:lvl5pPr>
            <a:lvl6pPr lvl="5" algn="r">
              <a:buNone/>
              <a:defRPr sz="1000">
                <a:solidFill>
                  <a:schemeClr val="dk2"/>
                </a:solidFill>
                <a:latin typeface="Source Code Pro"/>
                <a:ea typeface="Source Code Pro"/>
                <a:cs typeface="Source Code Pro"/>
                <a:sym typeface="Source Code Pro"/>
              </a:defRPr>
            </a:lvl6pPr>
            <a:lvl7pPr lvl="6" algn="r">
              <a:buNone/>
              <a:defRPr sz="1000">
                <a:solidFill>
                  <a:schemeClr val="dk2"/>
                </a:solidFill>
                <a:latin typeface="Source Code Pro"/>
                <a:ea typeface="Source Code Pro"/>
                <a:cs typeface="Source Code Pro"/>
                <a:sym typeface="Source Code Pro"/>
              </a:defRPr>
            </a:lvl7pPr>
            <a:lvl8pPr lvl="7" algn="r">
              <a:buNone/>
              <a:defRPr sz="1000">
                <a:solidFill>
                  <a:schemeClr val="dk2"/>
                </a:solidFill>
                <a:latin typeface="Source Code Pro"/>
                <a:ea typeface="Source Code Pro"/>
                <a:cs typeface="Source Code Pro"/>
                <a:sym typeface="Source Code Pro"/>
              </a:defRPr>
            </a:lvl8pPr>
            <a:lvl9pPr lvl="8" algn="r">
              <a:buNone/>
              <a:defRPr sz="1000">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odern-writer">
    <p:bg>
      <p:bgPr>
        <a:solidFill>
          <a:schemeClr val="lt1"/>
        </a:solidFill>
        <a:effectLst/>
      </p:bgPr>
    </p:bg>
    <p:spTree>
      <p:nvGrpSpPr>
        <p:cNvPr id="1" name="Shape 58"/>
        <p:cNvGrpSpPr/>
        <p:nvPr/>
      </p:nvGrpSpPr>
      <p:grpSpPr>
        <a:xfrm>
          <a:off x="0" y="0"/>
          <a:ext cx="0" cy="0"/>
          <a:chOff x="0" y="0"/>
          <a:chExt cx="0" cy="0"/>
        </a:xfrm>
      </p:grpSpPr>
      <p:sp>
        <p:nvSpPr>
          <p:cNvPr id="59" name="Google Shape;59;p13"/>
          <p:cNvSpPr txBox="1">
            <a:spLocks noGrp="1"/>
          </p:cNvSpPr>
          <p:nvPr>
            <p:ph type="title"/>
          </p:nvPr>
        </p:nvSpPr>
        <p:spPr>
          <a:xfrm>
            <a:off x="311700" y="372500"/>
            <a:ext cx="8520600" cy="7335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1pPr>
            <a:lvl2pPr marR="0" lvl="1"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2pPr>
            <a:lvl3pPr marR="0" lvl="2"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3pPr>
            <a:lvl4pPr marR="0" lvl="3"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4pPr>
            <a:lvl5pPr marR="0" lvl="4"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5pPr>
            <a:lvl6pPr marR="0" lvl="5"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6pPr>
            <a:lvl7pPr marR="0" lvl="6"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7pPr>
            <a:lvl8pPr marR="0" lvl="7"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8pPr>
            <a:lvl9pPr marR="0" lvl="8"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9pPr>
          </a:lstStyle>
          <a:p>
            <a:endParaRPr/>
          </a:p>
        </p:txBody>
      </p:sp>
      <p:sp>
        <p:nvSpPr>
          <p:cNvPr id="60" name="Google Shape;60;p13"/>
          <p:cNvSpPr txBox="1">
            <a:spLocks noGrp="1"/>
          </p:cNvSpPr>
          <p:nvPr>
            <p:ph type="body" idx="1"/>
          </p:nvPr>
        </p:nvSpPr>
        <p:spPr>
          <a:xfrm>
            <a:off x="311700" y="1468825"/>
            <a:ext cx="8520600" cy="30999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Source Code Pro"/>
              <a:buChar char="●"/>
              <a:defRPr sz="1800" b="0" i="0" u="none" strike="noStrike" cap="none">
                <a:solidFill>
                  <a:schemeClr val="dk2"/>
                </a:solidFill>
                <a:latin typeface="Source Code Pro"/>
                <a:ea typeface="Source Code Pro"/>
                <a:cs typeface="Source Code Pro"/>
                <a:sym typeface="Source Code Pro"/>
              </a:defRPr>
            </a:lvl1pPr>
            <a:lvl2pPr marL="914400" marR="0" lvl="1"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2pPr>
            <a:lvl3pPr marL="1371600" marR="0" lvl="2"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3pPr>
            <a:lvl4pPr marL="1828800" marR="0" lvl="3"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4pPr>
            <a:lvl5pPr marL="2286000" marR="0" lvl="4"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5pPr>
            <a:lvl6pPr marL="2743200" marR="0" lvl="5"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6pPr>
            <a:lvl7pPr marL="3200400" marR="0" lvl="6"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7pPr>
            <a:lvl8pPr marL="3657600" marR="0" lvl="7"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8pPr>
            <a:lvl9pPr marL="4114800" marR="0" lvl="8" indent="-317500" algn="l" rtl="0">
              <a:lnSpc>
                <a:spcPct val="115000"/>
              </a:lnSpc>
              <a:spcBef>
                <a:spcPts val="1600"/>
              </a:spcBef>
              <a:spcAft>
                <a:spcPts val="160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9pPr>
          </a:lstStyle>
          <a:p>
            <a:endParaRPr/>
          </a:p>
        </p:txBody>
      </p:sp>
      <p:sp>
        <p:nvSpPr>
          <p:cNvPr id="61" name="Google Shape;61;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0972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3" name="TextBox 2"/>
          <p:cNvSpPr txBox="1"/>
          <p:nvPr/>
        </p:nvSpPr>
        <p:spPr>
          <a:xfrm>
            <a:off x="411480" y="685800"/>
            <a:ext cx="8321040" cy="365760"/>
          </a:xfrm>
          <a:prstGeom prst="rect">
            <a:avLst/>
          </a:prstGeom>
          <a:noFill/>
        </p:spPr>
        <p:txBody>
          <a:bodyPr wrap="square" lIns="0" rIns="0" tIns="0" bIns="0" anchor="t">
            <a:spAutoFit/>
          </a:bodyPr>
          <a:lstStyle/>
          <a:p>
            <a:pPr algn="ctr"/>
            <a:r>
              <a:rPr sz="1500" b="1" i="0">
                <a:solidFill>
                  <a:srgbClr val="8A8A8A"/>
                </a:solidFill>
                <a:latin typeface="Montserrat"/>
              </a:rPr>
              <a:t>CSC 504 PRESENTATION</a:t>
            </a:r>
          </a:p>
        </p:txBody>
      </p:sp>
      <p:sp>
        <p:nvSpPr>
          <p:cNvPr id="4" name="TextBox 3"/>
          <p:cNvSpPr txBox="1"/>
          <p:nvPr/>
        </p:nvSpPr>
        <p:spPr>
          <a:xfrm>
            <a:off x="411480" y="1143000"/>
            <a:ext cx="8321040" cy="1371600"/>
          </a:xfrm>
          <a:prstGeom prst="rect">
            <a:avLst/>
          </a:prstGeom>
          <a:noFill/>
        </p:spPr>
        <p:txBody>
          <a:bodyPr wrap="square" lIns="0" rIns="0" tIns="0" bIns="0" anchor="t">
            <a:spAutoFit/>
          </a:bodyPr>
          <a:lstStyle/>
          <a:p>
            <a:pPr algn="ctr"/>
            <a:r>
              <a:rPr sz="2600" b="1" i="0">
                <a:solidFill>
                  <a:srgbClr val="1F3A5F"/>
                </a:solidFill>
                <a:latin typeface="Montserrat"/>
              </a:rPr>
              <a:t>DESIGN AND IMPLEMENTATION OF AN AUTOMATED
FINANCIAL TRADING SYSTEM FOR THE
FOREIGN EXCHANGE MARKET</a:t>
            </a:r>
          </a:p>
        </p:txBody>
      </p:sp>
      <p:sp>
        <p:nvSpPr>
          <p:cNvPr id="5" name="TextBox 4"/>
          <p:cNvSpPr txBox="1"/>
          <p:nvPr/>
        </p:nvSpPr>
        <p:spPr>
          <a:xfrm>
            <a:off x="411480" y="2514600"/>
            <a:ext cx="8321040" cy="822960"/>
          </a:xfrm>
          <a:prstGeom prst="rect">
            <a:avLst/>
          </a:prstGeom>
          <a:noFill/>
        </p:spPr>
        <p:txBody>
          <a:bodyPr wrap="none">
            <a:spAutoFit/>
          </a:bodyPr>
          <a:lstStyle/>
          <a:p>
            <a:pPr algn="ctr"/>
            <a:r>
              <a:rPr sz="1130" b="0" i="1">
                <a:solidFill>
                  <a:srgbClr val="444444"/>
                </a:solidFill>
                <a:latin typeface="Montserrat"/>
              </a:rPr>
              <a:t>A hybrid Volume Z-Score + Random Forest approach,</a:t>
            </a:r>
          </a:p>
          <a:p>
            <a:pPr algn="ctr"/>
            <a:r>
              <a:rPr sz="1130" b="0" i="1">
                <a:solidFill>
                  <a:srgbClr val="444444"/>
                </a:solidFill>
                <a:latin typeface="Montserrat"/>
              </a:rPr>
              <a:t>evaluated on held-out data with transaction costs</a:t>
            </a:r>
          </a:p>
        </p:txBody>
      </p:sp>
      <p:cxnSp>
        <p:nvCxnSpPr>
          <p:cNvPr id="6" name="Connector 5"/>
          <p:cNvCxnSpPr/>
          <p:nvPr/>
        </p:nvCxnSpPr>
        <p:spPr>
          <a:xfrm>
            <a:off x="3291840" y="3401568"/>
            <a:ext cx="256032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11480" y="3566160"/>
            <a:ext cx="8321040" cy="1097280"/>
          </a:xfrm>
          <a:prstGeom prst="rect">
            <a:avLst/>
          </a:prstGeom>
          <a:noFill/>
        </p:spPr>
        <p:txBody>
          <a:bodyPr wrap="none">
            <a:spAutoFit/>
          </a:bodyPr>
          <a:lstStyle/>
          <a:p>
            <a:pPr algn="ctr">
              <a:spcAft>
                <a:spcPts val="300"/>
              </a:spcAft>
            </a:pPr>
            <a:r>
              <a:rPr sz="1130" b="0" i="0">
                <a:solidFill>
                  <a:srgbClr val="8A8A8A"/>
                </a:solidFill>
                <a:latin typeface="Montserrat"/>
              </a:rPr>
              <a:t>Name:  </a:t>
            </a:r>
            <a:r>
              <a:rPr sz="1130" b="1" i="0">
                <a:solidFill>
                  <a:srgbClr val="1A1A1A"/>
                </a:solidFill>
                <a:latin typeface="Montserrat"/>
              </a:rPr>
              <a:t>AWOSUSI GABRIEL AYOMIDE</a:t>
            </a:r>
          </a:p>
          <a:p>
            <a:pPr algn="ctr">
              <a:spcAft>
                <a:spcPts val="300"/>
              </a:spcAft>
            </a:pPr>
            <a:r>
              <a:rPr sz="1130" b="0" i="0">
                <a:solidFill>
                  <a:srgbClr val="8A8A8A"/>
                </a:solidFill>
                <a:latin typeface="Montserrat"/>
              </a:rPr>
              <a:t>Matric No:  </a:t>
            </a:r>
            <a:r>
              <a:rPr sz="1130" b="1" i="0">
                <a:solidFill>
                  <a:srgbClr val="1A1A1A"/>
                </a:solidFill>
                <a:latin typeface="Montserrat"/>
              </a:rPr>
              <a:t>CSC/2019/079</a:t>
            </a:r>
          </a:p>
          <a:p>
            <a:pPr algn="ctr">
              <a:spcAft>
                <a:spcPts val="300"/>
              </a:spcAft>
            </a:pPr>
            <a:r>
              <a:rPr sz="1130" b="0" i="0">
                <a:solidFill>
                  <a:srgbClr val="8A8A8A"/>
                </a:solidFill>
                <a:latin typeface="Montserrat"/>
              </a:rPr>
              <a:t>Supervisor:  </a:t>
            </a:r>
            <a:r>
              <a:rPr sz="1130" b="1" i="0">
                <a:solidFill>
                  <a:srgbClr val="1A1A1A"/>
                </a:solidFill>
                <a:latin typeface="Montserrat"/>
              </a:rPr>
              <a:t>_______________________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Presentation Outline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a:t>
            </a:r>
          </a:p>
        </p:txBody>
      </p:sp>
      <p:sp>
        <p:nvSpPr>
          <p:cNvPr id="5" name="TextBox 4"/>
          <p:cNvSpPr txBox="1"/>
          <p:nvPr/>
        </p:nvSpPr>
        <p:spPr>
          <a:xfrm>
            <a:off x="411480" y="1069848"/>
            <a:ext cx="4023360" cy="3474720"/>
          </a:xfrm>
          <a:prstGeom prst="rect">
            <a:avLst/>
          </a:prstGeom>
          <a:noFill/>
        </p:spPr>
        <p:txBody>
          <a:bodyPr wrap="square">
            <a:spAutoFit/>
          </a:bodyPr>
          <a:lstStyle/>
          <a:p>
            <a:pPr>
              <a:spcAft>
                <a:spcPts val="900"/>
              </a:spcAft>
            </a:pPr>
            <a:r>
              <a:rPr sz="1130" b="0" i="0">
                <a:solidFill>
                  <a:srgbClr val="1A1A1A"/>
                </a:solidFill>
                <a:latin typeface="Montserrat"/>
              </a:rPr>
              <a:t> 1.   INTRODUCTION</a:t>
            </a:r>
          </a:p>
          <a:p>
            <a:pPr>
              <a:spcAft>
                <a:spcPts val="900"/>
              </a:spcAft>
            </a:pPr>
            <a:r>
              <a:rPr sz="1130" b="0" i="0">
                <a:solidFill>
                  <a:srgbClr val="1A1A1A"/>
                </a:solidFill>
                <a:latin typeface="Montserrat"/>
              </a:rPr>
              <a:t> 2.   STATEMENT OF PROBLEM</a:t>
            </a:r>
          </a:p>
          <a:p>
            <a:pPr>
              <a:spcAft>
                <a:spcPts val="900"/>
              </a:spcAft>
            </a:pPr>
            <a:r>
              <a:rPr sz="1130" b="0" i="0">
                <a:solidFill>
                  <a:srgbClr val="1A1A1A"/>
                </a:solidFill>
                <a:latin typeface="Montserrat"/>
              </a:rPr>
              <a:t> 3.   AIM AND OBJECTIVES</a:t>
            </a:r>
          </a:p>
          <a:p>
            <a:pPr>
              <a:spcAft>
                <a:spcPts val="900"/>
              </a:spcAft>
            </a:pPr>
            <a:r>
              <a:rPr sz="1130" b="0" i="0">
                <a:solidFill>
                  <a:srgbClr val="1A1A1A"/>
                </a:solidFill>
                <a:latin typeface="Montserrat"/>
              </a:rPr>
              <a:t> 4.   LITERATURE REVIEW</a:t>
            </a:r>
          </a:p>
          <a:p>
            <a:pPr>
              <a:spcAft>
                <a:spcPts val="900"/>
              </a:spcAft>
            </a:pPr>
            <a:r>
              <a:rPr sz="1130" b="0" i="0">
                <a:solidFill>
                  <a:srgbClr val="1A1A1A"/>
                </a:solidFill>
                <a:latin typeface="Montserrat"/>
              </a:rPr>
              <a:t> 5.   METHODOLOGY</a:t>
            </a:r>
          </a:p>
          <a:p>
            <a:pPr>
              <a:spcAft>
                <a:spcPts val="900"/>
              </a:spcAft>
            </a:pPr>
            <a:r>
              <a:rPr sz="1130" b="0" i="0">
                <a:solidFill>
                  <a:srgbClr val="1A1A1A"/>
                </a:solidFill>
                <a:latin typeface="Montserrat"/>
              </a:rPr>
              <a:t> 6.   JUSTIFICATION</a:t>
            </a:r>
          </a:p>
          <a:p>
            <a:pPr>
              <a:spcAft>
                <a:spcPts val="900"/>
              </a:spcAft>
            </a:pPr>
            <a:r>
              <a:rPr sz="1130" b="0" i="0">
                <a:solidFill>
                  <a:srgbClr val="1A1A1A"/>
                </a:solidFill>
                <a:latin typeface="Montserrat"/>
              </a:rPr>
              <a:t> 7.   SCOPE OF PROJECT</a:t>
            </a:r>
          </a:p>
        </p:txBody>
      </p:sp>
      <p:sp>
        <p:nvSpPr>
          <p:cNvPr id="6" name="TextBox 5"/>
          <p:cNvSpPr txBox="1"/>
          <p:nvPr/>
        </p:nvSpPr>
        <p:spPr>
          <a:xfrm>
            <a:off x="4709160" y="1069848"/>
            <a:ext cx="4023360" cy="3474720"/>
          </a:xfrm>
          <a:prstGeom prst="rect">
            <a:avLst/>
          </a:prstGeom>
          <a:noFill/>
        </p:spPr>
        <p:txBody>
          <a:bodyPr wrap="square">
            <a:spAutoFit/>
          </a:bodyPr>
          <a:lstStyle/>
          <a:p>
            <a:pPr>
              <a:spcAft>
                <a:spcPts val="900"/>
              </a:spcAft>
            </a:pPr>
            <a:r>
              <a:rPr sz="1130" b="0" i="0">
                <a:solidFill>
                  <a:srgbClr val="1A1A1A"/>
                </a:solidFill>
                <a:latin typeface="Montserrat"/>
              </a:rPr>
              <a:t> 8.   WORK DONE: DESIGN SPECIFICATION</a:t>
            </a:r>
          </a:p>
          <a:p>
            <a:pPr>
              <a:spcAft>
                <a:spcPts val="900"/>
              </a:spcAft>
            </a:pPr>
            <a:r>
              <a:rPr sz="1130" b="0" i="0">
                <a:solidFill>
                  <a:srgbClr val="1A1A1A"/>
                </a:solidFill>
                <a:latin typeface="Montserrat"/>
              </a:rPr>
              <a:t> 9.   WORK DONE: IMPLEMENTATION &amp; RESULTS</a:t>
            </a:r>
          </a:p>
          <a:p>
            <a:pPr>
              <a:spcAft>
                <a:spcPts val="900"/>
              </a:spcAft>
            </a:pPr>
            <a:r>
              <a:rPr sz="1130" b="0" i="0">
                <a:solidFill>
                  <a:srgbClr val="1A1A1A"/>
                </a:solidFill>
                <a:latin typeface="Montserrat"/>
              </a:rPr>
              <a:t>10.   FROM RESEARCH TO A LIVE PRODUCT</a:t>
            </a:r>
          </a:p>
          <a:p>
            <a:pPr>
              <a:spcAft>
                <a:spcPts val="900"/>
              </a:spcAft>
            </a:pPr>
            <a:r>
              <a:rPr sz="1130" b="0" i="0">
                <a:solidFill>
                  <a:srgbClr val="1A1A1A"/>
                </a:solidFill>
                <a:latin typeface="Montserrat"/>
              </a:rPr>
              <a:t>11.   CONTRIBUTION TO KNOWLEDGE</a:t>
            </a:r>
          </a:p>
          <a:p>
            <a:pPr>
              <a:spcAft>
                <a:spcPts val="900"/>
              </a:spcAft>
            </a:pPr>
            <a:r>
              <a:rPr sz="1130" b="0" i="0">
                <a:solidFill>
                  <a:srgbClr val="1A1A1A"/>
                </a:solidFill>
                <a:latin typeface="Montserrat"/>
              </a:rPr>
              <a:t>12.   WORK LEFT UNDONE</a:t>
            </a:r>
          </a:p>
          <a:p>
            <a:pPr>
              <a:spcAft>
                <a:spcPts val="900"/>
              </a:spcAft>
            </a:pPr>
            <a:r>
              <a:rPr sz="1130" b="0" i="0">
                <a:solidFill>
                  <a:srgbClr val="1A1A1A"/>
                </a:solidFill>
                <a:latin typeface="Montserrat"/>
              </a:rPr>
              <a:t>13.   CONCLUSION</a:t>
            </a:r>
          </a:p>
          <a:p>
            <a:pPr>
              <a:spcAft>
                <a:spcPts val="900"/>
              </a:spcAft>
            </a:pPr>
            <a:r>
              <a:rPr sz="1130" b="0" i="0">
                <a:solidFill>
                  <a:srgbClr val="1A1A1A"/>
                </a:solidFill>
                <a:latin typeface="Montserrat"/>
              </a:rPr>
              <a:t>14.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Introduction</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0" i="0">
                <a:solidFill>
                  <a:srgbClr val="1A1A1A"/>
                </a:solidFill>
                <a:latin typeface="Montserrat"/>
              </a:rPr>
              <a:t>•  The foreign exchange market is the largest financial market in the world, trading over US$7 trillion per day, and it is open 24 hours a day, five days a week.</a:t>
            </a:r>
          </a:p>
          <a:p>
            <a:pPr>
              <a:spcAft>
                <a:spcPts val="600"/>
              </a:spcAft>
            </a:pPr>
            <a:r>
              <a:rPr sz="1180" b="0" i="0">
                <a:solidFill>
                  <a:srgbClr val="1A1A1A"/>
                </a:solidFill>
                <a:latin typeface="Montserrat"/>
              </a:rPr>
              <a:t>•  Retail participation has grown rapidly, but the outcomes are poor: regulators report that a large majority of retail accounts lose money (ESMA, 2018).</a:t>
            </a:r>
          </a:p>
          <a:p>
            <a:pPr>
              <a:spcAft>
                <a:spcPts val="600"/>
              </a:spcAft>
            </a:pPr>
            <a:r>
              <a:rPr sz="1180" b="0" i="0">
                <a:solidFill>
                  <a:srgbClr val="1A1A1A"/>
                </a:solidFill>
                <a:latin typeface="Montserrat"/>
              </a:rPr>
              <a:t>•  Two causes dominate: emotional decision-making under pressure, and the impossibility of a human monitoring a 24-hour market consistently.</a:t>
            </a:r>
          </a:p>
          <a:p>
            <a:pPr>
              <a:spcAft>
                <a:spcPts val="600"/>
              </a:spcAft>
            </a:pPr>
            <a:r>
              <a:rPr sz="1180" b="0" i="0">
                <a:solidFill>
                  <a:srgbClr val="1A1A1A"/>
                </a:solidFill>
                <a:latin typeface="Montserrat"/>
              </a:rPr>
              <a:t>•  Algorithmic trading removes the emotional element and enforces a rule set identically on every candle, which is why institutional participants adopted it first.</a:t>
            </a:r>
          </a:p>
          <a:p>
            <a:pPr>
              <a:spcAft>
                <a:spcPts val="600"/>
              </a:spcAft>
            </a:pPr>
            <a:r>
              <a:rPr sz="1180" b="1" i="0">
                <a:solidFill>
                  <a:srgbClr val="1A1A1A"/>
                </a:solidFill>
                <a:latin typeface="Montserrat"/>
              </a:rPr>
              <a:t>•  This project asks a narrower, testable question:</a:t>
            </a:r>
          </a:p>
          <a:p>
            <a:pPr lvl="1">
              <a:spcAft>
                <a:spcPts val="600"/>
              </a:spcAft>
            </a:pPr>
            <a:r>
              <a:rPr sz="1080" b="0" i="0">
                <a:solidFill>
                  <a:srgbClr val="333333"/>
                </a:solidFill>
                <a:latin typeface="Montserrat"/>
              </a:rPr>
              <a:t>–  Can a statistical filter combined with a machine-learning classifier produce a trading rule whose performance can be honestly measured on unseen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Introduction (cont'd)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4</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1" i="0">
                <a:solidFill>
                  <a:srgbClr val="1A1A1A"/>
                </a:solidFill>
                <a:latin typeface="Montserrat"/>
              </a:rPr>
              <a:t>•  Why a rule filter AND a model, rather than either alone?</a:t>
            </a:r>
          </a:p>
          <a:p>
            <a:pPr lvl="1">
              <a:spcAft>
                <a:spcPts val="600"/>
              </a:spcAft>
            </a:pPr>
            <a:r>
              <a:rPr sz="1080" b="0" i="0">
                <a:solidFill>
                  <a:srgbClr val="333333"/>
                </a:solidFill>
                <a:latin typeface="Montserrat"/>
              </a:rPr>
              <a:t>–  A pure rule system (e.g. moving-average crossover) cannot adapt; it fires the same way in every market condition.</a:t>
            </a:r>
          </a:p>
          <a:p>
            <a:pPr lvl="1">
              <a:spcAft>
                <a:spcPts val="600"/>
              </a:spcAft>
            </a:pPr>
            <a:r>
              <a:rPr sz="1080" b="0" i="0">
                <a:solidFill>
                  <a:srgbClr val="333333"/>
                </a:solidFill>
                <a:latin typeface="Montserrat"/>
              </a:rPr>
              <a:t>–  A pure machine-learning system trades constantly and is hard to defend: it gives no human-readable reason for any single decision.</a:t>
            </a:r>
          </a:p>
          <a:p>
            <a:pPr lvl="1">
              <a:spcAft>
                <a:spcPts val="600"/>
              </a:spcAft>
            </a:pPr>
            <a:r>
              <a:rPr sz="1080" b="0" i="0">
                <a:solidFill>
                  <a:srgbClr val="333333"/>
                </a:solidFill>
                <a:latin typeface="Montserrat"/>
              </a:rPr>
              <a:t>–  The hybrid design requires BOTH to agree, so every trade has a stated statistical reason and a model probability attached to it.</a:t>
            </a:r>
          </a:p>
          <a:p>
            <a:pPr>
              <a:spcAft>
                <a:spcPts val="600"/>
              </a:spcAft>
            </a:pPr>
            <a:r>
              <a:rPr sz="1180" b="1" i="0">
                <a:solidFill>
                  <a:srgbClr val="1A1A1A"/>
                </a:solidFill>
                <a:latin typeface="Montserrat"/>
              </a:rPr>
              <a:t>•  Why the Random Forest and not deep learning?</a:t>
            </a:r>
          </a:p>
          <a:p>
            <a:pPr lvl="1">
              <a:spcAft>
                <a:spcPts val="600"/>
              </a:spcAft>
            </a:pPr>
            <a:r>
              <a:rPr sz="1080" b="0" i="0">
                <a:solidFill>
                  <a:srgbClr val="333333"/>
                </a:solidFill>
                <a:latin typeface="Montserrat"/>
              </a:rPr>
              <a:t>–  Runs on CPU-only hardware; resists overfitting through ensemble averaging; and exposes feature importances, so the model can be interrogated.</a:t>
            </a:r>
          </a:p>
          <a:p>
            <a:pPr lvl="1">
              <a:spcAft>
                <a:spcPts val="600"/>
              </a:spcAft>
            </a:pPr>
            <a:r>
              <a:rPr sz="1080" b="0" i="0">
                <a:solidFill>
                  <a:srgbClr val="333333"/>
                </a:solidFill>
                <a:latin typeface="Montserrat"/>
              </a:rPr>
              <a:t>–  Deep learning (LSTM) was reviewed and deliberately rejected (see Literature Review) on grounds of compute cost and opacity, not ignorance.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Statement of the Problem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5</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0" i="0">
                <a:solidFill>
                  <a:srgbClr val="1A1A1A"/>
                </a:solidFill>
                <a:latin typeface="Montserrat"/>
              </a:rPr>
              <a:t>•  Retail traders lose money predominantly because decisions are emotional, inconsistent, and cannot be sustained across a 24-hour market.</a:t>
            </a:r>
          </a:p>
          <a:p>
            <a:pPr>
              <a:spcAft>
                <a:spcPts val="600"/>
              </a:spcAft>
            </a:pPr>
            <a:r>
              <a:rPr sz="1180" b="0" i="0">
                <a:solidFill>
                  <a:srgbClr val="1A1A1A"/>
                </a:solidFill>
                <a:latin typeface="Montserrat"/>
              </a:rPr>
              <a:t>•  Existing retail automation is largely rule-only: it cannot weigh evidence, and it repeats the same behaviour regardless of market state.</a:t>
            </a:r>
          </a:p>
          <a:p>
            <a:pPr>
              <a:spcAft>
                <a:spcPts val="600"/>
              </a:spcAft>
            </a:pPr>
            <a:r>
              <a:rPr sz="1180" b="0" i="0">
                <a:solidFill>
                  <a:srgbClr val="1A1A1A"/>
                </a:solidFill>
                <a:latin typeface="Montserrat"/>
              </a:rPr>
              <a:t>•  Published machine-learning trading results are frequently not reproducible: they omit transaction costs, shuffle time-series data (which leaks the future into training), or report only the best run.</a:t>
            </a:r>
          </a:p>
          <a:p>
            <a:pPr>
              <a:spcAft>
                <a:spcPts val="600"/>
              </a:spcAft>
            </a:pPr>
            <a:r>
              <a:rPr sz="1180" b="0" i="0">
                <a:solidFill>
                  <a:srgbClr val="1A1A1A"/>
                </a:solidFill>
                <a:latin typeface="Montserrat"/>
              </a:rPr>
              <a:t>•  Most critically, results are rarely reported with any measure of uncertainty, so a strong-looking win rate cannot be distinguished from luck.</a:t>
            </a:r>
          </a:p>
          <a:p>
            <a:pPr>
              <a:spcAft>
                <a:spcPts val="600"/>
              </a:spcAft>
            </a:pPr>
            <a:r>
              <a:rPr sz="1180" b="1" i="0">
                <a:solidFill>
                  <a:srgbClr val="1A1A1A"/>
                </a:solidFill>
                <a:latin typeface="Montserrat"/>
              </a:rPr>
              <a:t>•  The gap this project addresses:</a:t>
            </a:r>
          </a:p>
          <a:p>
            <a:pPr lvl="1">
              <a:spcAft>
                <a:spcPts val="600"/>
              </a:spcAft>
            </a:pPr>
            <a:r>
              <a:rPr sz="1080" b="0" i="0">
                <a:solidFill>
                  <a:srgbClr val="333333"/>
                </a:solidFill>
                <a:latin typeface="Montserrat"/>
              </a:rPr>
              <a:t>–  A transparent hybrid system whose every claim is measured on a sealed test set, with costs charged, confidence intervals quoted, and negative results reported rather than discarded.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Aim and Objectives</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6</a:t>
            </a:r>
          </a:p>
        </p:txBody>
      </p:sp>
      <p:sp>
        <p:nvSpPr>
          <p:cNvPr id="5" name="TextBox 4"/>
          <p:cNvSpPr txBox="1"/>
          <p:nvPr/>
        </p:nvSpPr>
        <p:spPr>
          <a:xfrm>
            <a:off x="411480" y="932688"/>
            <a:ext cx="8321040" cy="640080"/>
          </a:xfrm>
          <a:prstGeom prst="rect">
            <a:avLst/>
          </a:prstGeom>
          <a:noFill/>
        </p:spPr>
        <p:txBody>
          <a:bodyPr wrap="square" lIns="0" rIns="0" tIns="0" bIns="0" anchor="t">
            <a:spAutoFit/>
          </a:bodyPr>
          <a:lstStyle/>
          <a:p>
            <a:pPr algn="l"/>
            <a:r>
              <a:rPr sz="1180" b="0" i="0">
                <a:solidFill>
                  <a:srgbClr val="1A1A1A"/>
                </a:solidFill>
                <a:latin typeface="Montserrat"/>
              </a:rPr>
              <a:t>Aim:  to design, implement and evaluate an automated financial trading system for the foreign exchange market that combines statistical filtering with machine-learning prediction, and to report its performance honestly.</a:t>
            </a:r>
          </a:p>
        </p:txBody>
      </p:sp>
      <p:sp>
        <p:nvSpPr>
          <p:cNvPr id="6" name="TextBox 5"/>
          <p:cNvSpPr txBox="1"/>
          <p:nvPr/>
        </p:nvSpPr>
        <p:spPr>
          <a:xfrm>
            <a:off x="411480" y="1645920"/>
            <a:ext cx="8321040" cy="228600"/>
          </a:xfrm>
          <a:prstGeom prst="rect">
            <a:avLst/>
          </a:prstGeom>
          <a:noFill/>
        </p:spPr>
        <p:txBody>
          <a:bodyPr wrap="square" lIns="0" rIns="0" tIns="0" bIns="0" anchor="t">
            <a:spAutoFit/>
          </a:bodyPr>
          <a:lstStyle/>
          <a:p>
            <a:pPr algn="l"/>
            <a:r>
              <a:rPr sz="1180" b="1" i="0">
                <a:solidFill>
                  <a:srgbClr val="1A1A1A"/>
                </a:solidFill>
                <a:latin typeface="Montserrat"/>
              </a:rPr>
              <a:t>The specific objectives are:</a:t>
            </a:r>
          </a:p>
        </p:txBody>
      </p:sp>
      <p:sp>
        <p:nvSpPr>
          <p:cNvPr id="7" name="TextBox 6"/>
          <p:cNvSpPr txBox="1"/>
          <p:nvPr/>
        </p:nvSpPr>
        <p:spPr>
          <a:xfrm>
            <a:off x="411480" y="1920240"/>
            <a:ext cx="8321040" cy="2948940"/>
          </a:xfrm>
          <a:prstGeom prst="rect">
            <a:avLst/>
          </a:prstGeom>
          <a:noFill/>
        </p:spPr>
        <p:txBody>
          <a:bodyPr wrap="square" lIns="0" rIns="0" tIns="0" bIns="0">
            <a:spAutoFit/>
          </a:bodyPr>
          <a:lstStyle/>
          <a:p>
            <a:pPr>
              <a:spcAft>
                <a:spcPts val="600"/>
              </a:spcAft>
            </a:pPr>
            <a:r>
              <a:rPr sz="1130" b="0" i="0">
                <a:solidFill>
                  <a:srgbClr val="1A1A1A"/>
                </a:solidFill>
                <a:latin typeface="Montserrat"/>
              </a:rPr>
              <a:t>•  i.   To design a hybrid decision model in which a Volume Z-Score rule and a Random Forest classifier must both agree before any trade is taken.</a:t>
            </a:r>
          </a:p>
          <a:p>
            <a:pPr>
              <a:spcAft>
                <a:spcPts val="600"/>
              </a:spcAft>
            </a:pPr>
            <a:r>
              <a:rPr sz="1130" b="0" i="0">
                <a:solidFill>
                  <a:srgbClr val="1A1A1A"/>
                </a:solidFill>
                <a:latin typeface="Montserrat"/>
              </a:rPr>
              <a:t>•  ii.  To implement the system end to end: data acquisition, feature engineering, labelling, training, signal generation, risk management and order execution.</a:t>
            </a:r>
          </a:p>
          <a:p>
            <a:pPr>
              <a:spcAft>
                <a:spcPts val="600"/>
              </a:spcAft>
            </a:pPr>
            <a:r>
              <a:rPr sz="1130" b="0" i="0">
                <a:solidFill>
                  <a:srgbClr val="1A1A1A"/>
                </a:solidFill>
                <a:latin typeface="Montserrat"/>
              </a:rPr>
              <a:t>•  iii. To integrate a risk-management layer providing fixed-fractional position sizing, dynamic stop-losses and hard account-level limits.</a:t>
            </a:r>
          </a:p>
          <a:p>
            <a:pPr>
              <a:spcAft>
                <a:spcPts val="600"/>
              </a:spcAft>
            </a:pPr>
            <a:r>
              <a:rPr sz="1130" b="0" i="0">
                <a:solidFill>
                  <a:srgbClr val="1A1A1A"/>
                </a:solidFill>
                <a:latin typeface="Montserrat"/>
              </a:rPr>
              <a:t>•  iv.  To evaluate the system by backtesting on held-out data with transaction costs, against defined targets for win rate, profit factor, drawdown and Sharpe ratio.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Literature Review (1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7</a:t>
            </a:r>
          </a:p>
        </p:txBody>
      </p:sp>
      <p:graphicFrame>
        <p:nvGraphicFramePr>
          <p:cNvPr id="5" name="Table 4"/>
          <p:cNvGraphicFramePr>
            <a:graphicFrameLocks noGrp="1"/>
          </p:cNvGraphicFramePr>
          <p:nvPr/>
        </p:nvGraphicFramePr>
        <p:xfrm>
          <a:off x="411480" y="978408"/>
          <a:ext cx="8321040" cy="950976"/>
        </p:xfrm>
        <a:graphic>
          <a:graphicData uri="http://schemas.openxmlformats.org/drawingml/2006/table">
            <a:tbl>
              <a:tblPr firstRow="1" bandRow="1">
                <a:tableStyleId>{5C22544A-7EE6-4342-B048-85BDC9FD1C3A}</a:tableStyleId>
              </a:tblPr>
              <a:tblGrid>
                <a:gridCol w="384048"/>
                <a:gridCol w="2057400"/>
                <a:gridCol w="1600200"/>
                <a:gridCol w="1920240"/>
                <a:gridCol w="2359152"/>
              </a:tblGrid>
              <a:tr h="237744">
                <a:tc>
                  <a:txBody>
                    <a:bodyPr wrap="square"/>
                    <a:lstStyle/>
                    <a:p>
                      <a:pPr algn="l"/>
                      <a:r>
                        <a:rPr sz="850" b="1" i="0">
                          <a:solidFill>
                            <a:srgbClr val="FFFFFF"/>
                          </a:solidFill>
                          <a:latin typeface="Montserrat"/>
                        </a:rPr>
                        <a:t>S/N</a:t>
                      </a:r>
                    </a:p>
                  </a:txBody>
                  <a:tcPr marL="45720" marR="45720" marT="18288" marB="18288" anchor="ctr">
                    <a:solidFill>
                      <a:srgbClr val="1F3A5F"/>
                    </a:solidFill>
                  </a:tcPr>
                </a:tc>
                <a:tc>
                  <a:txBody>
                    <a:bodyPr wrap="square"/>
                    <a:lstStyle/>
                    <a:p>
                      <a:pPr algn="ctr"/>
                      <a:r>
                        <a:rPr sz="850" b="1" i="0">
                          <a:solidFill>
                            <a:srgbClr val="FFFFFF"/>
                          </a:solidFill>
                          <a:latin typeface="Montserrat"/>
                        </a:rPr>
                        <a:t>Author / Title</a:t>
                      </a:r>
                    </a:p>
                  </a:txBody>
                  <a:tcPr marL="45720" marR="45720" marT="18288" marB="18288" anchor="ctr">
                    <a:solidFill>
                      <a:srgbClr val="1F3A5F"/>
                    </a:solidFill>
                  </a:tcPr>
                </a:tc>
                <a:tc>
                  <a:txBody>
                    <a:bodyPr wrap="square"/>
                    <a:lstStyle/>
                    <a:p>
                      <a:pPr algn="ctr"/>
                      <a:r>
                        <a:rPr sz="850" b="1" i="0">
                          <a:solidFill>
                            <a:srgbClr val="FFFFFF"/>
                          </a:solidFill>
                          <a:latin typeface="Montserrat"/>
                        </a:rPr>
                        <a:t>Method</a:t>
                      </a:r>
                    </a:p>
                  </a:txBody>
                  <a:tcPr marL="45720" marR="45720" marT="18288" marB="18288" anchor="ctr">
                    <a:solidFill>
                      <a:srgbClr val="1F3A5F"/>
                    </a:solidFill>
                  </a:tcPr>
                </a:tc>
                <a:tc>
                  <a:txBody>
                    <a:bodyPr wrap="square"/>
                    <a:lstStyle/>
                    <a:p>
                      <a:pPr algn="ctr"/>
                      <a:r>
                        <a:rPr sz="850" b="1" i="0">
                          <a:solidFill>
                            <a:srgbClr val="FFFFFF"/>
                          </a:solidFill>
                          <a:latin typeface="Montserrat"/>
                        </a:rPr>
                        <a:t>Finding</a:t>
                      </a:r>
                    </a:p>
                  </a:txBody>
                  <a:tcPr marL="45720" marR="45720" marT="18288" marB="18288" anchor="ctr">
                    <a:solidFill>
                      <a:srgbClr val="1F3A5F"/>
                    </a:solidFill>
                  </a:tcPr>
                </a:tc>
                <a:tc>
                  <a:txBody>
                    <a:bodyPr wrap="square"/>
                    <a:lstStyle/>
                    <a:p>
                      <a:pPr algn="ctr"/>
                      <a:r>
                        <a:rPr sz="850" b="1" i="0">
                          <a:solidFill>
                            <a:srgbClr val="FFFFFF"/>
                          </a:solidFill>
                          <a:latin typeface="Montserrat"/>
                        </a:rPr>
                        <a:t>Comment (this project)</a:t>
                      </a:r>
                    </a:p>
                  </a:txBody>
                  <a:tcPr marL="45720" marR="45720" marT="18288" marB="18288" anchor="ctr">
                    <a:solidFill>
                      <a:srgbClr val="1F3A5F"/>
                    </a:solidFill>
                  </a:tcPr>
                </a:tc>
              </a:tr>
              <a:tr h="237744">
                <a:tc>
                  <a:txBody>
                    <a:bodyPr wrap="square"/>
                    <a:lstStyle/>
                    <a:p>
                      <a:pPr algn="l"/>
                      <a:r>
                        <a:rPr sz="750" b="0" i="0">
                          <a:solidFill>
                            <a:srgbClr val="1A1A1A"/>
                          </a:solidFill>
                          <a:latin typeface="Montserrat"/>
                        </a:rPr>
                        <a:t>1</a:t>
                      </a:r>
                    </a:p>
                  </a:txBody>
                  <a:tcPr marL="45720" marR="45720" marT="18288" marB="18288" anchor="ctr">
                    <a:solidFill>
                      <a:srgbClr val="FFFFFF"/>
                    </a:solidFill>
                  </a:tcPr>
                </a:tc>
                <a:tc>
                  <a:txBody>
                    <a:bodyPr wrap="square"/>
                    <a:lstStyle/>
                    <a:p>
                      <a:pPr algn="ctr"/>
                      <a:r>
                        <a:rPr sz="750" b="0" i="0">
                          <a:solidFill>
                            <a:srgbClr val="1A1A1A"/>
                          </a:solidFill>
                          <a:latin typeface="Montserrat"/>
                        </a:rPr>
                        <a:t>Lopez de Prado (2018): Advances in Financial Machine Learning</a:t>
                      </a:r>
                    </a:p>
                  </a:txBody>
                  <a:tcPr marL="45720" marR="45720" marT="18288" marB="18288" anchor="ctr">
                    <a:solidFill>
                      <a:srgbClr val="FFFFFF"/>
                    </a:solidFill>
                  </a:tcPr>
                </a:tc>
                <a:tc>
                  <a:txBody>
                    <a:bodyPr wrap="square"/>
                    <a:lstStyle/>
                    <a:p>
                      <a:pPr algn="ctr"/>
                      <a:r>
                        <a:rPr sz="750" b="0" i="0">
                          <a:solidFill>
                            <a:srgbClr val="1A1A1A"/>
                          </a:solidFill>
                          <a:latin typeface="Montserrat"/>
                        </a:rPr>
                        <a:t>Triple-barrier labelling; meta-labelling</a:t>
                      </a:r>
                    </a:p>
                  </a:txBody>
                  <a:tcPr marL="45720" marR="45720" marT="18288" marB="18288" anchor="ctr">
                    <a:solidFill>
                      <a:srgbClr val="FFFFFF"/>
                    </a:solidFill>
                  </a:tcPr>
                </a:tc>
                <a:tc>
                  <a:txBody>
                    <a:bodyPr wrap="square"/>
                    <a:lstStyle/>
                    <a:p>
                      <a:pPr algn="ctr"/>
                      <a:r>
                        <a:rPr sz="750" b="0" i="0">
                          <a:solidFill>
                            <a:srgbClr val="1A1A1A"/>
                          </a:solidFill>
                          <a:latin typeface="Montserrat"/>
                        </a:rPr>
                        <a:t>Naive next-candle labels do not match how trades actually close</a:t>
                      </a:r>
                    </a:p>
                  </a:txBody>
                  <a:tcPr marL="45720" marR="45720" marT="18288" marB="18288" anchor="ctr">
                    <a:solidFill>
                      <a:srgbClr val="FFFFFF"/>
                    </a:solidFill>
                  </a:tcPr>
                </a:tc>
                <a:tc>
                  <a:txBody>
                    <a:bodyPr wrap="square"/>
                    <a:lstStyle/>
                    <a:p>
                      <a:pPr algn="ctr"/>
                      <a:r>
                        <a:rPr sz="750" b="0" i="0">
                          <a:solidFill>
                            <a:srgbClr val="1A1A1A"/>
                          </a:solidFill>
                          <a:latin typeface="Montserrat"/>
                        </a:rPr>
                        <a:t>ADOPTED. The single most effective change made; it turned both currency pairs from a net loss into a net profit.</a:t>
                      </a:r>
                    </a:p>
                  </a:txBody>
                  <a:tcPr marL="45720" marR="45720" marT="18288" marB="18288" anchor="ctr">
                    <a:solidFill>
                      <a:srgbClr val="FFFFFF"/>
                    </a:solidFill>
                  </a:tcPr>
                </a:tc>
              </a:tr>
              <a:tr h="237744">
                <a:tc>
                  <a:txBody>
                    <a:bodyPr wrap="square"/>
                    <a:lstStyle/>
                    <a:p>
                      <a:pPr algn="l"/>
                      <a:r>
                        <a:rPr sz="750" b="0" i="0">
                          <a:solidFill>
                            <a:srgbClr val="1A1A1A"/>
                          </a:solidFill>
                          <a:latin typeface="Montserrat"/>
                        </a:rPr>
                        <a:t>2</a:t>
                      </a:r>
                    </a:p>
                  </a:txBody>
                  <a:tcPr marL="45720" marR="45720" marT="18288" marB="18288" anchor="ctr">
                    <a:solidFill>
                      <a:srgbClr val="F7F9FB"/>
                    </a:solidFill>
                  </a:tcPr>
                </a:tc>
                <a:tc>
                  <a:txBody>
                    <a:bodyPr wrap="square"/>
                    <a:lstStyle/>
                    <a:p>
                      <a:pPr algn="ctr"/>
                      <a:r>
                        <a:rPr sz="750" b="0" i="0">
                          <a:solidFill>
                            <a:srgbClr val="1A1A1A"/>
                          </a:solidFill>
                          <a:latin typeface="Montserrat"/>
                        </a:rPr>
                        <a:t>Chong, Ng &amp; Liew (2014): Technical indicators as ML inputs</a:t>
                      </a:r>
                    </a:p>
                  </a:txBody>
                  <a:tcPr marL="45720" marR="45720" marT="18288" marB="18288" anchor="ctr">
                    <a:solidFill>
                      <a:srgbClr val="F7F9FB"/>
                    </a:solidFill>
                  </a:tcPr>
                </a:tc>
                <a:tc>
                  <a:txBody>
                    <a:bodyPr wrap="square"/>
                    <a:lstStyle/>
                    <a:p>
                      <a:pPr algn="ctr"/>
                      <a:r>
                        <a:rPr sz="750" b="0" i="0">
                          <a:solidFill>
                            <a:srgbClr val="1A1A1A"/>
                          </a:solidFill>
                          <a:latin typeface="Montserrat"/>
                        </a:rPr>
                        <a:t>RSI / MACD as model features</a:t>
                      </a:r>
                    </a:p>
                  </a:txBody>
                  <a:tcPr marL="45720" marR="45720" marT="18288" marB="18288" anchor="ctr">
                    <a:solidFill>
                      <a:srgbClr val="F7F9FB"/>
                    </a:solidFill>
                  </a:tcPr>
                </a:tc>
                <a:tc>
                  <a:txBody>
                    <a:bodyPr wrap="square"/>
                    <a:lstStyle/>
                    <a:p>
                      <a:pPr algn="ctr"/>
                      <a:r>
                        <a:rPr sz="750" b="0" i="0">
                          <a:solidFill>
                            <a:srgbClr val="1A1A1A"/>
                          </a:solidFill>
                          <a:latin typeface="Montserrat"/>
                        </a:rPr>
                        <a:t>Indicators can add predictive value in some markets</a:t>
                      </a:r>
                    </a:p>
                  </a:txBody>
                  <a:tcPr marL="45720" marR="45720" marT="18288" marB="18288" anchor="ctr">
                    <a:solidFill>
                      <a:srgbClr val="F7F9FB"/>
                    </a:solidFill>
                  </a:tcPr>
                </a:tc>
                <a:tc>
                  <a:txBody>
                    <a:bodyPr wrap="square"/>
                    <a:lstStyle/>
                    <a:p>
                      <a:pPr algn="ctr"/>
                      <a:r>
                        <a:rPr sz="750" b="0" i="0">
                          <a:solidFill>
                            <a:srgbClr val="1A1A1A"/>
                          </a:solidFill>
                          <a:latin typeface="Montserrat"/>
                        </a:rPr>
                        <a:t>TESTED AND REJECTED. Both reduced win rate and profit factor on both pairs; kept in code, switched off.</a:t>
                      </a:r>
                    </a:p>
                  </a:txBody>
                  <a:tcPr marL="45720" marR="45720" marT="18288" marB="18288" anchor="ctr">
                    <a:solidFill>
                      <a:srgbClr val="F7F9FB"/>
                    </a:solidFill>
                  </a:tcPr>
                </a:tc>
              </a:tr>
              <a:tr h="237744">
                <a:tc>
                  <a:txBody>
                    <a:bodyPr wrap="square"/>
                    <a:lstStyle/>
                    <a:p>
                      <a:pPr algn="l"/>
                      <a:r>
                        <a:rPr sz="750" b="0" i="0">
                          <a:solidFill>
                            <a:srgbClr val="1A1A1A"/>
                          </a:solidFill>
                          <a:latin typeface="Montserrat"/>
                        </a:rPr>
                        <a:t>3</a:t>
                      </a:r>
                    </a:p>
                  </a:txBody>
                  <a:tcPr marL="45720" marR="45720" marT="18288" marB="18288" anchor="ctr">
                    <a:solidFill>
                      <a:srgbClr val="FFFFFF"/>
                    </a:solidFill>
                  </a:tcPr>
                </a:tc>
                <a:tc>
                  <a:txBody>
                    <a:bodyPr wrap="square"/>
                    <a:lstStyle/>
                    <a:p>
                      <a:pPr algn="ctr"/>
                      <a:r>
                        <a:rPr sz="750" b="0" i="0">
                          <a:solidFill>
                            <a:srgbClr val="1A1A1A"/>
                          </a:solidFill>
                          <a:latin typeface="Montserrat"/>
                        </a:rPr>
                        <a:t>Sirignano &amp; Cont (2019): Universal features of price formation</a:t>
                      </a:r>
                    </a:p>
                  </a:txBody>
                  <a:tcPr marL="45720" marR="45720" marT="18288" marB="18288" anchor="ctr">
                    <a:solidFill>
                      <a:srgbClr val="FFFFFF"/>
                    </a:solidFill>
                  </a:tcPr>
                </a:tc>
                <a:tc>
                  <a:txBody>
                    <a:bodyPr wrap="square"/>
                    <a:lstStyle/>
                    <a:p>
                      <a:pPr algn="ctr"/>
                      <a:r>
                        <a:rPr sz="750" b="0" i="0">
                          <a:solidFill>
                            <a:srgbClr val="1A1A1A"/>
                          </a:solidFill>
                          <a:latin typeface="Montserrat"/>
                        </a:rPr>
                        <a:t>Deep learning on limit-order-book data</a:t>
                      </a:r>
                    </a:p>
                  </a:txBody>
                  <a:tcPr marL="45720" marR="45720" marT="18288" marB="18288" anchor="ctr">
                    <a:solidFill>
                      <a:srgbClr val="FFFFFF"/>
                    </a:solidFill>
                  </a:tcPr>
                </a:tc>
                <a:tc>
                  <a:txBody>
                    <a:bodyPr wrap="square"/>
                    <a:lstStyle/>
                    <a:p>
                      <a:pPr algn="ctr"/>
                      <a:r>
                        <a:rPr sz="750" b="0" i="0">
                          <a:solidFill>
                            <a:srgbClr val="1A1A1A"/>
                          </a:solidFill>
                          <a:latin typeface="Montserrat"/>
                        </a:rPr>
                        <a:t>Order-flow / institutional footprints carry signal</a:t>
                      </a:r>
                    </a:p>
                  </a:txBody>
                  <a:tcPr marL="45720" marR="45720" marT="18288" marB="18288" anchor="ctr">
                    <a:solidFill>
                      <a:srgbClr val="FFFFFF"/>
                    </a:solidFill>
                  </a:tcPr>
                </a:tc>
                <a:tc>
                  <a:txBody>
                    <a:bodyPr wrap="square"/>
                    <a:lstStyle/>
                    <a:p>
                      <a:pPr algn="ctr"/>
                      <a:r>
                        <a:rPr sz="750" b="0" i="0">
                          <a:solidFill>
                            <a:srgbClr val="1A1A1A"/>
                          </a:solidFill>
                          <a:latin typeface="Montserrat"/>
                        </a:rPr>
                        <a:t>Motivated the volume filter and the order-block test (Step F).</a:t>
                      </a:r>
                    </a:p>
                  </a:txBody>
                  <a:tcPr marL="45720" marR="45720" marT="18288" marB="18288"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Literature Review (2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8</a:t>
            </a:r>
          </a:p>
        </p:txBody>
      </p:sp>
      <p:graphicFrame>
        <p:nvGraphicFramePr>
          <p:cNvPr id="5" name="Table 4"/>
          <p:cNvGraphicFramePr>
            <a:graphicFrameLocks noGrp="1"/>
          </p:cNvGraphicFramePr>
          <p:nvPr/>
        </p:nvGraphicFramePr>
        <p:xfrm>
          <a:off x="411480" y="978408"/>
          <a:ext cx="8321040" cy="950976"/>
        </p:xfrm>
        <a:graphic>
          <a:graphicData uri="http://schemas.openxmlformats.org/drawingml/2006/table">
            <a:tbl>
              <a:tblPr firstRow="1" bandRow="1">
                <a:tableStyleId>{5C22544A-7EE6-4342-B048-85BDC9FD1C3A}</a:tableStyleId>
              </a:tblPr>
              <a:tblGrid>
                <a:gridCol w="384048"/>
                <a:gridCol w="2057400"/>
                <a:gridCol w="1600200"/>
                <a:gridCol w="1920240"/>
                <a:gridCol w="2359152"/>
              </a:tblGrid>
              <a:tr h="237744">
                <a:tc>
                  <a:txBody>
                    <a:bodyPr wrap="square"/>
                    <a:lstStyle/>
                    <a:p>
                      <a:pPr algn="l"/>
                      <a:r>
                        <a:rPr sz="850" b="1" i="0">
                          <a:solidFill>
                            <a:srgbClr val="FFFFFF"/>
                          </a:solidFill>
                          <a:latin typeface="Montserrat"/>
                        </a:rPr>
                        <a:t>S/N</a:t>
                      </a:r>
                    </a:p>
                  </a:txBody>
                  <a:tcPr marL="45720" marR="45720" marT="18288" marB="18288" anchor="ctr">
                    <a:solidFill>
                      <a:srgbClr val="1F3A5F"/>
                    </a:solidFill>
                  </a:tcPr>
                </a:tc>
                <a:tc>
                  <a:txBody>
                    <a:bodyPr wrap="square"/>
                    <a:lstStyle/>
                    <a:p>
                      <a:pPr algn="ctr"/>
                      <a:r>
                        <a:rPr sz="850" b="1" i="0">
                          <a:solidFill>
                            <a:srgbClr val="FFFFFF"/>
                          </a:solidFill>
                          <a:latin typeface="Montserrat"/>
                        </a:rPr>
                        <a:t>Author / Title</a:t>
                      </a:r>
                    </a:p>
                  </a:txBody>
                  <a:tcPr marL="45720" marR="45720" marT="18288" marB="18288" anchor="ctr">
                    <a:solidFill>
                      <a:srgbClr val="1F3A5F"/>
                    </a:solidFill>
                  </a:tcPr>
                </a:tc>
                <a:tc>
                  <a:txBody>
                    <a:bodyPr wrap="square"/>
                    <a:lstStyle/>
                    <a:p>
                      <a:pPr algn="ctr"/>
                      <a:r>
                        <a:rPr sz="850" b="1" i="0">
                          <a:solidFill>
                            <a:srgbClr val="FFFFFF"/>
                          </a:solidFill>
                          <a:latin typeface="Montserrat"/>
                        </a:rPr>
                        <a:t>Method</a:t>
                      </a:r>
                    </a:p>
                  </a:txBody>
                  <a:tcPr marL="45720" marR="45720" marT="18288" marB="18288" anchor="ctr">
                    <a:solidFill>
                      <a:srgbClr val="1F3A5F"/>
                    </a:solidFill>
                  </a:tcPr>
                </a:tc>
                <a:tc>
                  <a:txBody>
                    <a:bodyPr wrap="square"/>
                    <a:lstStyle/>
                    <a:p>
                      <a:pPr algn="ctr"/>
                      <a:r>
                        <a:rPr sz="850" b="1" i="0">
                          <a:solidFill>
                            <a:srgbClr val="FFFFFF"/>
                          </a:solidFill>
                          <a:latin typeface="Montserrat"/>
                        </a:rPr>
                        <a:t>Finding</a:t>
                      </a:r>
                    </a:p>
                  </a:txBody>
                  <a:tcPr marL="45720" marR="45720" marT="18288" marB="18288" anchor="ctr">
                    <a:solidFill>
                      <a:srgbClr val="1F3A5F"/>
                    </a:solidFill>
                  </a:tcPr>
                </a:tc>
                <a:tc>
                  <a:txBody>
                    <a:bodyPr wrap="square"/>
                    <a:lstStyle/>
                    <a:p>
                      <a:pPr algn="ctr"/>
                      <a:r>
                        <a:rPr sz="850" b="1" i="0">
                          <a:solidFill>
                            <a:srgbClr val="FFFFFF"/>
                          </a:solidFill>
                          <a:latin typeface="Montserrat"/>
                        </a:rPr>
                        <a:t>Comment (this project)</a:t>
                      </a:r>
                    </a:p>
                  </a:txBody>
                  <a:tcPr marL="45720" marR="45720" marT="18288" marB="18288" anchor="ctr">
                    <a:solidFill>
                      <a:srgbClr val="1F3A5F"/>
                    </a:solidFill>
                  </a:tcPr>
                </a:tc>
              </a:tr>
              <a:tr h="237744">
                <a:tc>
                  <a:txBody>
                    <a:bodyPr wrap="square"/>
                    <a:lstStyle/>
                    <a:p>
                      <a:pPr algn="l"/>
                      <a:r>
                        <a:rPr sz="750" b="0" i="0">
                          <a:solidFill>
                            <a:srgbClr val="1A1A1A"/>
                          </a:solidFill>
                          <a:latin typeface="Montserrat"/>
                        </a:rPr>
                        <a:t>4</a:t>
                      </a:r>
                    </a:p>
                  </a:txBody>
                  <a:tcPr marL="45720" marR="45720" marT="18288" marB="18288" anchor="ctr">
                    <a:solidFill>
                      <a:srgbClr val="FFFFFF"/>
                    </a:solidFill>
                  </a:tcPr>
                </a:tc>
                <a:tc>
                  <a:txBody>
                    <a:bodyPr wrap="square"/>
                    <a:lstStyle/>
                    <a:p>
                      <a:pPr algn="ctr"/>
                      <a:r>
                        <a:rPr sz="750" b="0" i="0">
                          <a:solidFill>
                            <a:srgbClr val="1A1A1A"/>
                          </a:solidFill>
                          <a:latin typeface="Montserrat"/>
                        </a:rPr>
                        <a:t>Hu, Zhao &amp; Khushi (2021); Yildirim et al. (2021): LSTM for FX</a:t>
                      </a:r>
                    </a:p>
                  </a:txBody>
                  <a:tcPr marL="45720" marR="45720" marT="18288" marB="18288" anchor="ctr">
                    <a:solidFill>
                      <a:srgbClr val="FFFFFF"/>
                    </a:solidFill>
                  </a:tcPr>
                </a:tc>
                <a:tc>
                  <a:txBody>
                    <a:bodyPr wrap="square"/>
                    <a:lstStyle/>
                    <a:p>
                      <a:pPr algn="ctr"/>
                      <a:r>
                        <a:rPr sz="750" b="0" i="0">
                          <a:solidFill>
                            <a:srgbClr val="1A1A1A"/>
                          </a:solidFill>
                          <a:latin typeface="Montserrat"/>
                        </a:rPr>
                        <a:t>Deep recurrent networks on price series</a:t>
                      </a:r>
                    </a:p>
                  </a:txBody>
                  <a:tcPr marL="45720" marR="45720" marT="18288" marB="18288" anchor="ctr">
                    <a:solidFill>
                      <a:srgbClr val="FFFFFF"/>
                    </a:solidFill>
                  </a:tcPr>
                </a:tc>
                <a:tc>
                  <a:txBody>
                    <a:bodyPr wrap="square"/>
                    <a:lstStyle/>
                    <a:p>
                      <a:pPr algn="ctr"/>
                      <a:r>
                        <a:rPr sz="750" b="0" i="0">
                          <a:solidFill>
                            <a:srgbClr val="1A1A1A"/>
                          </a:solidFill>
                          <a:latin typeface="Montserrat"/>
                        </a:rPr>
                        <a:t>Report gains for FX direction prediction</a:t>
                      </a:r>
                    </a:p>
                  </a:txBody>
                  <a:tcPr marL="45720" marR="45720" marT="18288" marB="18288" anchor="ctr">
                    <a:solidFill>
                      <a:srgbClr val="FFFFFF"/>
                    </a:solidFill>
                  </a:tcPr>
                </a:tc>
                <a:tc>
                  <a:txBody>
                    <a:bodyPr wrap="square"/>
                    <a:lstStyle/>
                    <a:p>
                      <a:pPr algn="ctr"/>
                      <a:r>
                        <a:rPr sz="750" b="0" i="0">
                          <a:solidFill>
                            <a:srgbClr val="1A1A1A"/>
                          </a:solidFill>
                          <a:latin typeface="Montserrat"/>
                        </a:rPr>
                        <a:t>REVIEWED, NOT ADOPTED: CPU-only hardware, and the opacity conflicts with this project's interpretability goal.</a:t>
                      </a:r>
                    </a:p>
                  </a:txBody>
                  <a:tcPr marL="45720" marR="45720" marT="18288" marB="18288" anchor="ctr">
                    <a:solidFill>
                      <a:srgbClr val="FFFFFF"/>
                    </a:solidFill>
                  </a:tcPr>
                </a:tc>
              </a:tr>
              <a:tr h="237744">
                <a:tc>
                  <a:txBody>
                    <a:bodyPr wrap="square"/>
                    <a:lstStyle/>
                    <a:p>
                      <a:pPr algn="l"/>
                      <a:r>
                        <a:rPr sz="750" b="0" i="0">
                          <a:solidFill>
                            <a:srgbClr val="1A1A1A"/>
                          </a:solidFill>
                          <a:latin typeface="Montserrat"/>
                        </a:rPr>
                        <a:t>5</a:t>
                      </a:r>
                    </a:p>
                  </a:txBody>
                  <a:tcPr marL="45720" marR="45720" marT="18288" marB="18288" anchor="ctr">
                    <a:solidFill>
                      <a:srgbClr val="F7F9FB"/>
                    </a:solidFill>
                  </a:tcPr>
                </a:tc>
                <a:tc>
                  <a:txBody>
                    <a:bodyPr wrap="square"/>
                    <a:lstStyle/>
                    <a:p>
                      <a:pPr algn="ctr"/>
                      <a:r>
                        <a:rPr sz="750" b="0" i="0">
                          <a:solidFill>
                            <a:srgbClr val="1A1A1A"/>
                          </a:solidFill>
                          <a:latin typeface="Montserrat"/>
                        </a:rPr>
                        <a:t>Bailey et al. (2014): The probability of backtest overfitting</a:t>
                      </a:r>
                    </a:p>
                  </a:txBody>
                  <a:tcPr marL="45720" marR="45720" marT="18288" marB="18288" anchor="ctr">
                    <a:solidFill>
                      <a:srgbClr val="F7F9FB"/>
                    </a:solidFill>
                  </a:tcPr>
                </a:tc>
                <a:tc>
                  <a:txBody>
                    <a:bodyPr wrap="square"/>
                    <a:lstStyle/>
                    <a:p>
                      <a:pPr algn="ctr"/>
                      <a:r>
                        <a:rPr sz="750" b="0" i="0">
                          <a:solidFill>
                            <a:srgbClr val="1A1A1A"/>
                          </a:solidFill>
                          <a:latin typeface="Montserrat"/>
                        </a:rPr>
                        <a:t>Statistical critique of backtesting</a:t>
                      </a:r>
                    </a:p>
                  </a:txBody>
                  <a:tcPr marL="45720" marR="45720" marT="18288" marB="18288" anchor="ctr">
                    <a:solidFill>
                      <a:srgbClr val="F7F9FB"/>
                    </a:solidFill>
                  </a:tcPr>
                </a:tc>
                <a:tc>
                  <a:txBody>
                    <a:bodyPr wrap="square"/>
                    <a:lstStyle/>
                    <a:p>
                      <a:pPr algn="ctr"/>
                      <a:r>
                        <a:rPr sz="750" b="0" i="0">
                          <a:solidFill>
                            <a:srgbClr val="1A1A1A"/>
                          </a:solidFill>
                          <a:latin typeface="Montserrat"/>
                        </a:rPr>
                        <a:t>Repeated tuning on one dataset inflates apparent performance</a:t>
                      </a:r>
                    </a:p>
                  </a:txBody>
                  <a:tcPr marL="45720" marR="45720" marT="18288" marB="18288" anchor="ctr">
                    <a:solidFill>
                      <a:srgbClr val="F7F9FB"/>
                    </a:solidFill>
                  </a:tcPr>
                </a:tc>
                <a:tc>
                  <a:txBody>
                    <a:bodyPr wrap="square"/>
                    <a:lstStyle/>
                    <a:p>
                      <a:pPr algn="ctr"/>
                      <a:r>
                        <a:rPr sz="750" b="0" i="0">
                          <a:solidFill>
                            <a:srgbClr val="1A1A1A"/>
                          </a:solidFill>
                          <a:latin typeface="Montserrat"/>
                        </a:rPr>
                        <a:t>ADOPTED AS DISCIPLINE. Chronological split, TimeSeriesSplit CV, and a sealed test set used once.</a:t>
                      </a:r>
                    </a:p>
                  </a:txBody>
                  <a:tcPr marL="45720" marR="45720" marT="18288" marB="18288" anchor="ctr">
                    <a:solidFill>
                      <a:srgbClr val="F7F9FB"/>
                    </a:solidFill>
                  </a:tcPr>
                </a:tc>
              </a:tr>
              <a:tr h="237744">
                <a:tc>
                  <a:txBody>
                    <a:bodyPr wrap="square"/>
                    <a:lstStyle/>
                    <a:p>
                      <a:pPr algn="l"/>
                      <a:r>
                        <a:rPr sz="750" b="0" i="0">
                          <a:solidFill>
                            <a:srgbClr val="1A1A1A"/>
                          </a:solidFill>
                          <a:latin typeface="Montserrat"/>
                        </a:rPr>
                        <a:t>6</a:t>
                      </a:r>
                    </a:p>
                  </a:txBody>
                  <a:tcPr marL="45720" marR="45720" marT="18288" marB="18288" anchor="ctr">
                    <a:solidFill>
                      <a:srgbClr val="FFFFFF"/>
                    </a:solidFill>
                  </a:tcPr>
                </a:tc>
                <a:tc>
                  <a:txBody>
                    <a:bodyPr wrap="square"/>
                    <a:lstStyle/>
                    <a:p>
                      <a:pPr algn="ctr"/>
                      <a:r>
                        <a:rPr sz="750" b="0" i="0">
                          <a:solidFill>
                            <a:srgbClr val="1A1A1A"/>
                          </a:solidFill>
                          <a:latin typeface="Montserrat"/>
                        </a:rPr>
                        <a:t>Barber &amp; Odean (2000): Trading is hazardous to your wealth</a:t>
                      </a:r>
                    </a:p>
                  </a:txBody>
                  <a:tcPr marL="45720" marR="45720" marT="18288" marB="18288" anchor="ctr">
                    <a:solidFill>
                      <a:srgbClr val="FFFFFF"/>
                    </a:solidFill>
                  </a:tcPr>
                </a:tc>
                <a:tc>
                  <a:txBody>
                    <a:bodyPr wrap="square"/>
                    <a:lstStyle/>
                    <a:p>
                      <a:pPr algn="ctr"/>
                      <a:r>
                        <a:rPr sz="750" b="0" i="0">
                          <a:solidFill>
                            <a:srgbClr val="1A1A1A"/>
                          </a:solidFill>
                          <a:latin typeface="Montserrat"/>
                        </a:rPr>
                        <a:t>Study of retail brokerage accounts</a:t>
                      </a:r>
                    </a:p>
                  </a:txBody>
                  <a:tcPr marL="45720" marR="45720" marT="18288" marB="18288" anchor="ctr">
                    <a:solidFill>
                      <a:srgbClr val="FFFFFF"/>
                    </a:solidFill>
                  </a:tcPr>
                </a:tc>
                <a:tc>
                  <a:txBody>
                    <a:bodyPr wrap="square"/>
                    <a:lstStyle/>
                    <a:p>
                      <a:pPr algn="ctr"/>
                      <a:r>
                        <a:rPr sz="750" b="0" i="0">
                          <a:solidFill>
                            <a:srgbClr val="1A1A1A"/>
                          </a:solidFill>
                          <a:latin typeface="Montserrat"/>
                        </a:rPr>
                        <a:t>Frequent retail trading systematically underperforms</a:t>
                      </a:r>
                    </a:p>
                  </a:txBody>
                  <a:tcPr marL="45720" marR="45720" marT="18288" marB="18288" anchor="ctr">
                    <a:solidFill>
                      <a:srgbClr val="FFFFFF"/>
                    </a:solidFill>
                  </a:tcPr>
                </a:tc>
                <a:tc>
                  <a:txBody>
                    <a:bodyPr wrap="square"/>
                    <a:lstStyle/>
                    <a:p>
                      <a:pPr algn="ctr"/>
                      <a:r>
                        <a:rPr sz="750" b="0" i="0">
                          <a:solidFill>
                            <a:srgbClr val="1A1A1A"/>
                          </a:solidFill>
                          <a:latin typeface="Montserrat"/>
                        </a:rPr>
                        <a:t>Motivates the selective AND-gate: the system trades on roughly 1.3% of candles, not continuously.</a:t>
                      </a:r>
                    </a:p>
                  </a:txBody>
                  <a:tcPr marL="45720" marR="45720" marT="18288" marB="18288"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Methodology</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9</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080" b="1" i="0">
                <a:solidFill>
                  <a:srgbClr val="1A1A1A"/>
                </a:solidFill>
                <a:latin typeface="Montserrat"/>
              </a:rPr>
              <a:t>•  Approach:</a:t>
            </a:r>
          </a:p>
          <a:p>
            <a:pPr lvl="1">
              <a:spcAft>
                <a:spcPts val="400"/>
              </a:spcAft>
            </a:pPr>
            <a:r>
              <a:rPr sz="990" b="0" i="0">
                <a:solidFill>
                  <a:srgbClr val="333333"/>
                </a:solidFill>
                <a:latin typeface="Montserrat"/>
              </a:rPr>
              <a:t>–  Experimental and incremental: build one module at a time, measure every change on BOTH currency pairs, and record the result whether it helped or not.</a:t>
            </a:r>
          </a:p>
          <a:p>
            <a:pPr>
              <a:spcAft>
                <a:spcPts val="400"/>
              </a:spcAft>
            </a:pPr>
            <a:r>
              <a:rPr sz="1080" b="1" i="0">
                <a:solidFill>
                  <a:srgbClr val="1A1A1A"/>
                </a:solidFill>
                <a:latin typeface="Montserrat"/>
              </a:rPr>
              <a:t>•  Data:</a:t>
            </a:r>
          </a:p>
          <a:p>
            <a:pPr lvl="1">
              <a:spcAft>
                <a:spcPts val="400"/>
              </a:spcAft>
            </a:pPr>
            <a:r>
              <a:rPr sz="990" b="0" i="0">
                <a:solidFill>
                  <a:srgbClr val="333333"/>
                </a:solidFill>
                <a:latin typeface="Montserrat"/>
              </a:rPr>
              <a:t>–  Hourly EUR/USD and GBP/USD candles from Yahoo Finance. Because spot FX has no central exchange and reports zero volume, volume is taken from the matching CME currency futures (6E=F, 6B=F), the standard proxy for institutional activity.</a:t>
            </a:r>
          </a:p>
          <a:p>
            <a:pPr>
              <a:spcAft>
                <a:spcPts val="400"/>
              </a:spcAft>
            </a:pPr>
            <a:r>
              <a:rPr sz="1080" b="1" i="0">
                <a:solidFill>
                  <a:srgbClr val="1A1A1A"/>
                </a:solidFill>
                <a:latin typeface="Montserrat"/>
              </a:rPr>
              <a:t>•  Model:</a:t>
            </a:r>
          </a:p>
          <a:p>
            <a:pPr lvl="1">
              <a:spcAft>
                <a:spcPts val="400"/>
              </a:spcAft>
            </a:pPr>
            <a:r>
              <a:rPr sz="990" b="0" i="0">
                <a:solidFill>
                  <a:srgbClr val="333333"/>
                </a:solidFill>
                <a:latin typeface="Montserrat"/>
              </a:rPr>
              <a:t>–  Random Forest classifier (scikit-learn), tuned with TimeSeriesSplit cross-validation on the training portion only.</a:t>
            </a:r>
          </a:p>
          <a:p>
            <a:pPr>
              <a:spcAft>
                <a:spcPts val="400"/>
              </a:spcAft>
            </a:pPr>
            <a:r>
              <a:rPr sz="1080" b="1" i="0">
                <a:solidFill>
                  <a:srgbClr val="1A1A1A"/>
                </a:solidFill>
                <a:latin typeface="Montserrat"/>
              </a:rPr>
              <a:t>•  Evaluation:</a:t>
            </a:r>
          </a:p>
          <a:p>
            <a:pPr lvl="1">
              <a:spcAft>
                <a:spcPts val="400"/>
              </a:spcAft>
            </a:pPr>
            <a:r>
              <a:rPr sz="990" b="0" i="0">
                <a:solidFill>
                  <a:srgbClr val="333333"/>
                </a:solidFill>
                <a:latin typeface="Montserrat"/>
              </a:rPr>
              <a:t>–  Event-driven backtest on the held-out 20% of the timeline, with spread and slippage charged on both entry and exit; win rates quoted with Wilson confidence intervals and compared against a no-skill baseline.</a:t>
            </a:r>
          </a:p>
          <a:p>
            <a:pPr>
              <a:spcAft>
                <a:spcPts val="400"/>
              </a:spcAft>
            </a:pPr>
            <a:r>
              <a:rPr sz="1080" b="1" i="0">
                <a:solidFill>
                  <a:srgbClr val="1A1A1A"/>
                </a:solidFill>
                <a:latin typeface="Montserrat"/>
              </a:rPr>
              <a:t>•  Tools:</a:t>
            </a:r>
          </a:p>
          <a:p>
            <a:pPr lvl="1">
              <a:spcAft>
                <a:spcPts val="400"/>
              </a:spcAft>
            </a:pPr>
            <a:r>
              <a:rPr sz="990" b="0" i="0">
                <a:solidFill>
                  <a:srgbClr val="333333"/>
                </a:solidFill>
                <a:latin typeface="Montserrat"/>
              </a:rPr>
              <a:t>–  Python 3.14, scikit-learn, pandas, Streamlit dashboard, Docker; 231 automated tests, including anti-leakage tests for every feature.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Justification</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10</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0" i="0">
                <a:solidFill>
                  <a:srgbClr val="1A1A1A"/>
                </a:solidFill>
                <a:latin typeface="Montserrat"/>
              </a:rPr>
              <a:t>•  Removes emotional and fatigue-driven error from execution, the dominant documented cause of retail losses.</a:t>
            </a:r>
          </a:p>
          <a:p>
            <a:pPr>
              <a:spcAft>
                <a:spcPts val="600"/>
              </a:spcAft>
            </a:pPr>
            <a:r>
              <a:rPr sz="1180" b="0" i="0">
                <a:solidFill>
                  <a:srgbClr val="1A1A1A"/>
                </a:solidFill>
                <a:latin typeface="Montserrat"/>
              </a:rPr>
              <a:t>•  The hybrid AND-gate makes every decision explainable: each trade carries the volume Z-Score that triggered it and the model probability that confirmed it, so no decision is a black box.</a:t>
            </a:r>
          </a:p>
          <a:p>
            <a:pPr>
              <a:spcAft>
                <a:spcPts val="600"/>
              </a:spcAft>
            </a:pPr>
            <a:r>
              <a:rPr sz="1180" b="0" i="0">
                <a:solidFill>
                  <a:srgbClr val="1A1A1A"/>
                </a:solidFill>
                <a:latin typeface="Montserrat"/>
              </a:rPr>
              <a:t>•  Risk management is enforced by the system rather than by the trader's discipline: position size is a fixed fraction of equity, and hard drawdown and daily-loss limits stop trading automatically.</a:t>
            </a:r>
          </a:p>
          <a:p>
            <a:pPr>
              <a:spcAft>
                <a:spcPts val="600"/>
              </a:spcAft>
            </a:pPr>
            <a:r>
              <a:rPr sz="1180" b="0" i="0">
                <a:solidFill>
                  <a:srgbClr val="1A1A1A"/>
                </a:solidFill>
                <a:latin typeface="Montserrat"/>
              </a:rPr>
              <a:t>•  The evaluation method is itself a contribution; it is reproducible, costed, and reports negative results, which is uncommon in this literature.</a:t>
            </a:r>
          </a:p>
          <a:p>
            <a:pPr>
              <a:spcAft>
                <a:spcPts val="600"/>
              </a:spcAft>
            </a:pPr>
            <a:r>
              <a:rPr sz="1180" b="0" i="0">
                <a:solidFill>
                  <a:srgbClr val="1A1A1A"/>
                </a:solidFill>
                <a:latin typeface="Montserrat"/>
              </a:rPr>
              <a:t>•  The architecture separates the analytical engine from the broker, so the same tested engine runs against a simulated broker or a real one with a single configuration change and no code edits.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Scope of the Project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11</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130" b="1" i="0">
                <a:solidFill>
                  <a:srgbClr val="1A1A1A"/>
                </a:solidFill>
                <a:latin typeface="Montserrat"/>
              </a:rPr>
              <a:t>•  In scope:</a:t>
            </a:r>
          </a:p>
          <a:p>
            <a:pPr lvl="1">
              <a:spcAft>
                <a:spcPts val="400"/>
              </a:spcAft>
            </a:pPr>
            <a:r>
              <a:rPr sz="1030" b="0" i="0">
                <a:solidFill>
                  <a:srgbClr val="333333"/>
                </a:solidFill>
                <a:latin typeface="Montserrat"/>
              </a:rPr>
              <a:t>–  Two currency pairs, EUR/USD and GBP/USD, on the 1-hour timeframe.</a:t>
            </a:r>
          </a:p>
          <a:p>
            <a:pPr lvl="1">
              <a:spcAft>
                <a:spcPts val="400"/>
              </a:spcAft>
            </a:pPr>
            <a:r>
              <a:rPr sz="1030" b="0" i="0">
                <a:solidFill>
                  <a:srgbClr val="333333"/>
                </a:solidFill>
                <a:latin typeface="Montserrat"/>
              </a:rPr>
              <a:t>–  A complete pipeline: data handling, feature engineering, labelling, model training, signal generation, risk management, order execution, backtesting and a monitoring dashboard.</a:t>
            </a:r>
          </a:p>
          <a:p>
            <a:pPr lvl="1">
              <a:spcAft>
                <a:spcPts val="400"/>
              </a:spcAft>
            </a:pPr>
            <a:r>
              <a:rPr sz="1030" b="0" i="0">
                <a:solidFill>
                  <a:srgbClr val="333333"/>
                </a:solidFill>
                <a:latin typeface="Montserrat"/>
              </a:rPr>
              <a:t>–  Evaluation by backtesting on held-out data, plus live execution validation on a broker demo account.</a:t>
            </a:r>
          </a:p>
          <a:p>
            <a:pPr>
              <a:spcAft>
                <a:spcPts val="400"/>
              </a:spcAft>
            </a:pPr>
            <a:r>
              <a:rPr sz="1130" b="1" i="0">
                <a:solidFill>
                  <a:srgbClr val="1A1A1A"/>
                </a:solidFill>
                <a:latin typeface="Montserrat"/>
              </a:rPr>
              <a:t>•  Out of scope:</a:t>
            </a:r>
          </a:p>
          <a:p>
            <a:pPr lvl="1">
              <a:spcAft>
                <a:spcPts val="400"/>
              </a:spcAft>
            </a:pPr>
            <a:r>
              <a:rPr sz="1030" b="0" i="0">
                <a:solidFill>
                  <a:srgbClr val="333333"/>
                </a:solidFill>
                <a:latin typeface="Montserrat"/>
              </a:rPr>
              <a:t>–  Trading with real money. The system is restricted to demo accounts, and this is enforced in code, not merely by policy.</a:t>
            </a:r>
          </a:p>
          <a:p>
            <a:pPr lvl="1">
              <a:spcAft>
                <a:spcPts val="400"/>
              </a:spcAft>
            </a:pPr>
            <a:r>
              <a:rPr sz="1030" b="0" i="0">
                <a:solidFill>
                  <a:srgbClr val="333333"/>
                </a:solidFill>
                <a:latin typeface="Montserrat"/>
              </a:rPr>
              <a:t>–  High-frequency or tick-level trading; the system operates on hourly candles.</a:t>
            </a:r>
          </a:p>
          <a:p>
            <a:pPr lvl="1">
              <a:spcAft>
                <a:spcPts val="400"/>
              </a:spcAft>
            </a:pPr>
            <a:r>
              <a:rPr sz="1030" b="0" i="0">
                <a:solidFill>
                  <a:srgbClr val="333333"/>
                </a:solidFill>
                <a:latin typeface="Montserrat"/>
              </a:rPr>
              <a:t>–  Portfolio optimisation across many instruments, and deep-learning models.</a:t>
            </a:r>
          </a:p>
          <a:p>
            <a:pPr>
              <a:spcAft>
                <a:spcPts val="400"/>
              </a:spcAft>
            </a:pPr>
            <a:r>
              <a:rPr sz="1130" b="1" i="0">
                <a:solidFill>
                  <a:srgbClr val="1A1A1A"/>
                </a:solidFill>
                <a:latin typeface="Montserrat"/>
              </a:rPr>
              <a:t>•  Limitation acknowledged:</a:t>
            </a:r>
          </a:p>
          <a:p>
            <a:pPr lvl="1">
              <a:spcAft>
                <a:spcPts val="400"/>
              </a:spcAft>
            </a:pPr>
            <a:r>
              <a:rPr sz="1030" b="0" i="0">
                <a:solidFill>
                  <a:srgbClr val="333333"/>
                </a:solidFill>
                <a:latin typeface="Montserrat"/>
              </a:rPr>
              <a:t>–  Yahoo Finance serves only about 730 days of hourly data, so the study window is approximately two years rather than the five originally planned.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Work Done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12</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180" b="0" i="0">
                <a:solidFill>
                  <a:srgbClr val="1A1A1A"/>
                </a:solidFill>
                <a:latin typeface="Montserrat"/>
              </a:rPr>
              <a:t>The system is fully implemented, tested and evaluated. This section covers:</a:t>
            </a:r>
          </a:p>
        </p:txBody>
      </p:sp>
      <p:sp>
        <p:nvSpPr>
          <p:cNvPr id="6" name="Rectangle 5"/>
          <p:cNvSpPr/>
          <p:nvPr/>
        </p:nvSpPr>
        <p:spPr>
          <a:xfrm>
            <a:off x="411480" y="1344168"/>
            <a:ext cx="2651760" cy="320040"/>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1030" b="1" i="0">
                <a:solidFill>
                  <a:srgbClr val="FFFFFF"/>
                </a:solidFill>
                <a:latin typeface="Montserrat"/>
              </a:rPr>
              <a:t>Design Specification</a:t>
            </a:r>
          </a:p>
        </p:txBody>
      </p:sp>
      <p:sp>
        <p:nvSpPr>
          <p:cNvPr id="7" name="TextBox 6"/>
          <p:cNvSpPr txBox="1"/>
          <p:nvPr/>
        </p:nvSpPr>
        <p:spPr>
          <a:xfrm>
            <a:off x="502920" y="1773936"/>
            <a:ext cx="2514600" cy="2103120"/>
          </a:xfrm>
          <a:prstGeom prst="rect">
            <a:avLst/>
          </a:prstGeom>
          <a:noFill/>
        </p:spPr>
        <p:txBody>
          <a:bodyPr wrap="square">
            <a:spAutoFit/>
          </a:bodyPr>
          <a:lstStyle/>
          <a:p>
            <a:pPr>
              <a:spcAft>
                <a:spcPts val="600"/>
              </a:spcAft>
            </a:pPr>
            <a:r>
              <a:rPr sz="940" b="0" i="0">
                <a:solidFill>
                  <a:srgbClr val="1A1A1A"/>
                </a:solidFill>
                <a:latin typeface="Montserrat"/>
              </a:rPr>
              <a:t>•  Context Diagram</a:t>
            </a:r>
          </a:p>
          <a:p>
            <a:pPr>
              <a:spcAft>
                <a:spcPts val="600"/>
              </a:spcAft>
            </a:pPr>
            <a:r>
              <a:rPr sz="940" b="0" i="0">
                <a:solidFill>
                  <a:srgbClr val="1A1A1A"/>
                </a:solidFill>
                <a:latin typeface="Montserrat"/>
              </a:rPr>
              <a:t>•  System Architecture</a:t>
            </a:r>
          </a:p>
          <a:p>
            <a:pPr>
              <a:spcAft>
                <a:spcPts val="600"/>
              </a:spcAft>
            </a:pPr>
            <a:r>
              <a:rPr sz="940" b="0" i="0">
                <a:solidFill>
                  <a:srgbClr val="1A1A1A"/>
                </a:solidFill>
                <a:latin typeface="Montserrat"/>
              </a:rPr>
              <a:t>•  Block Diagram</a:t>
            </a:r>
          </a:p>
          <a:p>
            <a:pPr>
              <a:spcAft>
                <a:spcPts val="600"/>
              </a:spcAft>
            </a:pPr>
            <a:r>
              <a:rPr sz="940" b="0" i="0">
                <a:solidFill>
                  <a:srgbClr val="1A1A1A"/>
                </a:solidFill>
                <a:latin typeface="Montserrat"/>
              </a:rPr>
              <a:t>•  Use Case Diagram</a:t>
            </a:r>
          </a:p>
          <a:p>
            <a:pPr>
              <a:spcAft>
                <a:spcPts val="600"/>
              </a:spcAft>
            </a:pPr>
            <a:r>
              <a:rPr sz="940" b="0" i="0">
                <a:solidFill>
                  <a:srgbClr val="1A1A1A"/>
                </a:solidFill>
                <a:latin typeface="Montserrat"/>
              </a:rPr>
              <a:t>•  Activity Diagram</a:t>
            </a:r>
          </a:p>
          <a:p>
            <a:pPr>
              <a:spcAft>
                <a:spcPts val="600"/>
              </a:spcAft>
            </a:pPr>
            <a:r>
              <a:rPr sz="940" b="0" i="0">
                <a:solidFill>
                  <a:srgbClr val="1A1A1A"/>
                </a:solidFill>
                <a:latin typeface="Montserrat"/>
              </a:rPr>
              <a:t>•  Class Diagram</a:t>
            </a:r>
          </a:p>
        </p:txBody>
      </p:sp>
      <p:sp>
        <p:nvSpPr>
          <p:cNvPr id="8" name="Rectangle 7"/>
          <p:cNvSpPr/>
          <p:nvPr/>
        </p:nvSpPr>
        <p:spPr>
          <a:xfrm>
            <a:off x="3246120" y="1344168"/>
            <a:ext cx="2651760" cy="320040"/>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1030" b="1" i="0">
                <a:solidFill>
                  <a:srgbClr val="FFFFFF"/>
                </a:solidFill>
                <a:latin typeface="Montserrat"/>
              </a:rPr>
              <a:t>Implementation</a:t>
            </a:r>
          </a:p>
        </p:txBody>
      </p:sp>
      <p:sp>
        <p:nvSpPr>
          <p:cNvPr id="9" name="TextBox 8"/>
          <p:cNvSpPr txBox="1"/>
          <p:nvPr/>
        </p:nvSpPr>
        <p:spPr>
          <a:xfrm>
            <a:off x="3337560" y="1773936"/>
            <a:ext cx="2514600" cy="2103120"/>
          </a:xfrm>
          <a:prstGeom prst="rect">
            <a:avLst/>
          </a:prstGeom>
          <a:noFill/>
        </p:spPr>
        <p:txBody>
          <a:bodyPr wrap="square">
            <a:spAutoFit/>
          </a:bodyPr>
          <a:lstStyle/>
          <a:p>
            <a:pPr>
              <a:spcAft>
                <a:spcPts val="600"/>
              </a:spcAft>
            </a:pPr>
            <a:r>
              <a:rPr sz="940" b="0" i="0">
                <a:solidFill>
                  <a:srgbClr val="1A1A1A"/>
                </a:solidFill>
                <a:latin typeface="Montserrat"/>
              </a:rPr>
              <a:t>•  13 modules, Python 3.14</a:t>
            </a:r>
          </a:p>
          <a:p>
            <a:pPr>
              <a:spcAft>
                <a:spcPts val="600"/>
              </a:spcAft>
            </a:pPr>
            <a:r>
              <a:rPr sz="940" b="0" i="0">
                <a:solidFill>
                  <a:srgbClr val="1A1A1A"/>
                </a:solidFill>
                <a:latin typeface="Montserrat"/>
              </a:rPr>
              <a:t>•  231 automated tests, all passing</a:t>
            </a:r>
          </a:p>
          <a:p>
            <a:pPr>
              <a:spcAft>
                <a:spcPts val="600"/>
              </a:spcAft>
            </a:pPr>
            <a:r>
              <a:rPr sz="940" b="0" i="0">
                <a:solidFill>
                  <a:srgbClr val="1A1A1A"/>
                </a:solidFill>
                <a:latin typeface="Montserrat"/>
              </a:rPr>
              <a:t>•  Streamlit dashboard</a:t>
            </a:r>
          </a:p>
          <a:p>
            <a:pPr>
              <a:spcAft>
                <a:spcPts val="600"/>
              </a:spcAft>
            </a:pPr>
            <a:r>
              <a:rPr sz="940" b="0" i="0">
                <a:solidFill>
                  <a:srgbClr val="1A1A1A"/>
                </a:solidFill>
                <a:latin typeface="Montserrat"/>
              </a:rPr>
              <a:t>•  Docker deployment</a:t>
            </a:r>
          </a:p>
          <a:p>
            <a:pPr>
              <a:spcAft>
                <a:spcPts val="600"/>
              </a:spcAft>
            </a:pPr>
            <a:r>
              <a:rPr sz="940" b="0" i="0">
                <a:solidFill>
                  <a:srgbClr val="1A1A1A"/>
                </a:solidFill>
                <a:latin typeface="Montserrat"/>
              </a:rPr>
              <a:t>•  Live MT5 execution path</a:t>
            </a:r>
          </a:p>
          <a:p>
            <a:pPr>
              <a:spcAft>
                <a:spcPts val="600"/>
              </a:spcAft>
            </a:pPr>
            <a:r>
              <a:rPr sz="940" b="0" i="0">
                <a:solidFill>
                  <a:srgbClr val="1A1A1A"/>
                </a:solidFill>
                <a:latin typeface="Montserrat"/>
              </a:rPr>
              <a:t>•  Demo-only safety guards</a:t>
            </a:r>
          </a:p>
        </p:txBody>
      </p:sp>
      <p:sp>
        <p:nvSpPr>
          <p:cNvPr id="10" name="Rectangle 9"/>
          <p:cNvSpPr/>
          <p:nvPr/>
        </p:nvSpPr>
        <p:spPr>
          <a:xfrm>
            <a:off x="6080760" y="1344168"/>
            <a:ext cx="2651760" cy="320040"/>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1030" b="1" i="0">
                <a:solidFill>
                  <a:srgbClr val="FFFFFF"/>
                </a:solidFill>
                <a:latin typeface="Montserrat"/>
              </a:rPr>
              <a:t>Evaluation</a:t>
            </a:r>
          </a:p>
        </p:txBody>
      </p:sp>
      <p:sp>
        <p:nvSpPr>
          <p:cNvPr id="11" name="TextBox 10"/>
          <p:cNvSpPr txBox="1"/>
          <p:nvPr/>
        </p:nvSpPr>
        <p:spPr>
          <a:xfrm>
            <a:off x="6172200" y="1773936"/>
            <a:ext cx="2514600" cy="2103120"/>
          </a:xfrm>
          <a:prstGeom prst="rect">
            <a:avLst/>
          </a:prstGeom>
          <a:noFill/>
        </p:spPr>
        <p:txBody>
          <a:bodyPr wrap="square">
            <a:spAutoFit/>
          </a:bodyPr>
          <a:lstStyle/>
          <a:p>
            <a:pPr>
              <a:spcAft>
                <a:spcPts val="600"/>
              </a:spcAft>
            </a:pPr>
            <a:r>
              <a:rPr sz="940" b="0" i="0">
                <a:solidFill>
                  <a:srgbClr val="1A1A1A"/>
                </a:solidFill>
                <a:latin typeface="Montserrat"/>
              </a:rPr>
              <a:t>•  Held-out backtest, both pairs</a:t>
            </a:r>
          </a:p>
          <a:p>
            <a:pPr>
              <a:spcAft>
                <a:spcPts val="600"/>
              </a:spcAft>
            </a:pPr>
            <a:r>
              <a:rPr sz="940" b="0" i="0">
                <a:solidFill>
                  <a:srgbClr val="1A1A1A"/>
                </a:solidFill>
                <a:latin typeface="Montserrat"/>
              </a:rPr>
              <a:t>•  Costs charged on every trade</a:t>
            </a:r>
          </a:p>
          <a:p>
            <a:pPr>
              <a:spcAft>
                <a:spcPts val="600"/>
              </a:spcAft>
            </a:pPr>
            <a:r>
              <a:rPr sz="940" b="0" i="0">
                <a:solidFill>
                  <a:srgbClr val="1A1A1A"/>
                </a:solidFill>
                <a:latin typeface="Montserrat"/>
              </a:rPr>
              <a:t>•  Wilson confidence intervals</a:t>
            </a:r>
          </a:p>
          <a:p>
            <a:pPr>
              <a:spcAft>
                <a:spcPts val="600"/>
              </a:spcAft>
            </a:pPr>
            <a:r>
              <a:rPr sz="940" b="0" i="0">
                <a:solidFill>
                  <a:srgbClr val="1A1A1A"/>
                </a:solidFill>
                <a:latin typeface="Montserrat"/>
              </a:rPr>
              <a:t>•  No-skill baseline comparison</a:t>
            </a:r>
          </a:p>
          <a:p>
            <a:pPr>
              <a:spcAft>
                <a:spcPts val="600"/>
              </a:spcAft>
            </a:pPr>
            <a:r>
              <a:rPr sz="940" b="0" i="0">
                <a:solidFill>
                  <a:srgbClr val="1A1A1A"/>
                </a:solidFill>
                <a:latin typeface="Montserrat"/>
              </a:rPr>
              <a:t>•  Six measured negative results</a:t>
            </a:r>
          </a:p>
          <a:p>
            <a:pPr>
              <a:spcAft>
                <a:spcPts val="600"/>
              </a:spcAft>
            </a:pPr>
            <a:r>
              <a:rPr sz="940" b="0" i="0">
                <a:solidFill>
                  <a:srgbClr val="1A1A1A"/>
                </a:solidFill>
                <a:latin typeface="Montserrat"/>
              </a:rPr>
              <a:t>•  Live execution validation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Context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13</a:t>
            </a:r>
          </a:p>
        </p:txBody>
      </p:sp>
      <p:sp>
        <p:nvSpPr>
          <p:cNvPr id="5" name="Rounded Rectangle 4"/>
          <p:cNvSpPr/>
          <p:nvPr/>
        </p:nvSpPr>
        <p:spPr>
          <a:xfrm>
            <a:off x="4224528" y="2240280"/>
            <a:ext cx="1737360" cy="91440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0</a:t>
            </a:r>
          </a:p>
          <a:p>
            <a:pPr algn="ctr"/>
            <a:r>
              <a:rPr sz="850" b="1" i="0">
                <a:solidFill>
                  <a:srgbClr val="1A1A1A"/>
                </a:solidFill>
                <a:latin typeface="Montserrat"/>
              </a:rPr>
              <a:t>Automated Financial</a:t>
            </a:r>
          </a:p>
          <a:p>
            <a:pPr algn="ctr"/>
            <a:r>
              <a:rPr sz="850" b="1" i="0">
                <a:solidFill>
                  <a:srgbClr val="1A1A1A"/>
                </a:solidFill>
                <a:latin typeface="Montserrat"/>
              </a:rPr>
              <a:t>Trading System</a:t>
            </a:r>
          </a:p>
        </p:txBody>
      </p:sp>
      <p:sp>
        <p:nvSpPr>
          <p:cNvPr id="6" name="Rectangle 5"/>
          <p:cNvSpPr/>
          <p:nvPr/>
        </p:nvSpPr>
        <p:spPr>
          <a:xfrm>
            <a:off x="566928" y="118872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Market Data</a:t>
            </a:r>
          </a:p>
          <a:p>
            <a:pPr algn="ctr"/>
            <a:r>
              <a:rPr sz="800" b="0" i="0">
                <a:solidFill>
                  <a:srgbClr val="1A1A1A"/>
                </a:solidFill>
                <a:latin typeface="Montserrat"/>
              </a:rPr>
              <a:t>Provider</a:t>
            </a:r>
          </a:p>
          <a:p>
            <a:pPr algn="ctr"/>
            <a:r>
              <a:rPr sz="800" b="0" i="0">
                <a:solidFill>
                  <a:srgbClr val="1A1A1A"/>
                </a:solidFill>
                <a:latin typeface="Montserrat"/>
              </a:rPr>
              <a:t>(Yahoo Finance / CME)</a:t>
            </a:r>
          </a:p>
        </p:txBody>
      </p:sp>
      <p:sp>
        <p:nvSpPr>
          <p:cNvPr id="7" name="Rectangle 6"/>
          <p:cNvSpPr/>
          <p:nvPr/>
        </p:nvSpPr>
        <p:spPr>
          <a:xfrm>
            <a:off x="566928" y="306324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Trader</a:t>
            </a:r>
          </a:p>
          <a:p>
            <a:pPr algn="ctr"/>
            <a:r>
              <a:rPr sz="800" b="0" i="0">
                <a:solidFill>
                  <a:srgbClr val="1A1A1A"/>
                </a:solidFill>
                <a:latin typeface="Montserrat"/>
              </a:rPr>
              <a:t>(User)</a:t>
            </a:r>
          </a:p>
        </p:txBody>
      </p:sp>
      <p:sp>
        <p:nvSpPr>
          <p:cNvPr id="8" name="Rectangle 7"/>
          <p:cNvSpPr/>
          <p:nvPr/>
        </p:nvSpPr>
        <p:spPr>
          <a:xfrm>
            <a:off x="6903720" y="118872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Broker</a:t>
            </a:r>
          </a:p>
          <a:p>
            <a:pPr algn="ctr"/>
            <a:r>
              <a:rPr sz="800" b="0" i="0">
                <a:solidFill>
                  <a:srgbClr val="1A1A1A"/>
                </a:solidFill>
                <a:latin typeface="Montserrat"/>
              </a:rPr>
              <a:t>(MetaTrader 5)</a:t>
            </a:r>
          </a:p>
        </p:txBody>
      </p:sp>
      <p:sp>
        <p:nvSpPr>
          <p:cNvPr id="9" name="Rectangle 8"/>
          <p:cNvSpPr/>
          <p:nvPr/>
        </p:nvSpPr>
        <p:spPr>
          <a:xfrm>
            <a:off x="6903720" y="306324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Model &amp;</a:t>
            </a:r>
          </a:p>
          <a:p>
            <a:pPr algn="ctr"/>
            <a:r>
              <a:rPr sz="800" b="0" i="0">
                <a:solidFill>
                  <a:srgbClr val="1A1A1A"/>
                </a:solidFill>
                <a:latin typeface="Montserrat"/>
              </a:rPr>
              <a:t>Log Store</a:t>
            </a:r>
          </a:p>
        </p:txBody>
      </p:sp>
      <p:cxnSp>
        <p:nvCxnSpPr>
          <p:cNvPr id="10" name="Connector 9"/>
          <p:cNvCxnSpPr/>
          <p:nvPr/>
        </p:nvCxnSpPr>
        <p:spPr>
          <a:xfrm>
            <a:off x="2258568" y="1517904"/>
            <a:ext cx="1965960" cy="95097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48840" y="178308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OHLCV + volume</a:t>
            </a:r>
          </a:p>
        </p:txBody>
      </p:sp>
      <p:cxnSp>
        <p:nvCxnSpPr>
          <p:cNvPr id="12" name="Connector 11"/>
          <p:cNvCxnSpPr/>
          <p:nvPr/>
        </p:nvCxnSpPr>
        <p:spPr>
          <a:xfrm flipV="1">
            <a:off x="2258568" y="2880360"/>
            <a:ext cx="1965960" cy="429768"/>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48840" y="3364992"/>
            <a:ext cx="1463040" cy="182880"/>
          </a:xfrm>
          <a:prstGeom prst="rect">
            <a:avLst/>
          </a:prstGeom>
          <a:noFill/>
        </p:spPr>
        <p:txBody>
          <a:bodyPr wrap="square" lIns="0" rIns="0" tIns="0" bIns="0" anchor="t">
            <a:spAutoFit/>
          </a:bodyPr>
          <a:lstStyle/>
          <a:p>
            <a:pPr algn="ctr"/>
            <a:r>
              <a:rPr sz="750" b="0" i="0">
                <a:solidFill>
                  <a:srgbClr val="333333"/>
                </a:solidFill>
                <a:latin typeface="Montserrat"/>
              </a:rPr>
              <a:t>configuration / parameters</a:t>
            </a:r>
          </a:p>
        </p:txBody>
      </p:sp>
      <p:cxnSp>
        <p:nvCxnSpPr>
          <p:cNvPr id="14" name="Connector 13"/>
          <p:cNvCxnSpPr/>
          <p:nvPr/>
        </p:nvCxnSpPr>
        <p:spPr>
          <a:xfrm flipV="1">
            <a:off x="5961888" y="1517904"/>
            <a:ext cx="941832" cy="95097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89320" y="178308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order (side, size, SL, TP)</a:t>
            </a:r>
          </a:p>
        </p:txBody>
      </p:sp>
      <p:cxnSp>
        <p:nvCxnSpPr>
          <p:cNvPr id="16" name="Connector 15"/>
          <p:cNvCxnSpPr/>
          <p:nvPr/>
        </p:nvCxnSpPr>
        <p:spPr>
          <a:xfrm flipH="1">
            <a:off x="5961888" y="1737360"/>
            <a:ext cx="941832" cy="9144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53328" y="2212848"/>
            <a:ext cx="1463040" cy="182880"/>
          </a:xfrm>
          <a:prstGeom prst="rect">
            <a:avLst/>
          </a:prstGeom>
          <a:noFill/>
        </p:spPr>
        <p:txBody>
          <a:bodyPr wrap="square" lIns="0" rIns="0" tIns="0" bIns="0" anchor="t">
            <a:spAutoFit/>
          </a:bodyPr>
          <a:lstStyle/>
          <a:p>
            <a:pPr algn="ctr"/>
            <a:r>
              <a:rPr sz="750" b="0" i="0">
                <a:solidFill>
                  <a:srgbClr val="333333"/>
                </a:solidFill>
                <a:latin typeface="Montserrat"/>
              </a:rPr>
              <a:t>fill confirmation</a:t>
            </a:r>
          </a:p>
        </p:txBody>
      </p:sp>
      <p:cxnSp>
        <p:nvCxnSpPr>
          <p:cNvPr id="18" name="Connector 17"/>
          <p:cNvCxnSpPr/>
          <p:nvPr/>
        </p:nvCxnSpPr>
        <p:spPr>
          <a:xfrm>
            <a:off x="5961888" y="2880360"/>
            <a:ext cx="941832" cy="429768"/>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35040" y="338328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trained model, decision log</a:t>
            </a:r>
          </a:p>
        </p:txBody>
      </p:sp>
      <p:cxnSp>
        <p:nvCxnSpPr>
          <p:cNvPr id="20" name="Connector 19"/>
          <p:cNvCxnSpPr/>
          <p:nvPr/>
        </p:nvCxnSpPr>
        <p:spPr>
          <a:xfrm flipH="1">
            <a:off x="2258568" y="2697480"/>
            <a:ext cx="1965960" cy="9144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103120" y="301752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signals, metrics, dashboard</a:t>
            </a:r>
          </a:p>
        </p:txBody>
      </p:sp>
      <p:sp>
        <p:nvSpPr>
          <p:cNvPr id="22" name="TextBox 21"/>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1: Context Diagram (Level-0 Data Flow Diagram) of the Automated Financial Trading System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System Architecture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14</a:t>
            </a:r>
          </a:p>
        </p:txBody>
      </p:sp>
      <p:sp>
        <p:nvSpPr>
          <p:cNvPr id="5" name="Rectangle 4"/>
          <p:cNvSpPr/>
          <p:nvPr/>
        </p:nvSpPr>
        <p:spPr>
          <a:xfrm>
            <a:off x="502920" y="1042416"/>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1</a:t>
            </a:r>
          </a:p>
        </p:txBody>
      </p:sp>
      <p:sp>
        <p:nvSpPr>
          <p:cNvPr id="6" name="Rectangle 5"/>
          <p:cNvSpPr/>
          <p:nvPr/>
        </p:nvSpPr>
        <p:spPr>
          <a:xfrm>
            <a:off x="1325880" y="1042416"/>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7" name="TextBox 6"/>
          <p:cNvSpPr txBox="1"/>
          <p:nvPr/>
        </p:nvSpPr>
        <p:spPr>
          <a:xfrm>
            <a:off x="1417320" y="1088136"/>
            <a:ext cx="1828800" cy="182880"/>
          </a:xfrm>
          <a:prstGeom prst="rect">
            <a:avLst/>
          </a:prstGeom>
          <a:noFill/>
        </p:spPr>
        <p:txBody>
          <a:bodyPr wrap="square" lIns="0" rIns="0" tIns="0" bIns="0" anchor="t">
            <a:spAutoFit/>
          </a:bodyPr>
          <a:lstStyle/>
          <a:p>
            <a:pPr algn="l"/>
            <a:r>
              <a:rPr sz="850" b="1" i="0">
                <a:solidFill>
                  <a:srgbClr val="1F3A5F"/>
                </a:solidFill>
                <a:latin typeface="Montserrat"/>
              </a:rPr>
              <a:t>Presentation Layer</a:t>
            </a:r>
          </a:p>
        </p:txBody>
      </p:sp>
      <p:sp>
        <p:nvSpPr>
          <p:cNvPr id="8" name="Rounded Rectangle 7"/>
          <p:cNvSpPr/>
          <p:nvPr/>
        </p:nvSpPr>
        <p:spPr>
          <a:xfrm>
            <a:off x="1435608" y="1307592"/>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Streamlit Dashboard</a:t>
            </a:r>
          </a:p>
        </p:txBody>
      </p:sp>
      <p:sp>
        <p:nvSpPr>
          <p:cNvPr id="9" name="Rounded Rectangle 8"/>
          <p:cNvSpPr/>
          <p:nvPr/>
        </p:nvSpPr>
        <p:spPr>
          <a:xfrm>
            <a:off x="3474719" y="1307592"/>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Backtest Mode</a:t>
            </a:r>
          </a:p>
        </p:txBody>
      </p:sp>
      <p:sp>
        <p:nvSpPr>
          <p:cNvPr id="10" name="Rounded Rectangle 9"/>
          <p:cNvSpPr/>
          <p:nvPr/>
        </p:nvSpPr>
        <p:spPr>
          <a:xfrm>
            <a:off x="5513830" y="1307592"/>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Live Mode</a:t>
            </a:r>
          </a:p>
        </p:txBody>
      </p:sp>
      <p:sp>
        <p:nvSpPr>
          <p:cNvPr id="11" name="Rectangle 10"/>
          <p:cNvSpPr/>
          <p:nvPr/>
        </p:nvSpPr>
        <p:spPr>
          <a:xfrm>
            <a:off x="502920" y="1847088"/>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2</a:t>
            </a:r>
          </a:p>
        </p:txBody>
      </p:sp>
      <p:sp>
        <p:nvSpPr>
          <p:cNvPr id="12" name="Rectangle 11"/>
          <p:cNvSpPr/>
          <p:nvPr/>
        </p:nvSpPr>
        <p:spPr>
          <a:xfrm>
            <a:off x="1325880" y="1847088"/>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13" name="TextBox 12"/>
          <p:cNvSpPr txBox="1"/>
          <p:nvPr/>
        </p:nvSpPr>
        <p:spPr>
          <a:xfrm>
            <a:off x="1417320" y="1892808"/>
            <a:ext cx="1828800" cy="182880"/>
          </a:xfrm>
          <a:prstGeom prst="rect">
            <a:avLst/>
          </a:prstGeom>
          <a:noFill/>
        </p:spPr>
        <p:txBody>
          <a:bodyPr wrap="square" lIns="0" rIns="0" tIns="0" bIns="0" anchor="t">
            <a:spAutoFit/>
          </a:bodyPr>
          <a:lstStyle/>
          <a:p>
            <a:pPr algn="l"/>
            <a:r>
              <a:rPr sz="850" b="1" i="0">
                <a:solidFill>
                  <a:srgbClr val="1F3A5F"/>
                </a:solidFill>
                <a:latin typeface="Montserrat"/>
              </a:rPr>
              <a:t>Application Layer</a:t>
            </a:r>
          </a:p>
        </p:txBody>
      </p:sp>
      <p:sp>
        <p:nvSpPr>
          <p:cNvPr id="14" name="Rounded Rectangle 13"/>
          <p:cNvSpPr/>
          <p:nvPr/>
        </p:nvSpPr>
        <p:spPr>
          <a:xfrm>
            <a:off x="1435608" y="2112264"/>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Signal Generator</a:t>
            </a:r>
          </a:p>
        </p:txBody>
      </p:sp>
      <p:sp>
        <p:nvSpPr>
          <p:cNvPr id="15" name="Rounded Rectangle 14"/>
          <p:cNvSpPr/>
          <p:nvPr/>
        </p:nvSpPr>
        <p:spPr>
          <a:xfrm>
            <a:off x="3474719" y="2112264"/>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Risk Manager</a:t>
            </a:r>
          </a:p>
        </p:txBody>
      </p:sp>
      <p:sp>
        <p:nvSpPr>
          <p:cNvPr id="16" name="Rounded Rectangle 15"/>
          <p:cNvSpPr/>
          <p:nvPr/>
        </p:nvSpPr>
        <p:spPr>
          <a:xfrm>
            <a:off x="5513830" y="2112264"/>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Backtester</a:t>
            </a:r>
          </a:p>
        </p:txBody>
      </p:sp>
      <p:sp>
        <p:nvSpPr>
          <p:cNvPr id="17" name="Rectangle 16"/>
          <p:cNvSpPr/>
          <p:nvPr/>
        </p:nvSpPr>
        <p:spPr>
          <a:xfrm>
            <a:off x="502920" y="2651760"/>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3</a:t>
            </a:r>
          </a:p>
        </p:txBody>
      </p:sp>
      <p:sp>
        <p:nvSpPr>
          <p:cNvPr id="18" name="Rectangle 17"/>
          <p:cNvSpPr/>
          <p:nvPr/>
        </p:nvSpPr>
        <p:spPr>
          <a:xfrm>
            <a:off x="1325880" y="2651760"/>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19" name="TextBox 18"/>
          <p:cNvSpPr txBox="1"/>
          <p:nvPr/>
        </p:nvSpPr>
        <p:spPr>
          <a:xfrm>
            <a:off x="1417320" y="2697480"/>
            <a:ext cx="1828800" cy="182880"/>
          </a:xfrm>
          <a:prstGeom prst="rect">
            <a:avLst/>
          </a:prstGeom>
          <a:noFill/>
        </p:spPr>
        <p:txBody>
          <a:bodyPr wrap="square" lIns="0" rIns="0" tIns="0" bIns="0" anchor="t">
            <a:spAutoFit/>
          </a:bodyPr>
          <a:lstStyle/>
          <a:p>
            <a:pPr algn="l"/>
            <a:r>
              <a:rPr sz="850" b="1" i="0">
                <a:solidFill>
                  <a:srgbClr val="1F3A5F"/>
                </a:solidFill>
                <a:latin typeface="Montserrat"/>
              </a:rPr>
              <a:t>Domain / Model Layer</a:t>
            </a:r>
          </a:p>
        </p:txBody>
      </p:sp>
      <p:sp>
        <p:nvSpPr>
          <p:cNvPr id="20" name="Rounded Rectangle 19"/>
          <p:cNvSpPr/>
          <p:nvPr/>
        </p:nvSpPr>
        <p:spPr>
          <a:xfrm>
            <a:off x="1435608" y="2916936"/>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Preprocessor</a:t>
            </a:r>
          </a:p>
        </p:txBody>
      </p:sp>
      <p:sp>
        <p:nvSpPr>
          <p:cNvPr id="21" name="Rounded Rectangle 20"/>
          <p:cNvSpPr/>
          <p:nvPr/>
        </p:nvSpPr>
        <p:spPr>
          <a:xfrm>
            <a:off x="3474719" y="2916936"/>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Random Forest Model</a:t>
            </a:r>
          </a:p>
        </p:txBody>
      </p:sp>
      <p:sp>
        <p:nvSpPr>
          <p:cNvPr id="22" name="Rounded Rectangle 21"/>
          <p:cNvSpPr/>
          <p:nvPr/>
        </p:nvSpPr>
        <p:spPr>
          <a:xfrm>
            <a:off x="5513830" y="2916936"/>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Labeller</a:t>
            </a:r>
          </a:p>
        </p:txBody>
      </p:sp>
      <p:sp>
        <p:nvSpPr>
          <p:cNvPr id="23" name="Rectangle 22"/>
          <p:cNvSpPr/>
          <p:nvPr/>
        </p:nvSpPr>
        <p:spPr>
          <a:xfrm>
            <a:off x="502920" y="3456432"/>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4</a:t>
            </a:r>
          </a:p>
        </p:txBody>
      </p:sp>
      <p:sp>
        <p:nvSpPr>
          <p:cNvPr id="24" name="Rectangle 23"/>
          <p:cNvSpPr/>
          <p:nvPr/>
        </p:nvSpPr>
        <p:spPr>
          <a:xfrm>
            <a:off x="1325880" y="3456432"/>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25" name="TextBox 24"/>
          <p:cNvSpPr txBox="1"/>
          <p:nvPr/>
        </p:nvSpPr>
        <p:spPr>
          <a:xfrm>
            <a:off x="1417320" y="3502152"/>
            <a:ext cx="1828800" cy="182880"/>
          </a:xfrm>
          <a:prstGeom prst="rect">
            <a:avLst/>
          </a:prstGeom>
          <a:noFill/>
        </p:spPr>
        <p:txBody>
          <a:bodyPr wrap="square" lIns="0" rIns="0" tIns="0" bIns="0" anchor="t">
            <a:spAutoFit/>
          </a:bodyPr>
          <a:lstStyle/>
          <a:p>
            <a:pPr algn="l"/>
            <a:r>
              <a:rPr sz="850" b="1" i="0">
                <a:solidFill>
                  <a:srgbClr val="1F3A5F"/>
                </a:solidFill>
                <a:latin typeface="Montserrat"/>
              </a:rPr>
              <a:t>Infrastructure Layer</a:t>
            </a:r>
          </a:p>
        </p:txBody>
      </p:sp>
      <p:sp>
        <p:nvSpPr>
          <p:cNvPr id="26" name="Rounded Rectangle 25"/>
          <p:cNvSpPr/>
          <p:nvPr/>
        </p:nvSpPr>
        <p:spPr>
          <a:xfrm>
            <a:off x="1435608" y="3721608"/>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Data Handler</a:t>
            </a:r>
          </a:p>
        </p:txBody>
      </p:sp>
      <p:sp>
        <p:nvSpPr>
          <p:cNvPr id="27" name="Rounded Rectangle 26"/>
          <p:cNvSpPr/>
          <p:nvPr/>
        </p:nvSpPr>
        <p:spPr>
          <a:xfrm>
            <a:off x="3474719" y="3721608"/>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Execution Handler</a:t>
            </a:r>
          </a:p>
        </p:txBody>
      </p:sp>
      <p:sp>
        <p:nvSpPr>
          <p:cNvPr id="28" name="Rounded Rectangle 27"/>
          <p:cNvSpPr/>
          <p:nvPr/>
        </p:nvSpPr>
        <p:spPr>
          <a:xfrm>
            <a:off x="5513830" y="3721608"/>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Persistence</a:t>
            </a:r>
          </a:p>
        </p:txBody>
      </p:sp>
      <p:sp>
        <p:nvSpPr>
          <p:cNvPr id="29" name="Rectangle 28"/>
          <p:cNvSpPr/>
          <p:nvPr/>
        </p:nvSpPr>
        <p:spPr>
          <a:xfrm>
            <a:off x="7973568" y="1042416"/>
            <a:ext cx="658368" cy="3127248"/>
          </a:xfrm>
          <a:prstGeom prst="rect">
            <a:avLst/>
          </a:prstGeom>
          <a:solidFill>
            <a:srgbClr val="D8E2E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C</a:t>
            </a:r>
          </a:p>
          <a:p>
            <a:pPr algn="ctr"/>
            <a:r>
              <a:rPr sz="750" b="0" i="0">
                <a:solidFill>
                  <a:srgbClr val="1A1A1A"/>
                </a:solidFill>
                <a:latin typeface="Montserrat"/>
              </a:rPr>
              <a:t>o</a:t>
            </a:r>
          </a:p>
          <a:p>
            <a:pPr algn="ctr"/>
            <a:r>
              <a:rPr sz="750" b="0" i="0">
                <a:solidFill>
                  <a:srgbClr val="1A1A1A"/>
                </a:solidFill>
                <a:latin typeface="Montserrat"/>
              </a:rPr>
              <a:t>n</a:t>
            </a:r>
          </a:p>
          <a:p>
            <a:pPr algn="ctr"/>
            <a:r>
              <a:rPr sz="750" b="0" i="0">
                <a:solidFill>
                  <a:srgbClr val="1A1A1A"/>
                </a:solidFill>
                <a:latin typeface="Montserrat"/>
              </a:rPr>
              <a:t>f</a:t>
            </a:r>
          </a:p>
          <a:p>
            <a:pPr algn="ctr"/>
            <a:r>
              <a:rPr sz="750" b="0" i="0">
                <a:solidFill>
                  <a:srgbClr val="1A1A1A"/>
                </a:solidFill>
                <a:latin typeface="Montserrat"/>
              </a:rPr>
              <a:t>i</a:t>
            </a:r>
          </a:p>
          <a:p>
            <a:pPr algn="ctr"/>
            <a:r>
              <a:rPr sz="750" b="0" i="0">
                <a:solidFill>
                  <a:srgbClr val="1A1A1A"/>
                </a:solidFill>
                <a:latin typeface="Montserrat"/>
              </a:rPr>
              <a:t>g</a:t>
            </a:r>
          </a:p>
        </p:txBody>
      </p:sp>
      <p:sp>
        <p:nvSpPr>
          <p:cNvPr id="30" name="TextBox 29"/>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2: Four-layer System Architecture. Each layer depends only on the layer beneath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Block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15</a:t>
            </a:r>
          </a:p>
        </p:txBody>
      </p:sp>
      <p:sp>
        <p:nvSpPr>
          <p:cNvPr id="5" name="Rounded Rectangle 4"/>
          <p:cNvSpPr/>
          <p:nvPr/>
        </p:nvSpPr>
        <p:spPr>
          <a:xfrm>
            <a:off x="384048"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Data</a:t>
            </a:r>
          </a:p>
          <a:p>
            <a:pPr algn="ctr"/>
            <a:r>
              <a:rPr sz="850" b="1" i="0">
                <a:solidFill>
                  <a:srgbClr val="1A1A1A"/>
                </a:solidFill>
                <a:latin typeface="Montserrat"/>
              </a:rPr>
              <a:t>Handler</a:t>
            </a:r>
          </a:p>
        </p:txBody>
      </p:sp>
      <p:sp>
        <p:nvSpPr>
          <p:cNvPr id="6" name="Rounded Rectangle 5"/>
          <p:cNvSpPr/>
          <p:nvPr/>
        </p:nvSpPr>
        <p:spPr>
          <a:xfrm>
            <a:off x="1773936"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Pre-</a:t>
            </a:r>
          </a:p>
          <a:p>
            <a:pPr algn="ctr"/>
            <a:r>
              <a:rPr sz="850" b="1" i="0">
                <a:solidFill>
                  <a:srgbClr val="1A1A1A"/>
                </a:solidFill>
                <a:latin typeface="Montserrat"/>
              </a:rPr>
              <a:t>processor</a:t>
            </a:r>
          </a:p>
        </p:txBody>
      </p:sp>
      <p:cxnSp>
        <p:nvCxnSpPr>
          <p:cNvPr id="7" name="Connector 6"/>
          <p:cNvCxnSpPr/>
          <p:nvPr/>
        </p:nvCxnSpPr>
        <p:spPr>
          <a:xfrm>
            <a:off x="1600200" y="1792224"/>
            <a:ext cx="155448"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163824"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Random</a:t>
            </a:r>
          </a:p>
          <a:p>
            <a:pPr algn="ctr"/>
            <a:r>
              <a:rPr sz="850" b="1" i="0">
                <a:solidFill>
                  <a:srgbClr val="1A1A1A"/>
                </a:solidFill>
                <a:latin typeface="Montserrat"/>
              </a:rPr>
              <a:t>Forest</a:t>
            </a:r>
          </a:p>
        </p:txBody>
      </p:sp>
      <p:cxnSp>
        <p:nvCxnSpPr>
          <p:cNvPr id="9" name="Connector 8"/>
          <p:cNvCxnSpPr/>
          <p:nvPr/>
        </p:nvCxnSpPr>
        <p:spPr>
          <a:xfrm>
            <a:off x="2990088" y="1792224"/>
            <a:ext cx="155448"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553712"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Signal</a:t>
            </a:r>
          </a:p>
          <a:p>
            <a:pPr algn="ctr"/>
            <a:r>
              <a:rPr sz="850" b="1" i="0">
                <a:solidFill>
                  <a:srgbClr val="1A1A1A"/>
                </a:solidFill>
                <a:latin typeface="Montserrat"/>
              </a:rPr>
              <a:t>Generator</a:t>
            </a:r>
          </a:p>
        </p:txBody>
      </p:sp>
      <p:cxnSp>
        <p:nvCxnSpPr>
          <p:cNvPr id="11" name="Connector 10"/>
          <p:cNvCxnSpPr/>
          <p:nvPr/>
        </p:nvCxnSpPr>
        <p:spPr>
          <a:xfrm>
            <a:off x="4379976" y="1792224"/>
            <a:ext cx="155448"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943600"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Risk</a:t>
            </a:r>
          </a:p>
          <a:p>
            <a:pPr algn="ctr"/>
            <a:r>
              <a:rPr sz="850" b="1" i="0">
                <a:solidFill>
                  <a:srgbClr val="1A1A1A"/>
                </a:solidFill>
                <a:latin typeface="Montserrat"/>
              </a:rPr>
              <a:t>Manager</a:t>
            </a:r>
          </a:p>
        </p:txBody>
      </p:sp>
      <p:cxnSp>
        <p:nvCxnSpPr>
          <p:cNvPr id="13" name="Connector 12"/>
          <p:cNvCxnSpPr/>
          <p:nvPr/>
        </p:nvCxnSpPr>
        <p:spPr>
          <a:xfrm>
            <a:off x="5769864" y="1792224"/>
            <a:ext cx="155448"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33488"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Execution</a:t>
            </a:r>
          </a:p>
          <a:p>
            <a:pPr algn="ctr"/>
            <a:r>
              <a:rPr sz="850" b="1" i="0">
                <a:solidFill>
                  <a:srgbClr val="1A1A1A"/>
                </a:solidFill>
                <a:latin typeface="Montserrat"/>
              </a:rPr>
              <a:t>Handler</a:t>
            </a:r>
          </a:p>
        </p:txBody>
      </p:sp>
      <p:cxnSp>
        <p:nvCxnSpPr>
          <p:cNvPr id="15" name="Connector 14"/>
          <p:cNvCxnSpPr/>
          <p:nvPr/>
        </p:nvCxnSpPr>
        <p:spPr>
          <a:xfrm>
            <a:off x="7159752" y="1792224"/>
            <a:ext cx="155448"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84048"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fetch,
clean, cache</a:t>
            </a:r>
          </a:p>
        </p:txBody>
      </p:sp>
      <p:sp>
        <p:nvSpPr>
          <p:cNvPr id="17" name="TextBox 16"/>
          <p:cNvSpPr txBox="1"/>
          <p:nvPr/>
        </p:nvSpPr>
        <p:spPr>
          <a:xfrm>
            <a:off x="1773936"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Z-scores,
indicators</a:t>
            </a:r>
          </a:p>
        </p:txBody>
      </p:sp>
      <p:sp>
        <p:nvSpPr>
          <p:cNvPr id="18" name="TextBox 17"/>
          <p:cNvSpPr txBox="1"/>
          <p:nvPr/>
        </p:nvSpPr>
        <p:spPr>
          <a:xfrm>
            <a:off x="3163824"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P(bullish)</a:t>
            </a:r>
          </a:p>
        </p:txBody>
      </p:sp>
      <p:sp>
        <p:nvSpPr>
          <p:cNvPr id="19" name="TextBox 18"/>
          <p:cNvSpPr txBox="1"/>
          <p:nvPr/>
        </p:nvSpPr>
        <p:spPr>
          <a:xfrm>
            <a:off x="4553712"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AND-gate
BUY/SELL/HOLD</a:t>
            </a:r>
          </a:p>
        </p:txBody>
      </p:sp>
      <p:sp>
        <p:nvSpPr>
          <p:cNvPr id="20" name="TextBox 19"/>
          <p:cNvSpPr txBox="1"/>
          <p:nvPr/>
        </p:nvSpPr>
        <p:spPr>
          <a:xfrm>
            <a:off x="5943600"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size, SL/TP,
limits</a:t>
            </a:r>
          </a:p>
        </p:txBody>
      </p:sp>
      <p:sp>
        <p:nvSpPr>
          <p:cNvPr id="21" name="TextBox 20"/>
          <p:cNvSpPr txBox="1"/>
          <p:nvPr/>
        </p:nvSpPr>
        <p:spPr>
          <a:xfrm>
            <a:off x="7333488"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mock | MT5 |
RPC</a:t>
            </a:r>
          </a:p>
        </p:txBody>
      </p:sp>
      <p:sp>
        <p:nvSpPr>
          <p:cNvPr id="22" name="Rectangle 21"/>
          <p:cNvSpPr/>
          <p:nvPr/>
        </p:nvSpPr>
        <p:spPr>
          <a:xfrm>
            <a:off x="384048" y="2971800"/>
            <a:ext cx="3200400" cy="457200"/>
          </a:xfrm>
          <a:prstGeom prst="rect">
            <a:avLst/>
          </a:prstGeom>
          <a:solidFill>
            <a:srgbClr val="FAF6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Triple-Barrier Labeller</a:t>
            </a:r>
          </a:p>
          <a:p>
            <a:pPr algn="ctr"/>
            <a:r>
              <a:rPr sz="800" b="0" i="0">
                <a:solidFill>
                  <a:srgbClr val="1A1A1A"/>
                </a:solidFill>
                <a:latin typeface="Montserrat"/>
              </a:rPr>
              <a:t>(training target)</a:t>
            </a:r>
          </a:p>
        </p:txBody>
      </p:sp>
      <p:cxnSp>
        <p:nvCxnSpPr>
          <p:cNvPr id="23" name="Connector 22"/>
          <p:cNvCxnSpPr/>
          <p:nvPr/>
        </p:nvCxnSpPr>
        <p:spPr>
          <a:xfrm flipV="1">
            <a:off x="1984248" y="2212848"/>
            <a:ext cx="0" cy="758952"/>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212080" y="2971800"/>
            <a:ext cx="3364992" cy="457200"/>
          </a:xfrm>
          <a:prstGeom prst="rect">
            <a:avLst/>
          </a:prstGeom>
          <a:solidFill>
            <a:srgbClr val="FAF6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Backtester:  replays history, charges spread + slippage</a:t>
            </a:r>
          </a:p>
        </p:txBody>
      </p:sp>
      <p:cxnSp>
        <p:nvCxnSpPr>
          <p:cNvPr id="25" name="Connector 24"/>
          <p:cNvCxnSpPr/>
          <p:nvPr/>
        </p:nvCxnSpPr>
        <p:spPr>
          <a:xfrm flipV="1">
            <a:off x="6894576" y="2212848"/>
            <a:ext cx="0" cy="758952"/>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3: Block Diagram of the processing pipeline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Use Case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16</a:t>
            </a:r>
          </a:p>
        </p:txBody>
      </p:sp>
      <p:sp>
        <p:nvSpPr>
          <p:cNvPr id="5" name="Rectangle 4"/>
          <p:cNvSpPr/>
          <p:nvPr/>
        </p:nvSpPr>
        <p:spPr>
          <a:xfrm>
            <a:off x="2148840" y="1024128"/>
            <a:ext cx="4800600" cy="3154680"/>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TextBox 5"/>
          <p:cNvSpPr txBox="1"/>
          <p:nvPr/>
        </p:nvSpPr>
        <p:spPr>
          <a:xfrm>
            <a:off x="2240280" y="1078992"/>
            <a:ext cx="2743200" cy="182880"/>
          </a:xfrm>
          <a:prstGeom prst="rect">
            <a:avLst/>
          </a:prstGeom>
          <a:noFill/>
        </p:spPr>
        <p:txBody>
          <a:bodyPr wrap="square" lIns="0" rIns="0" tIns="0" bIns="0" anchor="t">
            <a:spAutoFit/>
          </a:bodyPr>
          <a:lstStyle/>
          <a:p>
            <a:pPr algn="l"/>
            <a:r>
              <a:rPr sz="850" b="1" i="0">
                <a:solidFill>
                  <a:srgbClr val="8A8A8A"/>
                </a:solidFill>
                <a:latin typeface="Montserrat"/>
              </a:rPr>
              <a:t>Automated Trading System</a:t>
            </a:r>
          </a:p>
        </p:txBody>
      </p:sp>
      <p:sp>
        <p:nvSpPr>
          <p:cNvPr id="7" name="Oval 6"/>
          <p:cNvSpPr/>
          <p:nvPr/>
        </p:nvSpPr>
        <p:spPr>
          <a:xfrm>
            <a:off x="2395728" y="132588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Configure</a:t>
            </a:r>
          </a:p>
          <a:p>
            <a:pPr algn="ctr"/>
            <a:r>
              <a:rPr sz="750" b="0" i="0">
                <a:solidFill>
                  <a:srgbClr val="1A1A1A"/>
                </a:solidFill>
                <a:latin typeface="Montserrat"/>
              </a:rPr>
              <a:t>parameters</a:t>
            </a:r>
          </a:p>
        </p:txBody>
      </p:sp>
      <p:sp>
        <p:nvSpPr>
          <p:cNvPr id="8" name="Oval 7"/>
          <p:cNvSpPr/>
          <p:nvPr/>
        </p:nvSpPr>
        <p:spPr>
          <a:xfrm>
            <a:off x="2395728" y="1874519"/>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0" i="0">
                <a:solidFill>
                  <a:srgbClr val="1A1A1A"/>
                </a:solidFill>
                <a:latin typeface="Montserrat"/>
              </a:rPr>
              <a:t>Run backtest</a:t>
            </a:r>
          </a:p>
        </p:txBody>
      </p:sp>
      <p:sp>
        <p:nvSpPr>
          <p:cNvPr id="9" name="Oval 8"/>
          <p:cNvSpPr/>
          <p:nvPr/>
        </p:nvSpPr>
        <p:spPr>
          <a:xfrm>
            <a:off x="2395728" y="242316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View results</a:t>
            </a:r>
          </a:p>
          <a:p>
            <a:pPr algn="ctr"/>
            <a:r>
              <a:rPr sz="750" b="0" i="0">
                <a:solidFill>
                  <a:srgbClr val="1A1A1A"/>
                </a:solidFill>
                <a:latin typeface="Montserrat"/>
              </a:rPr>
              <a:t>&amp; metrics</a:t>
            </a:r>
          </a:p>
        </p:txBody>
      </p:sp>
      <p:sp>
        <p:nvSpPr>
          <p:cNvPr id="10" name="Oval 9"/>
          <p:cNvSpPr/>
          <p:nvPr/>
        </p:nvSpPr>
        <p:spPr>
          <a:xfrm>
            <a:off x="4663440" y="132588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0" i="0">
                <a:solidFill>
                  <a:srgbClr val="1A1A1A"/>
                </a:solidFill>
                <a:latin typeface="Montserrat"/>
              </a:rPr>
              <a:t>Train model</a:t>
            </a:r>
          </a:p>
        </p:txBody>
      </p:sp>
      <p:sp>
        <p:nvSpPr>
          <p:cNvPr id="11" name="Oval 10"/>
          <p:cNvSpPr/>
          <p:nvPr/>
        </p:nvSpPr>
        <p:spPr>
          <a:xfrm>
            <a:off x="4663440" y="1874519"/>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Generate</a:t>
            </a:r>
          </a:p>
          <a:p>
            <a:pPr algn="ctr"/>
            <a:r>
              <a:rPr sz="750" b="0" i="0">
                <a:solidFill>
                  <a:srgbClr val="1A1A1A"/>
                </a:solidFill>
                <a:latin typeface="Montserrat"/>
              </a:rPr>
              <a:t>signal</a:t>
            </a:r>
          </a:p>
        </p:txBody>
      </p:sp>
      <p:sp>
        <p:nvSpPr>
          <p:cNvPr id="12" name="Oval 11"/>
          <p:cNvSpPr/>
          <p:nvPr/>
        </p:nvSpPr>
        <p:spPr>
          <a:xfrm>
            <a:off x="4663440" y="242316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0" i="0">
                <a:solidFill>
                  <a:srgbClr val="1A1A1A"/>
                </a:solidFill>
                <a:latin typeface="Montserrat"/>
              </a:rPr>
              <a:t>Place order</a:t>
            </a:r>
          </a:p>
        </p:txBody>
      </p:sp>
      <p:sp>
        <p:nvSpPr>
          <p:cNvPr id="13" name="Oval 12"/>
          <p:cNvSpPr/>
          <p:nvPr/>
        </p:nvSpPr>
        <p:spPr>
          <a:xfrm>
            <a:off x="2395728" y="297180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Monitor</a:t>
            </a:r>
          </a:p>
          <a:p>
            <a:pPr algn="ctr"/>
            <a:r>
              <a:rPr sz="750" b="0" i="0">
                <a:solidFill>
                  <a:srgbClr val="1A1A1A"/>
                </a:solidFill>
                <a:latin typeface="Montserrat"/>
              </a:rPr>
              <a:t>positions</a:t>
            </a:r>
          </a:p>
        </p:txBody>
      </p:sp>
      <p:sp>
        <p:nvSpPr>
          <p:cNvPr id="14" name="Oval 13"/>
          <p:cNvSpPr/>
          <p:nvPr/>
        </p:nvSpPr>
        <p:spPr>
          <a:xfrm>
            <a:off x="4663440" y="297180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Enforce risk</a:t>
            </a:r>
          </a:p>
          <a:p>
            <a:pPr algn="ctr"/>
            <a:r>
              <a:rPr sz="750" b="0" i="0">
                <a:solidFill>
                  <a:srgbClr val="1A1A1A"/>
                </a:solidFill>
                <a:latin typeface="Montserrat"/>
              </a:rPr>
              <a:t>limits</a:t>
            </a:r>
          </a:p>
        </p:txBody>
      </p:sp>
      <p:sp>
        <p:nvSpPr>
          <p:cNvPr id="15" name="Oval 14"/>
          <p:cNvSpPr/>
          <p:nvPr/>
        </p:nvSpPr>
        <p:spPr>
          <a:xfrm>
            <a:off x="973836" y="1600200"/>
            <a:ext cx="155448" cy="155448"/>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16" name="Connector 15"/>
          <p:cNvCxnSpPr/>
          <p:nvPr/>
        </p:nvCxnSpPr>
        <p:spPr>
          <a:xfrm>
            <a:off x="1051560" y="1755648"/>
            <a:ext cx="0" cy="237744"/>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05256" y="1828800"/>
            <a:ext cx="292608"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23544" y="199339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51560" y="199339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1480" y="2231136"/>
            <a:ext cx="1280160" cy="182880"/>
          </a:xfrm>
          <a:prstGeom prst="rect">
            <a:avLst/>
          </a:prstGeom>
          <a:noFill/>
        </p:spPr>
        <p:txBody>
          <a:bodyPr wrap="square" lIns="0" rIns="0" tIns="0" bIns="0" anchor="t">
            <a:spAutoFit/>
          </a:bodyPr>
          <a:lstStyle/>
          <a:p>
            <a:pPr algn="ctr"/>
            <a:r>
              <a:rPr sz="750" b="0" i="0">
                <a:solidFill>
                  <a:srgbClr val="1A1A1A"/>
                </a:solidFill>
                <a:latin typeface="Montserrat"/>
              </a:rPr>
              <a:t>Trader</a:t>
            </a:r>
          </a:p>
        </p:txBody>
      </p:sp>
      <p:sp>
        <p:nvSpPr>
          <p:cNvPr id="21" name="Oval 20"/>
          <p:cNvSpPr/>
          <p:nvPr/>
        </p:nvSpPr>
        <p:spPr>
          <a:xfrm>
            <a:off x="7831836" y="1417320"/>
            <a:ext cx="155448" cy="155448"/>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22" name="Connector 21"/>
          <p:cNvCxnSpPr/>
          <p:nvPr/>
        </p:nvCxnSpPr>
        <p:spPr>
          <a:xfrm>
            <a:off x="7909560" y="1572768"/>
            <a:ext cx="0" cy="237744"/>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763256" y="1645920"/>
            <a:ext cx="292608"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781544" y="18105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909560" y="18105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269480" y="2048256"/>
            <a:ext cx="1280160" cy="182880"/>
          </a:xfrm>
          <a:prstGeom prst="rect">
            <a:avLst/>
          </a:prstGeom>
          <a:noFill/>
        </p:spPr>
        <p:txBody>
          <a:bodyPr wrap="square" lIns="0" rIns="0" tIns="0" bIns="0" anchor="t">
            <a:spAutoFit/>
          </a:bodyPr>
          <a:lstStyle/>
          <a:p>
            <a:pPr algn="ctr"/>
            <a:r>
              <a:rPr sz="750" b="0" i="0">
                <a:solidFill>
                  <a:srgbClr val="1A1A1A"/>
                </a:solidFill>
                <a:latin typeface="Montserrat"/>
              </a:rPr>
              <a:t>Broker
(MT5)</a:t>
            </a:r>
          </a:p>
        </p:txBody>
      </p:sp>
      <p:sp>
        <p:nvSpPr>
          <p:cNvPr id="27" name="Oval 26"/>
          <p:cNvSpPr/>
          <p:nvPr/>
        </p:nvSpPr>
        <p:spPr>
          <a:xfrm>
            <a:off x="7831836" y="2788920"/>
            <a:ext cx="155448" cy="155448"/>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28" name="Connector 27"/>
          <p:cNvCxnSpPr/>
          <p:nvPr/>
        </p:nvCxnSpPr>
        <p:spPr>
          <a:xfrm>
            <a:off x="7909560" y="2944368"/>
            <a:ext cx="0" cy="237744"/>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63256" y="3017520"/>
            <a:ext cx="292608"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781544" y="31821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09560" y="31821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269480" y="3419856"/>
            <a:ext cx="1280160" cy="182880"/>
          </a:xfrm>
          <a:prstGeom prst="rect">
            <a:avLst/>
          </a:prstGeom>
          <a:noFill/>
        </p:spPr>
        <p:txBody>
          <a:bodyPr wrap="square" lIns="0" rIns="0" tIns="0" bIns="0" anchor="t">
            <a:spAutoFit/>
          </a:bodyPr>
          <a:lstStyle/>
          <a:p>
            <a:pPr algn="ctr"/>
            <a:r>
              <a:rPr sz="750" b="0" i="0">
                <a:solidFill>
                  <a:srgbClr val="1A1A1A"/>
                </a:solidFill>
                <a:latin typeface="Montserrat"/>
              </a:rPr>
              <a:t>Market Data
Provider</a:t>
            </a:r>
          </a:p>
        </p:txBody>
      </p:sp>
      <p:cxnSp>
        <p:nvCxnSpPr>
          <p:cNvPr id="33" name="Connector 32"/>
          <p:cNvCxnSpPr/>
          <p:nvPr/>
        </p:nvCxnSpPr>
        <p:spPr>
          <a:xfrm flipV="1">
            <a:off x="1234440" y="1554480"/>
            <a:ext cx="1161288" cy="41148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234440" y="1965960"/>
            <a:ext cx="1161288" cy="137159"/>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34440" y="1965960"/>
            <a:ext cx="1161288" cy="68580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34440" y="1965960"/>
            <a:ext cx="1161288" cy="12344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6446520" y="1783080"/>
            <a:ext cx="1280159" cy="86868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4178808" y="1554480"/>
            <a:ext cx="3547871" cy="160020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78808" y="1554480"/>
            <a:ext cx="484632" cy="548639"/>
          </a:xfrm>
          <a:prstGeom prst="line">
            <a:avLst/>
          </a:prstGeom>
          <a:ln w="12700">
            <a:solidFill>
              <a:srgbClr val="1A1A1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3913632" y="1645920"/>
            <a:ext cx="914400" cy="182880"/>
          </a:xfrm>
          <a:prstGeom prst="rect">
            <a:avLst/>
          </a:prstGeom>
          <a:noFill/>
        </p:spPr>
        <p:txBody>
          <a:bodyPr wrap="square" lIns="0" rIns="0" tIns="0" bIns="0" anchor="t">
            <a:spAutoFit/>
          </a:bodyPr>
          <a:lstStyle/>
          <a:p>
            <a:pPr algn="ctr"/>
            <a:r>
              <a:rPr sz="700" b="0" i="0">
                <a:solidFill>
                  <a:srgbClr val="333333"/>
                </a:solidFill>
                <a:latin typeface="Montserrat"/>
              </a:rPr>
              <a:t>«include»</a:t>
            </a:r>
          </a:p>
        </p:txBody>
      </p:sp>
      <p:cxnSp>
        <p:nvCxnSpPr>
          <p:cNvPr id="41" name="Connector 40"/>
          <p:cNvCxnSpPr/>
          <p:nvPr/>
        </p:nvCxnSpPr>
        <p:spPr>
          <a:xfrm>
            <a:off x="5550408" y="2331719"/>
            <a:ext cx="0" cy="91441"/>
          </a:xfrm>
          <a:prstGeom prst="line">
            <a:avLst/>
          </a:prstGeom>
          <a:ln w="12700">
            <a:solidFill>
              <a:srgbClr val="1A1A1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532120" y="2340864"/>
            <a:ext cx="914400" cy="182880"/>
          </a:xfrm>
          <a:prstGeom prst="rect">
            <a:avLst/>
          </a:prstGeom>
          <a:noFill/>
        </p:spPr>
        <p:txBody>
          <a:bodyPr wrap="square" lIns="0" rIns="0" tIns="0" bIns="0" anchor="t">
            <a:spAutoFit/>
          </a:bodyPr>
          <a:lstStyle/>
          <a:p>
            <a:pPr algn="ctr"/>
            <a:r>
              <a:rPr sz="700" b="0" i="0">
                <a:solidFill>
                  <a:srgbClr val="333333"/>
                </a:solidFill>
                <a:latin typeface="Montserrat"/>
              </a:rPr>
              <a:t>«include»</a:t>
            </a:r>
          </a:p>
        </p:txBody>
      </p:sp>
      <p:cxnSp>
        <p:nvCxnSpPr>
          <p:cNvPr id="43" name="Connector 42"/>
          <p:cNvCxnSpPr/>
          <p:nvPr/>
        </p:nvCxnSpPr>
        <p:spPr>
          <a:xfrm flipV="1">
            <a:off x="5120640" y="2880360"/>
            <a:ext cx="0" cy="91440"/>
          </a:xfrm>
          <a:prstGeom prst="line">
            <a:avLst/>
          </a:prstGeom>
          <a:ln w="12700">
            <a:solidFill>
              <a:srgbClr val="1A1A1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977639" y="2816352"/>
            <a:ext cx="914400" cy="182880"/>
          </a:xfrm>
          <a:prstGeom prst="rect">
            <a:avLst/>
          </a:prstGeom>
          <a:noFill/>
        </p:spPr>
        <p:txBody>
          <a:bodyPr wrap="square" lIns="0" rIns="0" tIns="0" bIns="0" anchor="t">
            <a:spAutoFit/>
          </a:bodyPr>
          <a:lstStyle/>
          <a:p>
            <a:pPr algn="ctr"/>
            <a:r>
              <a:rPr sz="700" b="0" i="0">
                <a:solidFill>
                  <a:srgbClr val="333333"/>
                </a:solidFill>
                <a:latin typeface="Montserrat"/>
              </a:rPr>
              <a:t>«extend»</a:t>
            </a:r>
          </a:p>
        </p:txBody>
      </p:sp>
      <p:sp>
        <p:nvSpPr>
          <p:cNvPr id="45" name="TextBox 44"/>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4: Use Case Diagram. Solid lines are associations; dashed arrows carry «include» / «extend» stereotypes.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Activity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17</a:t>
            </a:r>
          </a:p>
        </p:txBody>
      </p:sp>
      <p:sp>
        <p:nvSpPr>
          <p:cNvPr id="5" name="Oval 4"/>
          <p:cNvSpPr/>
          <p:nvPr/>
        </p:nvSpPr>
        <p:spPr>
          <a:xfrm>
            <a:off x="1792223" y="1005840"/>
            <a:ext cx="164592" cy="164592"/>
          </a:xfrm>
          <a:prstGeom prst="ellipse">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Rounded Rectangle 5"/>
          <p:cNvSpPr/>
          <p:nvPr/>
        </p:nvSpPr>
        <p:spPr>
          <a:xfrm>
            <a:off x="685799" y="1261872"/>
            <a:ext cx="237744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Fetch latest closed candle</a:t>
            </a:r>
          </a:p>
        </p:txBody>
      </p:sp>
      <p:sp>
        <p:nvSpPr>
          <p:cNvPr id="7" name="Rounded Rectangle 6"/>
          <p:cNvSpPr/>
          <p:nvPr/>
        </p:nvSpPr>
        <p:spPr>
          <a:xfrm>
            <a:off x="685799" y="1828800"/>
            <a:ext cx="237744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Compute Z-scores &amp; features</a:t>
            </a:r>
          </a:p>
        </p:txBody>
      </p:sp>
      <p:sp>
        <p:nvSpPr>
          <p:cNvPr id="8" name="Rounded Rectangle 7"/>
          <p:cNvSpPr/>
          <p:nvPr/>
        </p:nvSpPr>
        <p:spPr>
          <a:xfrm>
            <a:off x="685799" y="2395728"/>
            <a:ext cx="237744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Predict P(bullish) with Random Forest</a:t>
            </a:r>
          </a:p>
        </p:txBody>
      </p:sp>
      <p:cxnSp>
        <p:nvCxnSpPr>
          <p:cNvPr id="9" name="Connector 8"/>
          <p:cNvCxnSpPr/>
          <p:nvPr/>
        </p:nvCxnSpPr>
        <p:spPr>
          <a:xfrm>
            <a:off x="1874519" y="1170432"/>
            <a:ext cx="0" cy="9144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874519" y="1645920"/>
            <a:ext cx="0" cy="18288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874519" y="2212848"/>
            <a:ext cx="0" cy="18288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307591" y="2962656"/>
            <a:ext cx="1133856" cy="566928"/>
          </a:xfrm>
          <a:prstGeom prst="diamond">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Volume Z</a:t>
            </a:r>
          </a:p>
          <a:p>
            <a:pPr algn="ctr"/>
            <a:r>
              <a:rPr sz="750" b="0" i="0">
                <a:solidFill>
                  <a:srgbClr val="1A1A1A"/>
                </a:solidFill>
                <a:latin typeface="Montserrat"/>
              </a:rPr>
              <a:t>&gt; 1.5 ?</a:t>
            </a:r>
          </a:p>
        </p:txBody>
      </p:sp>
      <p:cxnSp>
        <p:nvCxnSpPr>
          <p:cNvPr id="13" name="Connector 12"/>
          <p:cNvCxnSpPr/>
          <p:nvPr/>
        </p:nvCxnSpPr>
        <p:spPr>
          <a:xfrm>
            <a:off x="1874519" y="2779776"/>
            <a:ext cx="0" cy="18288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4050792" y="2962656"/>
            <a:ext cx="1133856" cy="566928"/>
          </a:xfrm>
          <a:prstGeom prst="diamond">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P(bullish)</a:t>
            </a:r>
          </a:p>
          <a:p>
            <a:pPr algn="ctr"/>
            <a:r>
              <a:rPr sz="750" b="0" i="0">
                <a:solidFill>
                  <a:srgbClr val="1A1A1A"/>
                </a:solidFill>
                <a:latin typeface="Montserrat"/>
              </a:rPr>
              <a:t>&gt; 0.55 ?</a:t>
            </a:r>
          </a:p>
        </p:txBody>
      </p:sp>
      <p:cxnSp>
        <p:nvCxnSpPr>
          <p:cNvPr id="15" name="Connector 14"/>
          <p:cNvCxnSpPr/>
          <p:nvPr/>
        </p:nvCxnSpPr>
        <p:spPr>
          <a:xfrm>
            <a:off x="2441447" y="3246120"/>
            <a:ext cx="1609345"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88920" y="3017520"/>
            <a:ext cx="731520" cy="182880"/>
          </a:xfrm>
          <a:prstGeom prst="rect">
            <a:avLst/>
          </a:prstGeom>
          <a:noFill/>
        </p:spPr>
        <p:txBody>
          <a:bodyPr wrap="square" lIns="0" rIns="0" tIns="0" bIns="0" anchor="t">
            <a:spAutoFit/>
          </a:bodyPr>
          <a:lstStyle/>
          <a:p>
            <a:pPr algn="ctr"/>
            <a:r>
              <a:rPr sz="750" b="0" i="0">
                <a:solidFill>
                  <a:srgbClr val="333333"/>
                </a:solidFill>
                <a:latin typeface="Montserrat"/>
              </a:rPr>
              <a:t>[yes]</a:t>
            </a:r>
          </a:p>
        </p:txBody>
      </p:sp>
      <p:sp>
        <p:nvSpPr>
          <p:cNvPr id="17" name="Rounded Rectangle 16"/>
          <p:cNvSpPr/>
          <p:nvPr/>
        </p:nvSpPr>
        <p:spPr>
          <a:xfrm>
            <a:off x="1097279" y="3977639"/>
            <a:ext cx="1554480" cy="365760"/>
          </a:xfrm>
          <a:prstGeom prst="roundRect">
            <a:avLst/>
          </a:prstGeom>
          <a:solidFill>
            <a:srgbClr val="F6EC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HOLD  (no trade)</a:t>
            </a:r>
          </a:p>
        </p:txBody>
      </p:sp>
      <p:cxnSp>
        <p:nvCxnSpPr>
          <p:cNvPr id="18" name="Connector 17"/>
          <p:cNvCxnSpPr/>
          <p:nvPr/>
        </p:nvCxnSpPr>
        <p:spPr>
          <a:xfrm>
            <a:off x="1874519" y="3529584"/>
            <a:ext cx="0" cy="448055"/>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170432" y="3675887"/>
            <a:ext cx="731520" cy="182880"/>
          </a:xfrm>
          <a:prstGeom prst="rect">
            <a:avLst/>
          </a:prstGeom>
          <a:noFill/>
        </p:spPr>
        <p:txBody>
          <a:bodyPr wrap="square" lIns="0" rIns="0" tIns="0" bIns="0" anchor="t">
            <a:spAutoFit/>
          </a:bodyPr>
          <a:lstStyle/>
          <a:p>
            <a:pPr algn="ctr"/>
            <a:r>
              <a:rPr sz="750" b="0" i="0">
                <a:solidFill>
                  <a:srgbClr val="333333"/>
                </a:solidFill>
                <a:latin typeface="Montserrat"/>
              </a:rPr>
              <a:t>[no]</a:t>
            </a:r>
          </a:p>
        </p:txBody>
      </p:sp>
      <p:cxnSp>
        <p:nvCxnSpPr>
          <p:cNvPr id="20" name="Connector 19"/>
          <p:cNvCxnSpPr/>
          <p:nvPr/>
        </p:nvCxnSpPr>
        <p:spPr>
          <a:xfrm>
            <a:off x="4617720" y="3529584"/>
            <a:ext cx="0" cy="63093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2651759" y="4160520"/>
            <a:ext cx="1965961"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77639" y="3675887"/>
            <a:ext cx="731520" cy="182880"/>
          </a:xfrm>
          <a:prstGeom prst="rect">
            <a:avLst/>
          </a:prstGeom>
          <a:noFill/>
        </p:spPr>
        <p:txBody>
          <a:bodyPr wrap="square" lIns="0" rIns="0" tIns="0" bIns="0" anchor="t">
            <a:spAutoFit/>
          </a:bodyPr>
          <a:lstStyle/>
          <a:p>
            <a:pPr algn="ctr"/>
            <a:r>
              <a:rPr sz="750" b="0" i="0">
                <a:solidFill>
                  <a:srgbClr val="333333"/>
                </a:solidFill>
                <a:latin typeface="Montserrat"/>
              </a:rPr>
              <a:t>[no]</a:t>
            </a:r>
          </a:p>
        </p:txBody>
      </p:sp>
      <p:sp>
        <p:nvSpPr>
          <p:cNvPr id="23" name="Rounded Rectangle 22"/>
          <p:cNvSpPr/>
          <p:nvPr/>
        </p:nvSpPr>
        <p:spPr>
          <a:xfrm>
            <a:off x="6126480" y="2395728"/>
            <a:ext cx="224028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Size position, set SL / TP</a:t>
            </a:r>
          </a:p>
        </p:txBody>
      </p:sp>
      <p:sp>
        <p:nvSpPr>
          <p:cNvPr id="24" name="Rounded Rectangle 23"/>
          <p:cNvSpPr/>
          <p:nvPr/>
        </p:nvSpPr>
        <p:spPr>
          <a:xfrm>
            <a:off x="6126480" y="1783080"/>
            <a:ext cx="224028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Place order via ExecutionHandler</a:t>
            </a:r>
          </a:p>
        </p:txBody>
      </p:sp>
      <p:cxnSp>
        <p:nvCxnSpPr>
          <p:cNvPr id="25" name="Connector 24"/>
          <p:cNvCxnSpPr/>
          <p:nvPr/>
        </p:nvCxnSpPr>
        <p:spPr>
          <a:xfrm flipV="1">
            <a:off x="5184648" y="2779776"/>
            <a:ext cx="2057400" cy="466344"/>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715000" y="3017520"/>
            <a:ext cx="731520" cy="182880"/>
          </a:xfrm>
          <a:prstGeom prst="rect">
            <a:avLst/>
          </a:prstGeom>
          <a:noFill/>
        </p:spPr>
        <p:txBody>
          <a:bodyPr wrap="square" lIns="0" rIns="0" tIns="0" bIns="0" anchor="t">
            <a:spAutoFit/>
          </a:bodyPr>
          <a:lstStyle/>
          <a:p>
            <a:pPr algn="ctr"/>
            <a:r>
              <a:rPr sz="750" b="0" i="0">
                <a:solidFill>
                  <a:srgbClr val="333333"/>
                </a:solidFill>
                <a:latin typeface="Montserrat"/>
              </a:rPr>
              <a:t>[yes]</a:t>
            </a:r>
          </a:p>
        </p:txBody>
      </p:sp>
      <p:cxnSp>
        <p:nvCxnSpPr>
          <p:cNvPr id="27" name="Connector 26"/>
          <p:cNvCxnSpPr/>
          <p:nvPr/>
        </p:nvCxnSpPr>
        <p:spPr>
          <a:xfrm flipV="1">
            <a:off x="7242048" y="2167128"/>
            <a:ext cx="0" cy="2286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Donut 27"/>
          <p:cNvSpPr/>
          <p:nvPr/>
        </p:nvSpPr>
        <p:spPr>
          <a:xfrm>
            <a:off x="7132320" y="1207008"/>
            <a:ext cx="219456" cy="219456"/>
          </a:xfrm>
          <a:prstGeom prst="donu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29" name="Connector 28"/>
          <p:cNvCxnSpPr/>
          <p:nvPr/>
        </p:nvCxnSpPr>
        <p:spPr>
          <a:xfrm flipV="1">
            <a:off x="7242048" y="1426464"/>
            <a:ext cx="0" cy="35661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5: Activity Diagram of one decision cycle (the hybrid AND-gate)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Class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18</a:t>
            </a:r>
          </a:p>
        </p:txBody>
      </p:sp>
      <p:sp>
        <p:nvSpPr>
          <p:cNvPr id="5" name="Rectangle 4"/>
          <p:cNvSpPr/>
          <p:nvPr/>
        </p:nvSpPr>
        <p:spPr>
          <a:xfrm>
            <a:off x="384048" y="987552"/>
            <a:ext cx="1874519"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DataHandler</a:t>
            </a:r>
          </a:p>
        </p:txBody>
      </p:sp>
      <p:sp>
        <p:nvSpPr>
          <p:cNvPr id="6" name="Rectangle 5"/>
          <p:cNvSpPr/>
          <p:nvPr/>
        </p:nvSpPr>
        <p:spPr>
          <a:xfrm>
            <a:off x="384048" y="1225296"/>
            <a:ext cx="1874519"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cache_dir: Path</a:t>
            </a:r>
          </a:p>
        </p:txBody>
      </p:sp>
      <p:sp>
        <p:nvSpPr>
          <p:cNvPr id="7" name="Rectangle 6"/>
          <p:cNvSpPr/>
          <p:nvPr/>
        </p:nvSpPr>
        <p:spPr>
          <a:xfrm>
            <a:off x="384048" y="1380744"/>
            <a:ext cx="1874519"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get_data(pair, tf)</a:t>
            </a:r>
          </a:p>
          <a:p>
            <a:pPr algn="l"/>
            <a:r>
              <a:rPr sz="700" b="0" i="0">
                <a:solidFill>
                  <a:srgbClr val="1A1A1A"/>
                </a:solidFill>
                <a:latin typeface="Montserrat"/>
              </a:rPr>
              <a:t>+ get_all()</a:t>
            </a:r>
          </a:p>
        </p:txBody>
      </p:sp>
      <p:sp>
        <p:nvSpPr>
          <p:cNvPr id="8" name="Rectangle 7"/>
          <p:cNvSpPr/>
          <p:nvPr/>
        </p:nvSpPr>
        <p:spPr>
          <a:xfrm>
            <a:off x="2487168" y="987552"/>
            <a:ext cx="201168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Preprocessor</a:t>
            </a:r>
          </a:p>
        </p:txBody>
      </p:sp>
      <p:sp>
        <p:nvSpPr>
          <p:cNvPr id="9" name="Rectangle 8"/>
          <p:cNvSpPr/>
          <p:nvPr/>
        </p:nvSpPr>
        <p:spPr>
          <a:xfrm>
            <a:off x="2487168" y="1225296"/>
            <a:ext cx="2011680"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zscore_window: int</a:t>
            </a:r>
          </a:p>
          <a:p>
            <a:pPr algn="l"/>
            <a:r>
              <a:rPr sz="700" b="0" i="0">
                <a:solidFill>
                  <a:srgbClr val="1A1A1A"/>
                </a:solidFill>
                <a:latin typeface="Montserrat"/>
              </a:rPr>
              <a:t>- label_method: str</a:t>
            </a:r>
          </a:p>
        </p:txBody>
      </p:sp>
      <p:sp>
        <p:nvSpPr>
          <p:cNvPr id="10" name="Rectangle 9"/>
          <p:cNvSpPr/>
          <p:nvPr/>
        </p:nvSpPr>
        <p:spPr>
          <a:xfrm>
            <a:off x="2487168" y="1536192"/>
            <a:ext cx="2011680" cy="466344"/>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transform(df)</a:t>
            </a:r>
          </a:p>
          <a:p>
            <a:pPr algn="l"/>
            <a:r>
              <a:rPr sz="700" b="0" i="0">
                <a:solidFill>
                  <a:srgbClr val="1A1A1A"/>
                </a:solidFill>
                <a:latin typeface="Montserrat"/>
              </a:rPr>
              <a:t>+ add_zscores(df)</a:t>
            </a:r>
          </a:p>
          <a:p>
            <a:pPr algn="l"/>
            <a:r>
              <a:rPr sz="700" b="0" i="0">
                <a:solidFill>
                  <a:srgbClr val="1A1A1A"/>
                </a:solidFill>
                <a:latin typeface="Montserrat"/>
              </a:rPr>
              <a:t>+ chronological_split()</a:t>
            </a:r>
          </a:p>
        </p:txBody>
      </p:sp>
      <p:sp>
        <p:nvSpPr>
          <p:cNvPr id="11" name="Rectangle 10"/>
          <p:cNvSpPr/>
          <p:nvPr/>
        </p:nvSpPr>
        <p:spPr>
          <a:xfrm>
            <a:off x="4727448" y="987552"/>
            <a:ext cx="1874519"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MLModel</a:t>
            </a:r>
          </a:p>
        </p:txBody>
      </p:sp>
      <p:sp>
        <p:nvSpPr>
          <p:cNvPr id="12" name="Rectangle 11"/>
          <p:cNvSpPr/>
          <p:nvPr/>
        </p:nvSpPr>
        <p:spPr>
          <a:xfrm>
            <a:off x="4727448" y="1225296"/>
            <a:ext cx="1874519"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model: RandomForest</a:t>
            </a:r>
          </a:p>
        </p:txBody>
      </p:sp>
      <p:sp>
        <p:nvSpPr>
          <p:cNvPr id="13" name="Rectangle 12"/>
          <p:cNvSpPr/>
          <p:nvPr/>
        </p:nvSpPr>
        <p:spPr>
          <a:xfrm>
            <a:off x="4727448" y="1380744"/>
            <a:ext cx="1874519" cy="466344"/>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tune(X, y)</a:t>
            </a:r>
          </a:p>
          <a:p>
            <a:pPr algn="l"/>
            <a:r>
              <a:rPr sz="700" b="0" i="0">
                <a:solidFill>
                  <a:srgbClr val="1A1A1A"/>
                </a:solidFill>
                <a:latin typeface="Montserrat"/>
              </a:rPr>
              <a:t>+ predict_proba(X)</a:t>
            </a:r>
          </a:p>
          <a:p>
            <a:pPr algn="l"/>
            <a:r>
              <a:rPr sz="700" b="0" i="0">
                <a:solidFill>
                  <a:srgbClr val="1A1A1A"/>
                </a:solidFill>
                <a:latin typeface="Montserrat"/>
              </a:rPr>
              <a:t>+ save() / load()</a:t>
            </a:r>
          </a:p>
        </p:txBody>
      </p:sp>
      <p:sp>
        <p:nvSpPr>
          <p:cNvPr id="14" name="Rectangle 13"/>
          <p:cNvSpPr/>
          <p:nvPr/>
        </p:nvSpPr>
        <p:spPr>
          <a:xfrm>
            <a:off x="6830568" y="987552"/>
            <a:ext cx="192024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SignalGenerator</a:t>
            </a:r>
          </a:p>
        </p:txBody>
      </p:sp>
      <p:sp>
        <p:nvSpPr>
          <p:cNvPr id="15" name="Rectangle 14"/>
          <p:cNvSpPr/>
          <p:nvPr/>
        </p:nvSpPr>
        <p:spPr>
          <a:xfrm>
            <a:off x="6830568" y="1225296"/>
            <a:ext cx="1920240"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volume_threshold</a:t>
            </a:r>
          </a:p>
          <a:p>
            <a:pPr algn="l"/>
            <a:r>
              <a:rPr sz="700" b="0" i="0">
                <a:solidFill>
                  <a:srgbClr val="1A1A1A"/>
                </a:solidFill>
                <a:latin typeface="Montserrat"/>
              </a:rPr>
              <a:t>- confidence_threshold</a:t>
            </a:r>
          </a:p>
        </p:txBody>
      </p:sp>
      <p:sp>
        <p:nvSpPr>
          <p:cNvPr id="16" name="Rectangle 15"/>
          <p:cNvSpPr/>
          <p:nvPr/>
        </p:nvSpPr>
        <p:spPr>
          <a:xfrm>
            <a:off x="6830568" y="1536192"/>
            <a:ext cx="1920240"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decide(p, z) : Signal</a:t>
            </a:r>
          </a:p>
        </p:txBody>
      </p:sp>
      <p:sp>
        <p:nvSpPr>
          <p:cNvPr id="17" name="Rectangle 16"/>
          <p:cNvSpPr/>
          <p:nvPr/>
        </p:nvSpPr>
        <p:spPr>
          <a:xfrm>
            <a:off x="384048" y="2359152"/>
            <a:ext cx="1874519"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RiskManager</a:t>
            </a:r>
          </a:p>
        </p:txBody>
      </p:sp>
      <p:sp>
        <p:nvSpPr>
          <p:cNvPr id="18" name="Rectangle 17"/>
          <p:cNvSpPr/>
          <p:nvPr/>
        </p:nvSpPr>
        <p:spPr>
          <a:xfrm>
            <a:off x="384048" y="2596896"/>
            <a:ext cx="1874519"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equity: float</a:t>
            </a:r>
          </a:p>
          <a:p>
            <a:pPr algn="l"/>
            <a:r>
              <a:rPr sz="700" b="0" i="0">
                <a:solidFill>
                  <a:srgbClr val="1A1A1A"/>
                </a:solidFill>
                <a:latin typeface="Montserrat"/>
              </a:rPr>
              <a:t>- risk_fraction: float</a:t>
            </a:r>
          </a:p>
        </p:txBody>
      </p:sp>
      <p:sp>
        <p:nvSpPr>
          <p:cNvPr id="19" name="Rectangle 18"/>
          <p:cNvSpPr/>
          <p:nvPr/>
        </p:nvSpPr>
        <p:spPr>
          <a:xfrm>
            <a:off x="384048" y="2907792"/>
            <a:ext cx="1874519"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size_position(...)</a:t>
            </a:r>
          </a:p>
          <a:p>
            <a:pPr algn="l"/>
            <a:r>
              <a:rPr sz="700" b="0" i="0">
                <a:solidFill>
                  <a:srgbClr val="1A1A1A"/>
                </a:solidFill>
                <a:latin typeface="Montserrat"/>
              </a:rPr>
              <a:t>+ can_trade()</a:t>
            </a:r>
          </a:p>
        </p:txBody>
      </p:sp>
      <p:sp>
        <p:nvSpPr>
          <p:cNvPr id="20" name="Rectangle 19"/>
          <p:cNvSpPr/>
          <p:nvPr/>
        </p:nvSpPr>
        <p:spPr>
          <a:xfrm>
            <a:off x="2487168" y="2359152"/>
            <a:ext cx="201168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Backtester</a:t>
            </a:r>
          </a:p>
        </p:txBody>
      </p:sp>
      <p:sp>
        <p:nvSpPr>
          <p:cNvPr id="21" name="Rectangle 20"/>
          <p:cNvSpPr/>
          <p:nvPr/>
        </p:nvSpPr>
        <p:spPr>
          <a:xfrm>
            <a:off x="2487168" y="2596896"/>
            <a:ext cx="2011680"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symbol: str</a:t>
            </a:r>
          </a:p>
        </p:txBody>
      </p:sp>
      <p:sp>
        <p:nvSpPr>
          <p:cNvPr id="22" name="Rectangle 21"/>
          <p:cNvSpPr/>
          <p:nvPr/>
        </p:nvSpPr>
        <p:spPr>
          <a:xfrm>
            <a:off x="2487168" y="2752344"/>
            <a:ext cx="2011680"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run(df, probs)</a:t>
            </a:r>
          </a:p>
          <a:p>
            <a:pPr algn="l"/>
            <a:r>
              <a:rPr sz="700" b="0" i="0">
                <a:solidFill>
                  <a:srgbClr val="1A1A1A"/>
                </a:solidFill>
                <a:latin typeface="Montserrat"/>
              </a:rPr>
              <a:t>+ metrics()</a:t>
            </a:r>
          </a:p>
        </p:txBody>
      </p:sp>
      <p:sp>
        <p:nvSpPr>
          <p:cNvPr id="23" name="Rectangle 22"/>
          <p:cNvSpPr/>
          <p:nvPr/>
        </p:nvSpPr>
        <p:spPr>
          <a:xfrm>
            <a:off x="5120640" y="2359152"/>
            <a:ext cx="224028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1">
                <a:solidFill>
                  <a:srgbClr val="1A1A1A"/>
                </a:solidFill>
                <a:latin typeface="Montserrat"/>
              </a:rPr>
              <a:t>«abstract»  ExecutionHandler</a:t>
            </a:r>
          </a:p>
        </p:txBody>
      </p:sp>
      <p:sp>
        <p:nvSpPr>
          <p:cNvPr id="24" name="Rectangle 23"/>
          <p:cNvSpPr/>
          <p:nvPr/>
        </p:nvSpPr>
        <p:spPr>
          <a:xfrm>
            <a:off x="5120640" y="2596896"/>
            <a:ext cx="2240280"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a:t>
            </a:r>
          </a:p>
        </p:txBody>
      </p:sp>
      <p:sp>
        <p:nvSpPr>
          <p:cNvPr id="25" name="Rectangle 24"/>
          <p:cNvSpPr/>
          <p:nvPr/>
        </p:nvSpPr>
        <p:spPr>
          <a:xfrm>
            <a:off x="5120640" y="2752344"/>
            <a:ext cx="2240280" cy="62179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connect()</a:t>
            </a:r>
          </a:p>
          <a:p>
            <a:pPr algn="l"/>
            <a:r>
              <a:rPr sz="700" b="0" i="0">
                <a:solidFill>
                  <a:srgbClr val="1A1A1A"/>
                </a:solidFill>
                <a:latin typeface="Montserrat"/>
              </a:rPr>
              <a:t>+ place_order(...)</a:t>
            </a:r>
          </a:p>
          <a:p>
            <a:pPr algn="l"/>
            <a:r>
              <a:rPr sz="700" b="0" i="0">
                <a:solidFill>
                  <a:srgbClr val="1A1A1A"/>
                </a:solidFill>
                <a:latin typeface="Montserrat"/>
              </a:rPr>
              <a:t>+ get_open_positions()</a:t>
            </a:r>
          </a:p>
          <a:p>
            <a:pPr algn="l"/>
            <a:r>
              <a:rPr sz="700" b="0" i="0">
                <a:solidFill>
                  <a:srgbClr val="1A1A1A"/>
                </a:solidFill>
                <a:latin typeface="Montserrat"/>
              </a:rPr>
              <a:t>+ close_position(ticket)</a:t>
            </a:r>
          </a:p>
        </p:txBody>
      </p:sp>
      <p:sp>
        <p:nvSpPr>
          <p:cNvPr id="26" name="Rectangle 25"/>
          <p:cNvSpPr/>
          <p:nvPr/>
        </p:nvSpPr>
        <p:spPr>
          <a:xfrm>
            <a:off x="3913632" y="4041648"/>
            <a:ext cx="1481328" cy="42062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MockExecution</a:t>
            </a:r>
          </a:p>
          <a:p>
            <a:pPr algn="ctr"/>
            <a:r>
              <a:rPr sz="750" b="0" i="0">
                <a:solidFill>
                  <a:srgbClr val="1A1A1A"/>
                </a:solidFill>
                <a:latin typeface="Montserrat"/>
              </a:rPr>
              <a:t>Handler</a:t>
            </a:r>
          </a:p>
        </p:txBody>
      </p:sp>
      <p:cxnSp>
        <p:nvCxnSpPr>
          <p:cNvPr id="27" name="Connector 26"/>
          <p:cNvCxnSpPr/>
          <p:nvPr/>
        </p:nvCxnSpPr>
        <p:spPr>
          <a:xfrm flipV="1">
            <a:off x="4654296" y="3493008"/>
            <a:ext cx="1586484" cy="5486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28" name="Isosceles Triangle 27"/>
          <p:cNvSpPr/>
          <p:nvPr/>
        </p:nvSpPr>
        <p:spPr>
          <a:xfrm>
            <a:off x="6167628" y="3374136"/>
            <a:ext cx="146304" cy="118872"/>
          </a:xfrm>
          <a:prstGeom prst="triangl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29" name="Rectangle 28"/>
          <p:cNvSpPr/>
          <p:nvPr/>
        </p:nvSpPr>
        <p:spPr>
          <a:xfrm>
            <a:off x="5532120" y="4041648"/>
            <a:ext cx="1481328" cy="42062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MT5Execution</a:t>
            </a:r>
          </a:p>
          <a:p>
            <a:pPr algn="ctr"/>
            <a:r>
              <a:rPr sz="750" b="0" i="0">
                <a:solidFill>
                  <a:srgbClr val="1A1A1A"/>
                </a:solidFill>
                <a:latin typeface="Montserrat"/>
              </a:rPr>
              <a:t>Handler</a:t>
            </a:r>
          </a:p>
        </p:txBody>
      </p:sp>
      <p:cxnSp>
        <p:nvCxnSpPr>
          <p:cNvPr id="30" name="Connector 29"/>
          <p:cNvCxnSpPr/>
          <p:nvPr/>
        </p:nvCxnSpPr>
        <p:spPr>
          <a:xfrm flipH="1" flipV="1">
            <a:off x="6240780" y="3493008"/>
            <a:ext cx="32004" cy="5486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1" name="Isosceles Triangle 30"/>
          <p:cNvSpPr/>
          <p:nvPr/>
        </p:nvSpPr>
        <p:spPr>
          <a:xfrm>
            <a:off x="6167628" y="3374136"/>
            <a:ext cx="146304" cy="118872"/>
          </a:xfrm>
          <a:prstGeom prst="triangl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32" name="Rectangle 31"/>
          <p:cNvSpPr/>
          <p:nvPr/>
        </p:nvSpPr>
        <p:spPr>
          <a:xfrm>
            <a:off x="7150608" y="4041648"/>
            <a:ext cx="1481328" cy="42062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RemoteMT5</a:t>
            </a:r>
          </a:p>
          <a:p>
            <a:pPr algn="ctr"/>
            <a:r>
              <a:rPr sz="750" b="0" i="0">
                <a:solidFill>
                  <a:srgbClr val="1A1A1A"/>
                </a:solidFill>
                <a:latin typeface="Montserrat"/>
              </a:rPr>
              <a:t>ExecutionHandler</a:t>
            </a:r>
          </a:p>
        </p:txBody>
      </p:sp>
      <p:cxnSp>
        <p:nvCxnSpPr>
          <p:cNvPr id="33" name="Connector 32"/>
          <p:cNvCxnSpPr/>
          <p:nvPr/>
        </p:nvCxnSpPr>
        <p:spPr>
          <a:xfrm flipH="1" flipV="1">
            <a:off x="6240780" y="3493008"/>
            <a:ext cx="1650492" cy="5486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4" name="Isosceles Triangle 33"/>
          <p:cNvSpPr/>
          <p:nvPr/>
        </p:nvSpPr>
        <p:spPr>
          <a:xfrm>
            <a:off x="6167628" y="3374136"/>
            <a:ext cx="146304" cy="118872"/>
          </a:xfrm>
          <a:prstGeom prst="triangl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35" name="Connector 34"/>
          <p:cNvCxnSpPr/>
          <p:nvPr/>
        </p:nvCxnSpPr>
        <p:spPr>
          <a:xfrm>
            <a:off x="2258568" y="1325880"/>
            <a:ext cx="2286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98848" y="1325880"/>
            <a:ext cx="2286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1968" y="1325880"/>
            <a:ext cx="2286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74720" y="1993392"/>
            <a:ext cx="0" cy="36576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6: Class Diagram. The engine depends only on the abstract ExecutionHandler, never on a concrete 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How a Trade Is Actually Decided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19</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130" b="0" i="0">
                <a:solidFill>
                  <a:srgbClr val="1A1A1A"/>
                </a:solidFill>
                <a:latin typeface="Montserrat"/>
              </a:rPr>
              <a:t>A worked example from a real run (EUR/USD, 1-hour candle):</a:t>
            </a:r>
          </a:p>
        </p:txBody>
      </p:sp>
      <p:graphicFrame>
        <p:nvGraphicFramePr>
          <p:cNvPr id="6" name="Table 5"/>
          <p:cNvGraphicFramePr>
            <a:graphicFrameLocks noGrp="1"/>
          </p:cNvGraphicFramePr>
          <p:nvPr/>
        </p:nvGraphicFramePr>
        <p:xfrm>
          <a:off x="411480" y="1298448"/>
          <a:ext cx="8321040" cy="950976"/>
        </p:xfrm>
        <a:graphic>
          <a:graphicData uri="http://schemas.openxmlformats.org/drawingml/2006/table">
            <a:tbl>
              <a:tblPr firstRow="1" bandRow="1">
                <a:tableStyleId>{5C22544A-7EE6-4342-B048-85BDC9FD1C3A}</a:tableStyleId>
              </a:tblPr>
              <a:tblGrid>
                <a:gridCol w="3017520"/>
                <a:gridCol w="1737360"/>
                <a:gridCol w="1737360"/>
                <a:gridCol w="1828800"/>
              </a:tblGrid>
              <a:tr h="237744">
                <a:tc>
                  <a:txBody>
                    <a:bodyPr wrap="square"/>
                    <a:lstStyle/>
                    <a:p>
                      <a:pPr algn="l"/>
                      <a:r>
                        <a:rPr sz="850" b="1" i="0">
                          <a:solidFill>
                            <a:srgbClr val="FFFFFF"/>
                          </a:solidFill>
                          <a:latin typeface="Montserrat"/>
                        </a:rPr>
                        <a:t>Check</a:t>
                      </a:r>
                    </a:p>
                  </a:txBody>
                  <a:tcPr marL="45720" marR="45720" marT="18288" marB="18288" anchor="ctr">
                    <a:solidFill>
                      <a:srgbClr val="1F3A5F"/>
                    </a:solidFill>
                  </a:tcPr>
                </a:tc>
                <a:tc>
                  <a:txBody>
                    <a:bodyPr wrap="square"/>
                    <a:lstStyle/>
                    <a:p>
                      <a:pPr algn="ctr"/>
                      <a:r>
                        <a:rPr sz="850" b="1" i="0">
                          <a:solidFill>
                            <a:srgbClr val="FFFFFF"/>
                          </a:solidFill>
                          <a:latin typeface="Montserrat"/>
                        </a:rPr>
                        <a:t>Value</a:t>
                      </a:r>
                    </a:p>
                  </a:txBody>
                  <a:tcPr marL="45720" marR="45720" marT="18288" marB="18288" anchor="ctr">
                    <a:solidFill>
                      <a:srgbClr val="1F3A5F"/>
                    </a:solidFill>
                  </a:tcPr>
                </a:tc>
                <a:tc>
                  <a:txBody>
                    <a:bodyPr wrap="square"/>
                    <a:lstStyle/>
                    <a:p>
                      <a:pPr algn="ctr"/>
                      <a:r>
                        <a:rPr sz="850" b="1" i="0">
                          <a:solidFill>
                            <a:srgbClr val="FFFFFF"/>
                          </a:solidFill>
                          <a:latin typeface="Montserrat"/>
                        </a:rPr>
                        <a:t>Threshold</a:t>
                      </a:r>
                    </a:p>
                  </a:txBody>
                  <a:tcPr marL="45720" marR="45720" marT="18288" marB="18288" anchor="ctr">
                    <a:solidFill>
                      <a:srgbClr val="1F3A5F"/>
                    </a:solidFill>
                  </a:tcPr>
                </a:tc>
                <a:tc>
                  <a:txBody>
                    <a:bodyPr wrap="square"/>
                    <a:lstStyle/>
                    <a:p>
                      <a:pPr algn="ctr"/>
                      <a:r>
                        <a:rPr sz="850" b="1" i="0">
                          <a:solidFill>
                            <a:srgbClr val="FFFFFF"/>
                          </a:solidFill>
                          <a:latin typeface="Montserrat"/>
                        </a:rPr>
                        <a:t>Result</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Rule gate: Volume Z-Score</a:t>
                      </a:r>
                    </a:p>
                  </a:txBody>
                  <a:tcPr marL="45720" marR="45720" marT="18288" marB="18288" anchor="ctr">
                    <a:solidFill>
                      <a:srgbClr val="FFFFFF"/>
                    </a:solidFill>
                  </a:tcPr>
                </a:tc>
                <a:tc>
                  <a:txBody>
                    <a:bodyPr wrap="square"/>
                    <a:lstStyle/>
                    <a:p>
                      <a:pPr algn="ctr"/>
                      <a:r>
                        <a:rPr sz="850" b="0" i="0">
                          <a:solidFill>
                            <a:srgbClr val="1A1A1A"/>
                          </a:solidFill>
                          <a:latin typeface="Montserrat"/>
                        </a:rPr>
                        <a:t>+4.249</a:t>
                      </a:r>
                    </a:p>
                  </a:txBody>
                  <a:tcPr marL="45720" marR="45720" marT="18288" marB="18288" anchor="ctr">
                    <a:solidFill>
                      <a:srgbClr val="FFFFFF"/>
                    </a:solidFill>
                  </a:tcPr>
                </a:tc>
                <a:tc>
                  <a:txBody>
                    <a:bodyPr wrap="square"/>
                    <a:lstStyle/>
                    <a:p>
                      <a:pPr algn="ctr"/>
                      <a:r>
                        <a:rPr sz="850" b="0" i="0">
                          <a:solidFill>
                            <a:srgbClr val="1A1A1A"/>
                          </a:solidFill>
                          <a:latin typeface="Montserrat"/>
                        </a:rPr>
                        <a:t>&gt; +1.5</a:t>
                      </a:r>
                    </a:p>
                  </a:txBody>
                  <a:tcPr marL="45720" marR="45720" marT="18288" marB="18288" anchor="ctr">
                    <a:solidFill>
                      <a:srgbClr val="FFFFFF"/>
                    </a:solidFill>
                  </a:tcPr>
                </a:tc>
                <a:tc>
                  <a:txBody>
                    <a:bodyPr wrap="square"/>
                    <a:lstStyle/>
                    <a:p>
                      <a:pPr algn="ctr"/>
                      <a:r>
                        <a:rPr sz="850" b="0" i="0">
                          <a:solidFill>
                            <a:srgbClr val="1B6B3A"/>
                          </a:solidFill>
                          <a:latin typeface="Montserrat"/>
                        </a:rPr>
                        <a:t>PASS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ML gate: P(bullish)</a:t>
                      </a:r>
                    </a:p>
                  </a:txBody>
                  <a:tcPr marL="45720" marR="45720" marT="18288" marB="18288" anchor="ctr">
                    <a:solidFill>
                      <a:srgbClr val="F7F9FB"/>
                    </a:solidFill>
                  </a:tcPr>
                </a:tc>
                <a:tc>
                  <a:txBody>
                    <a:bodyPr wrap="square"/>
                    <a:lstStyle/>
                    <a:p>
                      <a:pPr algn="ctr"/>
                      <a:r>
                        <a:rPr sz="850" b="0" i="0">
                          <a:solidFill>
                            <a:srgbClr val="1A1A1A"/>
                          </a:solidFill>
                          <a:latin typeface="Montserrat"/>
                        </a:rPr>
                        <a:t>0.567</a:t>
                      </a:r>
                    </a:p>
                  </a:txBody>
                  <a:tcPr marL="45720" marR="45720" marT="18288" marB="18288" anchor="ctr">
                    <a:solidFill>
                      <a:srgbClr val="F7F9FB"/>
                    </a:solidFill>
                  </a:tcPr>
                </a:tc>
                <a:tc>
                  <a:txBody>
                    <a:bodyPr wrap="square"/>
                    <a:lstStyle/>
                    <a:p>
                      <a:pPr algn="ctr"/>
                      <a:r>
                        <a:rPr sz="850" b="0" i="0">
                          <a:solidFill>
                            <a:srgbClr val="1A1A1A"/>
                          </a:solidFill>
                          <a:latin typeface="Montserrat"/>
                        </a:rPr>
                        <a:t>&gt; 0.55</a:t>
                      </a:r>
                    </a:p>
                  </a:txBody>
                  <a:tcPr marL="45720" marR="45720" marT="18288" marB="18288" anchor="ctr">
                    <a:solidFill>
                      <a:srgbClr val="F7F9FB"/>
                    </a:solidFill>
                  </a:tcPr>
                </a:tc>
                <a:tc>
                  <a:txBody>
                    <a:bodyPr wrap="square"/>
                    <a:lstStyle/>
                    <a:p>
                      <a:pPr algn="ctr"/>
                      <a:r>
                        <a:rPr sz="850" b="0" i="0">
                          <a:solidFill>
                            <a:srgbClr val="1B6B3A"/>
                          </a:solidFill>
                          <a:latin typeface="Montserrat"/>
                        </a:rPr>
                        <a:t>PASS</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Decision</a:t>
                      </a:r>
                    </a:p>
                  </a:txBody>
                  <a:tcPr marL="45720" marR="45720" marT="18288" marB="18288" anchor="ctr">
                    <a:solidFill>
                      <a:srgbClr val="FFFFFF"/>
                    </a:solidFill>
                  </a:tcPr>
                </a:tc>
                <a:tc>
                  <a:txBody>
                    <a:bodyPr wrap="square"/>
                    <a:lstStyle/>
                    <a:p>
                      <a:pPr algn="ctr"/>
                      <a:r>
                        <a:rPr sz="850" b="0" i="0">
                          <a:solidFill>
                            <a:srgbClr val="1A1A1A"/>
                          </a:solidFill>
                          <a:latin typeface="Montserrat"/>
                        </a:rPr>
                        <a:t>BUY</a:t>
                      </a:r>
                    </a:p>
                  </a:txBody>
                  <a:tcPr marL="45720" marR="45720" marT="18288" marB="18288" anchor="ctr">
                    <a:solidFill>
                      <a:srgbClr val="FFFFFF"/>
                    </a:solidFill>
                  </a:tcPr>
                </a:tc>
                <a:tc>
                  <a:txBody>
                    <a:bodyPr wrap="square"/>
                    <a:lstStyle/>
                    <a:p>
                      <a:pPr algn="ctr"/>
                      <a:r>
                        <a:rPr sz="850" b="0" i="0">
                          <a:solidFill>
                            <a:srgbClr val="1A1A1A"/>
                          </a:solidFill>
                          <a:latin typeface="Montserrat"/>
                        </a:rPr>
                        <a:t>both must pass</a:t>
                      </a:r>
                    </a:p>
                  </a:txBody>
                  <a:tcPr marL="45720" marR="45720" marT="18288" marB="18288" anchor="ctr">
                    <a:solidFill>
                      <a:srgbClr val="FFFFFF"/>
                    </a:solidFill>
                  </a:tcPr>
                </a:tc>
                <a:tc>
                  <a:txBody>
                    <a:bodyPr wrap="square"/>
                    <a:lstStyle/>
                    <a:p>
                      <a:pPr algn="ctr"/>
                      <a:r>
                        <a:rPr sz="850" b="0" i="0">
                          <a:solidFill>
                            <a:srgbClr val="1A1A1A"/>
                          </a:solidFill>
                          <a:latin typeface="Montserrat"/>
                        </a:rPr>
                        <a:t>TRADE</a:t>
                      </a:r>
                    </a:p>
                  </a:txBody>
                  <a:tcPr marL="45720" marR="45720" marT="18288" marB="18288" anchor="ctr">
                    <a:solidFill>
                      <a:srgbClr val="FFFFFF"/>
                    </a:solidFill>
                  </a:tcPr>
                </a:tc>
              </a:tr>
            </a:tbl>
          </a:graphicData>
        </a:graphic>
      </p:graphicFrame>
      <p:sp>
        <p:nvSpPr>
          <p:cNvPr id="7" name="TextBox 6"/>
          <p:cNvSpPr txBox="1"/>
          <p:nvPr/>
        </p:nvSpPr>
        <p:spPr>
          <a:xfrm>
            <a:off x="411480" y="2560320"/>
            <a:ext cx="8321040" cy="2308860"/>
          </a:xfrm>
          <a:prstGeom prst="rect">
            <a:avLst/>
          </a:prstGeom>
          <a:noFill/>
        </p:spPr>
        <p:txBody>
          <a:bodyPr wrap="square" lIns="0" rIns="0" tIns="0" bIns="0">
            <a:spAutoFit/>
          </a:bodyPr>
          <a:lstStyle/>
          <a:p>
            <a:pPr>
              <a:spcAft>
                <a:spcPts val="500"/>
              </a:spcAft>
            </a:pPr>
            <a:r>
              <a:rPr sz="1080" b="0" i="0">
                <a:solidFill>
                  <a:srgbClr val="1A1A1A"/>
                </a:solidFill>
                <a:latin typeface="Montserrat"/>
              </a:rPr>
              <a:t>•  If either gate fails the system returns HOLD, and on roughly 98.7% of candles, that is exactly what happens.</a:t>
            </a:r>
          </a:p>
          <a:p>
            <a:pPr>
              <a:spcAft>
                <a:spcPts val="500"/>
              </a:spcAft>
            </a:pPr>
            <a:r>
              <a:rPr sz="1080" b="0" i="0">
                <a:solidFill>
                  <a:srgbClr val="1A1A1A"/>
                </a:solidFill>
                <a:latin typeface="Montserrat"/>
              </a:rPr>
              <a:t>•  Both comparisons are strictly greater-than, so a borderline value does not trade.</a:t>
            </a:r>
          </a:p>
          <a:p>
            <a:pPr>
              <a:spcAft>
                <a:spcPts val="500"/>
              </a:spcAft>
            </a:pPr>
            <a:r>
              <a:rPr sz="1080" b="0" i="0">
                <a:solidFill>
                  <a:srgbClr val="1A1A1A"/>
                </a:solidFill>
                <a:latin typeface="Montserrat"/>
              </a:rPr>
              <a:t>•  The position is then sized by the Risk Manager: 1% of equity at risk, stop-loss 1.2% and take-profit 0.4% from entry, giving 14,532 units (0.15 lots) in this case.</a:t>
            </a:r>
          </a:p>
          <a:p>
            <a:pPr>
              <a:spcAft>
                <a:spcPts val="500"/>
              </a:spcAft>
            </a:pPr>
            <a:r>
              <a:rPr sz="1080" b="0" i="0">
                <a:solidFill>
                  <a:srgbClr val="1A1A1A"/>
                </a:solidFill>
                <a:latin typeface="Montserrat"/>
              </a:rPr>
              <a:t>•  Every decision, including every HOLD, is logged with its probability and Z-Score, which is what makes the system auditable.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The Decisive Design Decision: Triple-Barrier Labelling</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20</a:t>
            </a:r>
          </a:p>
        </p:txBody>
      </p:sp>
      <p:sp>
        <p:nvSpPr>
          <p:cNvPr id="5" name="TextBox 4"/>
          <p:cNvSpPr txBox="1"/>
          <p:nvPr/>
        </p:nvSpPr>
        <p:spPr>
          <a:xfrm>
            <a:off x="411480" y="932688"/>
            <a:ext cx="8321040" cy="1463040"/>
          </a:xfrm>
          <a:prstGeom prst="rect">
            <a:avLst/>
          </a:prstGeom>
          <a:noFill/>
        </p:spPr>
        <p:txBody>
          <a:bodyPr wrap="square" lIns="0" rIns="0" tIns="0" bIns="0">
            <a:spAutoFit/>
          </a:bodyPr>
          <a:lstStyle/>
          <a:p>
            <a:pPr>
              <a:spcAft>
                <a:spcPts val="400"/>
              </a:spcAft>
            </a:pPr>
            <a:r>
              <a:rPr sz="1130" b="1" i="0">
                <a:solidFill>
                  <a:srgbClr val="1A1A1A"/>
                </a:solidFill>
                <a:latin typeface="Montserrat"/>
              </a:rPr>
              <a:t>•  The problem:</a:t>
            </a:r>
          </a:p>
          <a:p>
            <a:pPr lvl="1">
              <a:spcAft>
                <a:spcPts val="400"/>
              </a:spcAft>
            </a:pPr>
            <a:r>
              <a:rPr sz="1030" b="0" i="0">
                <a:solidFill>
                  <a:srgbClr val="333333"/>
                </a:solidFill>
                <a:latin typeface="Montserrat"/>
              </a:rPr>
              <a:t>–  The first version asked the model 'will the next candle close higher?', and it lost money on both pairs, because that question is not the one the strategy actually cares about.</a:t>
            </a:r>
          </a:p>
          <a:p>
            <a:pPr>
              <a:spcAft>
                <a:spcPts val="400"/>
              </a:spcAft>
            </a:pPr>
            <a:r>
              <a:rPr sz="1130" b="1" i="0">
                <a:solidFill>
                  <a:srgbClr val="1A1A1A"/>
                </a:solidFill>
                <a:latin typeface="Montserrat"/>
              </a:rPr>
              <a:t>•  The fix (Lopez de Prado, 2018):</a:t>
            </a:r>
          </a:p>
          <a:p>
            <a:pPr lvl="1">
              <a:spcAft>
                <a:spcPts val="400"/>
              </a:spcAft>
            </a:pPr>
            <a:r>
              <a:rPr sz="1030" b="0" i="0">
                <a:solidFill>
                  <a:srgbClr val="333333"/>
                </a:solidFill>
                <a:latin typeface="Montserrat"/>
              </a:rPr>
              <a:t>–  Label each candle by what would really happen to a trade opened there: does price touch the take-profit before the stop-loss within 24 hours?</a:t>
            </a:r>
          </a:p>
        </p:txBody>
      </p:sp>
      <p:sp>
        <p:nvSpPr>
          <p:cNvPr id="6" name="Rectangle 5"/>
          <p:cNvSpPr/>
          <p:nvPr/>
        </p:nvSpPr>
        <p:spPr>
          <a:xfrm>
            <a:off x="822960" y="2221992"/>
            <a:ext cx="3108960" cy="310896"/>
          </a:xfrm>
          <a:prstGeom prst="rect">
            <a:avLst/>
          </a:prstGeom>
          <a:solidFill>
            <a:srgbClr val="ECF5EE"/>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upper barrier: take-profit  →  class 1</a:t>
            </a:r>
          </a:p>
        </p:txBody>
      </p:sp>
      <p:sp>
        <p:nvSpPr>
          <p:cNvPr id="7" name="Rectangle 6"/>
          <p:cNvSpPr/>
          <p:nvPr/>
        </p:nvSpPr>
        <p:spPr>
          <a:xfrm>
            <a:off x="822960" y="3355848"/>
            <a:ext cx="3108960" cy="310896"/>
          </a:xfrm>
          <a:prstGeom prst="rect">
            <a:avLst/>
          </a:prstGeom>
          <a:solidFill>
            <a:srgbClr val="F6EC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lower barrier: stop-loss  →  class 0</a:t>
            </a:r>
          </a:p>
        </p:txBody>
      </p:sp>
      <p:sp>
        <p:nvSpPr>
          <p:cNvPr id="8" name="Rectangle 7"/>
          <p:cNvSpPr/>
          <p:nvPr/>
        </p:nvSpPr>
        <p:spPr>
          <a:xfrm>
            <a:off x="4160520" y="2788920"/>
            <a:ext cx="1371600" cy="310896"/>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vertical barrier</a:t>
            </a:r>
          </a:p>
          <a:p>
            <a:pPr algn="ctr"/>
            <a:r>
              <a:rPr sz="750" b="0" i="0">
                <a:solidFill>
                  <a:srgbClr val="1A1A1A"/>
                </a:solidFill>
                <a:latin typeface="Montserrat"/>
              </a:rPr>
              <a:t>24 bars</a:t>
            </a:r>
          </a:p>
        </p:txBody>
      </p:sp>
      <p:cxnSp>
        <p:nvCxnSpPr>
          <p:cNvPr id="9" name="Connector 8"/>
          <p:cNvCxnSpPr/>
          <p:nvPr/>
        </p:nvCxnSpPr>
        <p:spPr>
          <a:xfrm>
            <a:off x="822960" y="2944368"/>
            <a:ext cx="3291840"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737360" y="297180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time →</a:t>
            </a:r>
          </a:p>
        </p:txBody>
      </p:sp>
      <p:sp>
        <p:nvSpPr>
          <p:cNvPr id="11" name="TextBox 10"/>
          <p:cNvSpPr txBox="1"/>
          <p:nvPr/>
        </p:nvSpPr>
        <p:spPr>
          <a:xfrm>
            <a:off x="5806440" y="2148840"/>
            <a:ext cx="2926080" cy="1280160"/>
          </a:xfrm>
          <a:prstGeom prst="rect">
            <a:avLst/>
          </a:prstGeom>
          <a:noFill/>
        </p:spPr>
        <p:txBody>
          <a:bodyPr wrap="square" lIns="0" rIns="0" tIns="0" bIns="0" anchor="t">
            <a:spAutoFit/>
          </a:bodyPr>
          <a:lstStyle/>
          <a:p>
            <a:pPr algn="l"/>
            <a:r>
              <a:rPr sz="1030" b="1" i="0">
                <a:solidFill>
                  <a:srgbClr val="1F3A5F"/>
                </a:solidFill>
                <a:latin typeface="Montserrat"/>
              </a:rPr>
              <a:t>Result: both pairs moved from
a net loss to a net profit.
This single change mattered more
than every indicator tested.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Results: Held-Out Test Set, Costs Included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21</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080" b="0" i="0">
                <a:solidFill>
                  <a:srgbClr val="1A1A1A"/>
                </a:solidFill>
                <a:latin typeface="Montserrat"/>
              </a:rPr>
              <a:t>Test period 20 January – 12 June 2026 (2,456 hourly candles, never seen during training):</a:t>
            </a:r>
          </a:p>
        </p:txBody>
      </p:sp>
      <p:graphicFrame>
        <p:nvGraphicFramePr>
          <p:cNvPr id="6" name="Table 5"/>
          <p:cNvGraphicFramePr>
            <a:graphicFrameLocks noGrp="1"/>
          </p:cNvGraphicFramePr>
          <p:nvPr/>
        </p:nvGraphicFramePr>
        <p:xfrm>
          <a:off x="411480" y="1316736"/>
          <a:ext cx="8321040" cy="1901952"/>
        </p:xfrm>
        <a:graphic>
          <a:graphicData uri="http://schemas.openxmlformats.org/drawingml/2006/table">
            <a:tbl>
              <a:tblPr firstRow="1" bandRow="1">
                <a:tableStyleId>{5C22544A-7EE6-4342-B048-85BDC9FD1C3A}</a:tableStyleId>
              </a:tblPr>
              <a:tblGrid>
                <a:gridCol w="2651760"/>
                <a:gridCol w="1371600"/>
                <a:gridCol w="2148840"/>
                <a:gridCol w="2148840"/>
              </a:tblGrid>
              <a:tr h="237744">
                <a:tc>
                  <a:txBody>
                    <a:bodyPr wrap="square"/>
                    <a:lstStyle/>
                    <a:p>
                      <a:pPr algn="l"/>
                      <a:r>
                        <a:rPr sz="850" b="1" i="0">
                          <a:solidFill>
                            <a:srgbClr val="FFFFFF"/>
                          </a:solidFill>
                          <a:latin typeface="Montserrat"/>
                        </a:rPr>
                        <a:t>Metric</a:t>
                      </a:r>
                    </a:p>
                  </a:txBody>
                  <a:tcPr marL="45720" marR="45720" marT="18288" marB="18288" anchor="ctr">
                    <a:solidFill>
                      <a:srgbClr val="1F3A5F"/>
                    </a:solidFill>
                  </a:tcPr>
                </a:tc>
                <a:tc>
                  <a:txBody>
                    <a:bodyPr wrap="square"/>
                    <a:lstStyle/>
                    <a:p>
                      <a:pPr algn="ctr"/>
                      <a:r>
                        <a:rPr sz="850" b="1" i="0">
                          <a:solidFill>
                            <a:srgbClr val="FFFFFF"/>
                          </a:solidFill>
                          <a:latin typeface="Montserrat"/>
                        </a:rPr>
                        <a:t>Target</a:t>
                      </a:r>
                    </a:p>
                  </a:txBody>
                  <a:tcPr marL="45720" marR="45720" marT="18288" marB="18288" anchor="ctr">
                    <a:solidFill>
                      <a:srgbClr val="1F3A5F"/>
                    </a:solidFill>
                  </a:tcPr>
                </a:tc>
                <a:tc>
                  <a:txBody>
                    <a:bodyPr wrap="square"/>
                    <a:lstStyle/>
                    <a:p>
                      <a:pPr algn="ctr"/>
                      <a:r>
                        <a:rPr sz="850" b="1" i="0">
                          <a:solidFill>
                            <a:srgbClr val="FFFFFF"/>
                          </a:solidFill>
                          <a:latin typeface="Montserrat"/>
                        </a:rPr>
                        <a:t>EUR/USD</a:t>
                      </a:r>
                    </a:p>
                  </a:txBody>
                  <a:tcPr marL="45720" marR="45720" marT="18288" marB="18288" anchor="ctr">
                    <a:solidFill>
                      <a:srgbClr val="1F3A5F"/>
                    </a:solidFill>
                  </a:tcPr>
                </a:tc>
                <a:tc>
                  <a:txBody>
                    <a:bodyPr wrap="square"/>
                    <a:lstStyle/>
                    <a:p>
                      <a:pPr algn="ctr"/>
                      <a:r>
                        <a:rPr sz="850" b="1" i="0">
                          <a:solidFill>
                            <a:srgbClr val="FFFFFF"/>
                          </a:solidFill>
                          <a:latin typeface="Montserrat"/>
                        </a:rPr>
                        <a:t>GBP/USD</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Win rate</a:t>
                      </a:r>
                    </a:p>
                  </a:txBody>
                  <a:tcPr marL="45720" marR="45720" marT="18288" marB="18288" anchor="ctr">
                    <a:solidFill>
                      <a:srgbClr val="FFFFFF"/>
                    </a:solidFill>
                  </a:tcPr>
                </a:tc>
                <a:tc>
                  <a:txBody>
                    <a:bodyPr wrap="square"/>
                    <a:lstStyle/>
                    <a:p>
                      <a:pPr algn="ctr"/>
                      <a:r>
                        <a:rPr sz="850" b="0" i="0">
                          <a:solidFill>
                            <a:srgbClr val="1A1A1A"/>
                          </a:solidFill>
                          <a:latin typeface="Montserrat"/>
                        </a:rPr>
                        <a:t>&gt; 60%</a:t>
                      </a:r>
                    </a:p>
                  </a:txBody>
                  <a:tcPr marL="45720" marR="45720" marT="18288" marB="18288" anchor="ctr">
                    <a:solidFill>
                      <a:srgbClr val="FFFFFF"/>
                    </a:solidFill>
                  </a:tcPr>
                </a:tc>
                <a:tc>
                  <a:txBody>
                    <a:bodyPr wrap="square"/>
                    <a:lstStyle/>
                    <a:p>
                      <a:pPr algn="ctr"/>
                      <a:r>
                        <a:rPr sz="850" b="0" i="0">
                          <a:solidFill>
                            <a:srgbClr val="1B6B3A"/>
                          </a:solidFill>
                          <a:latin typeface="Montserrat"/>
                        </a:rPr>
                        <a:t>73.3%  PASS</a:t>
                      </a:r>
                    </a:p>
                  </a:txBody>
                  <a:tcPr marL="45720" marR="45720" marT="18288" marB="18288" anchor="ctr">
                    <a:solidFill>
                      <a:srgbClr val="FFFFFF"/>
                    </a:solidFill>
                  </a:tcPr>
                </a:tc>
                <a:tc>
                  <a:txBody>
                    <a:bodyPr wrap="square"/>
                    <a:lstStyle/>
                    <a:p>
                      <a:pPr algn="ctr"/>
                      <a:r>
                        <a:rPr sz="850" b="0" i="0">
                          <a:solidFill>
                            <a:srgbClr val="1B6B3A"/>
                          </a:solidFill>
                          <a:latin typeface="Montserrat"/>
                        </a:rPr>
                        <a:t>78.4%  PASS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95% confidence interval</a:t>
                      </a:r>
                    </a:p>
                  </a:txBody>
                  <a:tcPr marL="45720" marR="45720" marT="18288" marB="18288" anchor="ctr">
                    <a:solidFill>
                      <a:srgbClr val="F7F9FB"/>
                    </a:solidFill>
                  </a:tcPr>
                </a:tc>
                <a:tc>
                  <a:txBody>
                    <a:bodyPr wrap="square"/>
                    <a:lstStyle/>
                    <a:p>
                      <a:pPr algn="ctr"/>
                      <a:r>
                        <a:rPr sz="850" b="0" i="0">
                          <a:solidFill>
                            <a:srgbClr val="1A1A1A"/>
                          </a:solidFill>
                          <a:latin typeface="Montserrat"/>
                        </a:rPr>
                        <a:t>n/a</a:t>
                      </a:r>
                    </a:p>
                  </a:txBody>
                  <a:tcPr marL="45720" marR="45720" marT="18288" marB="18288" anchor="ctr">
                    <a:solidFill>
                      <a:srgbClr val="F7F9FB"/>
                    </a:solidFill>
                  </a:tcPr>
                </a:tc>
                <a:tc>
                  <a:txBody>
                    <a:bodyPr wrap="square"/>
                    <a:lstStyle/>
                    <a:p>
                      <a:pPr algn="ctr"/>
                      <a:r>
                        <a:rPr sz="850" b="0" i="0">
                          <a:solidFill>
                            <a:srgbClr val="1A1A1A"/>
                          </a:solidFill>
                          <a:latin typeface="Montserrat"/>
                        </a:rPr>
                        <a:t>[55.6% – 85.8%]</a:t>
                      </a:r>
                    </a:p>
                  </a:txBody>
                  <a:tcPr marL="45720" marR="45720" marT="18288" marB="18288" anchor="ctr">
                    <a:solidFill>
                      <a:srgbClr val="F7F9FB"/>
                    </a:solidFill>
                  </a:tcPr>
                </a:tc>
                <a:tc>
                  <a:txBody>
                    <a:bodyPr wrap="square"/>
                    <a:lstStyle/>
                    <a:p>
                      <a:pPr algn="ctr"/>
                      <a:r>
                        <a:rPr sz="850" b="0" i="0">
                          <a:solidFill>
                            <a:srgbClr val="1A1A1A"/>
                          </a:solidFill>
                          <a:latin typeface="Montserrat"/>
                        </a:rPr>
                        <a:t>[62.8% – 88.6%]</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Profit factor</a:t>
                      </a:r>
                    </a:p>
                  </a:txBody>
                  <a:tcPr marL="45720" marR="45720" marT="18288" marB="18288" anchor="ctr">
                    <a:solidFill>
                      <a:srgbClr val="FFFFFF"/>
                    </a:solidFill>
                  </a:tcPr>
                </a:tc>
                <a:tc>
                  <a:txBody>
                    <a:bodyPr wrap="square"/>
                    <a:lstStyle/>
                    <a:p>
                      <a:pPr algn="ctr"/>
                      <a:r>
                        <a:rPr sz="850" b="0" i="0">
                          <a:solidFill>
                            <a:srgbClr val="1A1A1A"/>
                          </a:solidFill>
                          <a:latin typeface="Montserrat"/>
                        </a:rPr>
                        <a:t>&gt; 1.5</a:t>
                      </a:r>
                    </a:p>
                  </a:txBody>
                  <a:tcPr marL="45720" marR="45720" marT="18288" marB="18288" anchor="ctr">
                    <a:solidFill>
                      <a:srgbClr val="FFFFFF"/>
                    </a:solidFill>
                  </a:tcPr>
                </a:tc>
                <a:tc>
                  <a:txBody>
                    <a:bodyPr wrap="square"/>
                    <a:lstStyle/>
                    <a:p>
                      <a:pPr algn="ctr"/>
                      <a:r>
                        <a:rPr sz="850" b="0" i="0">
                          <a:solidFill>
                            <a:srgbClr val="A31D1D"/>
                          </a:solidFill>
                          <a:latin typeface="Montserrat"/>
                        </a:rPr>
                        <a:t>1.34  FAIL</a:t>
                      </a:r>
                    </a:p>
                  </a:txBody>
                  <a:tcPr marL="45720" marR="45720" marT="18288" marB="18288" anchor="ctr">
                    <a:solidFill>
                      <a:srgbClr val="FFFFFF"/>
                    </a:solidFill>
                  </a:tcPr>
                </a:tc>
                <a:tc>
                  <a:txBody>
                    <a:bodyPr wrap="square"/>
                    <a:lstStyle/>
                    <a:p>
                      <a:pPr algn="ctr"/>
                      <a:r>
                        <a:rPr sz="850" b="0" i="0">
                          <a:solidFill>
                            <a:srgbClr val="1B6B3A"/>
                          </a:solidFill>
                          <a:latin typeface="Montserrat"/>
                        </a:rPr>
                        <a:t>1.62  PASS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Maximum drawdown</a:t>
                      </a:r>
                    </a:p>
                  </a:txBody>
                  <a:tcPr marL="45720" marR="45720" marT="18288" marB="18288" anchor="ctr">
                    <a:solidFill>
                      <a:srgbClr val="F7F9FB"/>
                    </a:solidFill>
                  </a:tcPr>
                </a:tc>
                <a:tc>
                  <a:txBody>
                    <a:bodyPr wrap="square"/>
                    <a:lstStyle/>
                    <a:p>
                      <a:pPr algn="ctr"/>
                      <a:r>
                        <a:rPr sz="850" b="0" i="0">
                          <a:solidFill>
                            <a:srgbClr val="1A1A1A"/>
                          </a:solidFill>
                          <a:latin typeface="Montserrat"/>
                        </a:rPr>
                        <a:t>&lt; 15%</a:t>
                      </a:r>
                    </a:p>
                  </a:txBody>
                  <a:tcPr marL="45720" marR="45720" marT="18288" marB="18288" anchor="ctr">
                    <a:solidFill>
                      <a:srgbClr val="F7F9FB"/>
                    </a:solidFill>
                  </a:tcPr>
                </a:tc>
                <a:tc>
                  <a:txBody>
                    <a:bodyPr wrap="square"/>
                    <a:lstStyle/>
                    <a:p>
                      <a:pPr algn="ctr"/>
                      <a:r>
                        <a:rPr sz="850" b="0" i="0">
                          <a:solidFill>
                            <a:srgbClr val="1B6B3A"/>
                          </a:solidFill>
                          <a:latin typeface="Montserrat"/>
                        </a:rPr>
                        <a:t>1.5%  PASS</a:t>
                      </a:r>
                    </a:p>
                  </a:txBody>
                  <a:tcPr marL="45720" marR="45720" marT="18288" marB="18288" anchor="ctr">
                    <a:solidFill>
                      <a:srgbClr val="F7F9FB"/>
                    </a:solidFill>
                  </a:tcPr>
                </a:tc>
                <a:tc>
                  <a:txBody>
                    <a:bodyPr wrap="square"/>
                    <a:lstStyle/>
                    <a:p>
                      <a:pPr algn="ctr"/>
                      <a:r>
                        <a:rPr sz="850" b="0" i="0">
                          <a:solidFill>
                            <a:srgbClr val="1B6B3A"/>
                          </a:solidFill>
                          <a:latin typeface="Montserrat"/>
                        </a:rPr>
                        <a:t>2.5%  PASS</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Sharpe (per-trade)</a:t>
                      </a:r>
                    </a:p>
                  </a:txBody>
                  <a:tcPr marL="45720" marR="45720" marT="18288" marB="18288" anchor="ctr">
                    <a:solidFill>
                      <a:srgbClr val="FFFFFF"/>
                    </a:solidFill>
                  </a:tcPr>
                </a:tc>
                <a:tc>
                  <a:txBody>
                    <a:bodyPr wrap="square"/>
                    <a:lstStyle/>
                    <a:p>
                      <a:pPr algn="ctr"/>
                      <a:r>
                        <a:rPr sz="850" b="0" i="0">
                          <a:solidFill>
                            <a:srgbClr val="1A1A1A"/>
                          </a:solidFill>
                          <a:latin typeface="Montserrat"/>
                        </a:rPr>
                        <a:t>&gt; 1.0</a:t>
                      </a:r>
                    </a:p>
                  </a:txBody>
                  <a:tcPr marL="45720" marR="45720" marT="18288" marB="18288" anchor="ctr">
                    <a:solidFill>
                      <a:srgbClr val="FFFFFF"/>
                    </a:solidFill>
                  </a:tcPr>
                </a:tc>
                <a:tc>
                  <a:txBody>
                    <a:bodyPr wrap="square"/>
                    <a:lstStyle/>
                    <a:p>
                      <a:pPr algn="ctr"/>
                      <a:r>
                        <a:rPr sz="850" b="0" i="0">
                          <a:solidFill>
                            <a:srgbClr val="A31D1D"/>
                          </a:solidFill>
                          <a:latin typeface="Montserrat"/>
                        </a:rPr>
                        <a:t>0.13  FAIL</a:t>
                      </a:r>
                    </a:p>
                  </a:txBody>
                  <a:tcPr marL="45720" marR="45720" marT="18288" marB="18288" anchor="ctr">
                    <a:solidFill>
                      <a:srgbClr val="FFFFFF"/>
                    </a:solidFill>
                  </a:tcPr>
                </a:tc>
                <a:tc>
                  <a:txBody>
                    <a:bodyPr wrap="square"/>
                    <a:lstStyle/>
                    <a:p>
                      <a:pPr algn="ctr"/>
                      <a:r>
                        <a:rPr sz="850" b="0" i="0">
                          <a:solidFill>
                            <a:srgbClr val="A31D1D"/>
                          </a:solidFill>
                          <a:latin typeface="Montserrat"/>
                        </a:rPr>
                        <a:t>0.22  FAIL</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Net profit / trades</a:t>
                      </a:r>
                    </a:p>
                  </a:txBody>
                  <a:tcPr marL="45720" marR="45720" marT="18288" marB="18288" anchor="ctr">
                    <a:solidFill>
                      <a:srgbClr val="F7F9FB"/>
                    </a:solidFill>
                  </a:tcPr>
                </a:tc>
                <a:tc>
                  <a:txBody>
                    <a:bodyPr wrap="square"/>
                    <a:lstStyle/>
                    <a:p>
                      <a:pPr algn="ctr"/>
                      <a:r>
                        <a:rPr sz="850" b="0" i="0">
                          <a:solidFill>
                            <a:srgbClr val="1A1A1A"/>
                          </a:solidFill>
                          <a:latin typeface="Montserrat"/>
                        </a:rPr>
                        <a:t>n/a</a:t>
                      </a:r>
                    </a:p>
                  </a:txBody>
                  <a:tcPr marL="45720" marR="45720" marT="18288" marB="18288" anchor="ctr">
                    <a:solidFill>
                      <a:srgbClr val="F7F9FB"/>
                    </a:solidFill>
                  </a:tcPr>
                </a:tc>
                <a:tc>
                  <a:txBody>
                    <a:bodyPr wrap="square"/>
                    <a:lstStyle/>
                    <a:p>
                      <a:pPr algn="ctr"/>
                      <a:r>
                        <a:rPr sz="850" b="0" i="0">
                          <a:solidFill>
                            <a:srgbClr val="1A1A1A"/>
                          </a:solidFill>
                          <a:latin typeface="Montserrat"/>
                        </a:rPr>
                        <a:t>+$256.57  (30)</a:t>
                      </a:r>
                    </a:p>
                  </a:txBody>
                  <a:tcPr marL="45720" marR="45720" marT="18288" marB="18288" anchor="ctr">
                    <a:solidFill>
                      <a:srgbClr val="F7F9FB"/>
                    </a:solidFill>
                  </a:tcPr>
                </a:tc>
                <a:tc>
                  <a:txBody>
                    <a:bodyPr wrap="square"/>
                    <a:lstStyle/>
                    <a:p>
                      <a:pPr algn="ctr"/>
                      <a:r>
                        <a:rPr sz="850" b="0" i="0">
                          <a:solidFill>
                            <a:srgbClr val="1A1A1A"/>
                          </a:solidFill>
                          <a:latin typeface="Montserrat"/>
                        </a:rPr>
                        <a:t>+$531.82  (37)</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Targets met</a:t>
                      </a:r>
                    </a:p>
                  </a:txBody>
                  <a:tcPr marL="45720" marR="45720" marT="18288" marB="18288" anchor="ctr">
                    <a:solidFill>
                      <a:srgbClr val="FFFFFF"/>
                    </a:solidFill>
                  </a:tcPr>
                </a:tc>
                <a:tc>
                  <a:txBody>
                    <a:bodyPr wrap="square"/>
                    <a:lstStyle/>
                    <a:p>
                      <a:pPr algn="ctr"/>
                      <a:r>
                        <a:rPr sz="850" b="0" i="0">
                          <a:solidFill>
                            <a:srgbClr val="1A1A1A"/>
                          </a:solidFill>
                          <a:latin typeface="Montserrat"/>
                        </a:rPr>
                        <a:t>n/a</a:t>
                      </a:r>
                    </a:p>
                  </a:txBody>
                  <a:tcPr marL="45720" marR="45720" marT="18288" marB="18288" anchor="ctr">
                    <a:solidFill>
                      <a:srgbClr val="FFFFFF"/>
                    </a:solidFill>
                  </a:tcPr>
                </a:tc>
                <a:tc>
                  <a:txBody>
                    <a:bodyPr wrap="square"/>
                    <a:lstStyle/>
                    <a:p>
                      <a:pPr algn="ctr"/>
                      <a:r>
                        <a:rPr sz="850" b="0" i="0">
                          <a:solidFill>
                            <a:srgbClr val="1A1A1A"/>
                          </a:solidFill>
                          <a:latin typeface="Montserrat"/>
                        </a:rPr>
                        <a:t>2 of 4</a:t>
                      </a:r>
                    </a:p>
                  </a:txBody>
                  <a:tcPr marL="45720" marR="45720" marT="18288" marB="18288" anchor="ctr">
                    <a:solidFill>
                      <a:srgbClr val="FFFFFF"/>
                    </a:solidFill>
                  </a:tcPr>
                </a:tc>
                <a:tc>
                  <a:txBody>
                    <a:bodyPr wrap="square"/>
                    <a:lstStyle/>
                    <a:p>
                      <a:pPr algn="ctr"/>
                      <a:r>
                        <a:rPr sz="850" b="0" i="0">
                          <a:solidFill>
                            <a:srgbClr val="1A1A1A"/>
                          </a:solidFill>
                          <a:latin typeface="Montserrat"/>
                        </a:rPr>
                        <a:t>3 of 4</a:t>
                      </a:r>
                    </a:p>
                  </a:txBody>
                  <a:tcPr marL="45720" marR="45720" marT="18288" marB="18288" anchor="ctr">
                    <a:solidFill>
                      <a:srgbClr val="FFFFFF"/>
                    </a:solidFill>
                  </a:tcPr>
                </a:tc>
              </a:tr>
            </a:tbl>
          </a:graphicData>
        </a:graphic>
      </p:graphicFrame>
      <p:sp>
        <p:nvSpPr>
          <p:cNvPr id="7" name="TextBox 6"/>
          <p:cNvSpPr txBox="1"/>
          <p:nvPr/>
        </p:nvSpPr>
        <p:spPr>
          <a:xfrm>
            <a:off x="411480" y="3813048"/>
            <a:ext cx="8321040" cy="457200"/>
          </a:xfrm>
          <a:prstGeom prst="rect">
            <a:avLst/>
          </a:prstGeom>
          <a:noFill/>
        </p:spPr>
        <p:txBody>
          <a:bodyPr wrap="square" lIns="0" rIns="0" tIns="0" bIns="0" anchor="t">
            <a:spAutoFit/>
          </a:bodyPr>
          <a:lstStyle/>
          <a:p>
            <a:pPr algn="l"/>
            <a:r>
              <a:rPr sz="890" b="0" i="1">
                <a:solidFill>
                  <a:srgbClr val="555555"/>
                </a:solidFill>
                <a:latin typeface="Montserrat"/>
              </a:rPr>
              <a:t>Sharpe is reported per-trade and unannualised; the &gt; 1.0 benchmark is conventionally an annualised figure, so the two are not directly comparable. This is stated as a limitation rather than adjusted.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Results: How Much of This Is Actually the Model?</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22</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080" b="1" i="0">
                <a:solidFill>
                  <a:srgbClr val="1A1A1A"/>
                </a:solidFill>
                <a:latin typeface="Montserrat"/>
              </a:rPr>
              <a:t>•  A win rate alone can be manufactured by exit geometry.</a:t>
            </a:r>
          </a:p>
          <a:p>
            <a:pPr lvl="1">
              <a:spcAft>
                <a:spcPts val="400"/>
              </a:spcAft>
            </a:pPr>
            <a:r>
              <a:rPr sz="990" b="0" i="0">
                <a:solidFill>
                  <a:srgbClr val="333333"/>
                </a:solidFill>
                <a:latin typeface="Montserrat"/>
              </a:rPr>
              <a:t>–  With a stop-loss three times wider than the take-profit, most trades close as small wins. To test this, the same exits were run with a RANDOM trade direction: that baseline wins 67–69%.</a:t>
            </a:r>
          </a:p>
          <a:p>
            <a:pPr lvl="1">
              <a:spcAft>
                <a:spcPts val="400"/>
              </a:spcAft>
            </a:pPr>
            <a:r>
              <a:rPr sz="990" b="0" i="0">
                <a:solidFill>
                  <a:srgbClr val="333333"/>
                </a:solidFill>
                <a:latin typeface="Montserrat"/>
              </a:rPr>
              <a:t>–  So the 73–78% headline win rate is mostly geometry, not prediction.</a:t>
            </a:r>
          </a:p>
          <a:p>
            <a:pPr>
              <a:spcAft>
                <a:spcPts val="400"/>
              </a:spcAft>
            </a:pPr>
            <a:r>
              <a:rPr sz="1080" b="1" i="0">
                <a:solidFill>
                  <a:srgbClr val="1A1A1A"/>
                </a:solidFill>
                <a:latin typeface="Montserrat"/>
              </a:rPr>
              <a:t>•  Where the model's edge does show:</a:t>
            </a:r>
          </a:p>
          <a:p>
            <a:pPr lvl="1">
              <a:spcAft>
                <a:spcPts val="400"/>
              </a:spcAft>
            </a:pPr>
            <a:r>
              <a:rPr sz="990" b="0" i="0">
                <a:solidFill>
                  <a:srgbClr val="333333"/>
                </a:solidFill>
                <a:latin typeface="Montserrat"/>
              </a:rPr>
              <a:t>–  Profit factor. Against every random-direction seed, the trained model wins on profit factor, the metric that measures whether the trades KEPT were better than the trades SKIPPED.</a:t>
            </a:r>
          </a:p>
          <a:p>
            <a:pPr>
              <a:spcAft>
                <a:spcPts val="400"/>
              </a:spcAft>
            </a:pPr>
            <a:r>
              <a:rPr sz="1080" b="1" i="0">
                <a:solidFill>
                  <a:srgbClr val="1A1A1A"/>
                </a:solidFill>
                <a:latin typeface="Montserrat"/>
              </a:rPr>
              <a:t>•  Remaining honest caveats:</a:t>
            </a:r>
          </a:p>
          <a:p>
            <a:pPr lvl="1">
              <a:spcAft>
                <a:spcPts val="400"/>
              </a:spcAft>
            </a:pPr>
            <a:r>
              <a:rPr sz="990" b="0" i="0">
                <a:solidFill>
                  <a:srgbClr val="333333"/>
                </a:solidFill>
                <a:latin typeface="Montserrat"/>
              </a:rPr>
              <a:t>–  Only ~30 trades per pair, hence the wide confidence intervals.</a:t>
            </a:r>
          </a:p>
          <a:p>
            <a:pPr lvl="1">
              <a:spcAft>
                <a:spcPts val="400"/>
              </a:spcAft>
            </a:pPr>
            <a:r>
              <a:rPr sz="990" b="0" i="0">
                <a:solidFill>
                  <a:srgbClr val="333333"/>
                </a:solidFill>
                <a:latin typeface="Montserrat"/>
              </a:rPr>
              <a:t>–  The training label is long-only with a 24-bar horizon, while live trades take both directions and are held to their barriers, a documented inconsistency.</a:t>
            </a:r>
          </a:p>
          <a:p>
            <a:pPr lvl="1">
              <a:spcAft>
                <a:spcPts val="400"/>
              </a:spcAft>
            </a:pPr>
            <a:r>
              <a:rPr sz="990" b="0" i="0">
                <a:solidFill>
                  <a:srgbClr val="333333"/>
                </a:solidFill>
                <a:latin typeface="Montserrat"/>
              </a:rPr>
              <a:t>–  Execution latency was measured only on a demo account, not at scale.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Results: Six Measured Negative Results</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23</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030" b="0" i="0">
                <a:solidFill>
                  <a:srgbClr val="1A1A1A"/>
                </a:solidFill>
                <a:latin typeface="Montserrat"/>
              </a:rPr>
              <a:t>Each feature was added alone, retrained, and measured on both pairs. None improved both, so all are switched off, with the code kept.</a:t>
            </a:r>
          </a:p>
        </p:txBody>
      </p:sp>
      <p:graphicFrame>
        <p:nvGraphicFramePr>
          <p:cNvPr id="6" name="Table 5"/>
          <p:cNvGraphicFramePr>
            <a:graphicFrameLocks noGrp="1"/>
          </p:cNvGraphicFramePr>
          <p:nvPr/>
        </p:nvGraphicFramePr>
        <p:xfrm>
          <a:off x="411480" y="1316736"/>
          <a:ext cx="8321040" cy="1664208"/>
        </p:xfrm>
        <a:graphic>
          <a:graphicData uri="http://schemas.openxmlformats.org/drawingml/2006/table">
            <a:tbl>
              <a:tblPr firstRow="1" bandRow="1">
                <a:tableStyleId>{5C22544A-7EE6-4342-B048-85BDC9FD1C3A}</a:tableStyleId>
              </a:tblPr>
              <a:tblGrid>
                <a:gridCol w="2743200"/>
                <a:gridCol w="2194560"/>
                <a:gridCol w="3383280"/>
              </a:tblGrid>
              <a:tr h="237744">
                <a:tc>
                  <a:txBody>
                    <a:bodyPr wrap="square"/>
                    <a:lstStyle/>
                    <a:p>
                      <a:pPr algn="l"/>
                      <a:r>
                        <a:rPr sz="850" b="1" i="0">
                          <a:solidFill>
                            <a:srgbClr val="FFFFFF"/>
                          </a:solidFill>
                          <a:latin typeface="Montserrat"/>
                        </a:rPr>
                        <a:t>Feature tested</a:t>
                      </a:r>
                    </a:p>
                  </a:txBody>
                  <a:tcPr marL="45720" marR="45720" marT="18288" marB="18288" anchor="ctr">
                    <a:solidFill>
                      <a:srgbClr val="1F3A5F"/>
                    </a:solidFill>
                  </a:tcPr>
                </a:tc>
                <a:tc>
                  <a:txBody>
                    <a:bodyPr wrap="square"/>
                    <a:lstStyle/>
                    <a:p>
                      <a:pPr algn="ctr"/>
                      <a:r>
                        <a:rPr sz="850" b="1" i="0">
                          <a:solidFill>
                            <a:srgbClr val="FFFFFF"/>
                          </a:solidFill>
                          <a:latin typeface="Montserrat"/>
                        </a:rPr>
                        <a:t>In the literature?</a:t>
                      </a:r>
                    </a:p>
                  </a:txBody>
                  <a:tcPr marL="45720" marR="45720" marT="18288" marB="18288" anchor="ctr">
                    <a:solidFill>
                      <a:srgbClr val="1F3A5F"/>
                    </a:solidFill>
                  </a:tcPr>
                </a:tc>
                <a:tc>
                  <a:txBody>
                    <a:bodyPr wrap="square"/>
                    <a:lstStyle/>
                    <a:p>
                      <a:pPr algn="ctr"/>
                      <a:r>
                        <a:rPr sz="850" b="1" i="0">
                          <a:solidFill>
                            <a:srgbClr val="FFFFFF"/>
                          </a:solidFill>
                          <a:latin typeface="Montserrat"/>
                        </a:rPr>
                        <a:t>Measured outcome</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RSI</a:t>
                      </a:r>
                    </a:p>
                  </a:txBody>
                  <a:tcPr marL="45720" marR="45720" marT="18288" marB="18288" anchor="ctr">
                    <a:solidFill>
                      <a:srgbClr val="FFFFFF"/>
                    </a:solidFill>
                  </a:tcPr>
                </a:tc>
                <a:tc>
                  <a:txBody>
                    <a:bodyPr wrap="square"/>
                    <a:lstStyle/>
                    <a:p>
                      <a:pPr algn="ctr"/>
                      <a:r>
                        <a:rPr sz="850" b="0" i="0">
                          <a:solidFill>
                            <a:srgbClr val="1A1A1A"/>
                          </a:solidFill>
                          <a:latin typeface="Montserrat"/>
                        </a:rPr>
                        <a:t>Yes (Chong et al.)</a:t>
                      </a:r>
                    </a:p>
                  </a:txBody>
                  <a:tcPr marL="45720" marR="45720" marT="18288" marB="18288" anchor="ctr">
                    <a:solidFill>
                      <a:srgbClr val="FFFFFF"/>
                    </a:solidFill>
                  </a:tcPr>
                </a:tc>
                <a:tc>
                  <a:txBody>
                    <a:bodyPr wrap="square"/>
                    <a:lstStyle/>
                    <a:p>
                      <a:pPr algn="ctr"/>
                      <a:r>
                        <a:rPr sz="850" b="0" i="0">
                          <a:solidFill>
                            <a:srgbClr val="1A1A1A"/>
                          </a:solidFill>
                          <a:latin typeface="Montserrat"/>
                        </a:rPr>
                        <a:t>Hurt both pairs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MACD</a:t>
                      </a:r>
                    </a:p>
                  </a:txBody>
                  <a:tcPr marL="45720" marR="45720" marT="18288" marB="18288" anchor="ctr">
                    <a:solidFill>
                      <a:srgbClr val="F7F9FB"/>
                    </a:solidFill>
                  </a:tcPr>
                </a:tc>
                <a:tc>
                  <a:txBody>
                    <a:bodyPr wrap="square"/>
                    <a:lstStyle/>
                    <a:p>
                      <a:pPr algn="ctr"/>
                      <a:r>
                        <a:rPr sz="850" b="0" i="0">
                          <a:solidFill>
                            <a:srgbClr val="1A1A1A"/>
                          </a:solidFill>
                          <a:latin typeface="Montserrat"/>
                        </a:rPr>
                        <a:t>Yes (Chong et al.)</a:t>
                      </a:r>
                    </a:p>
                  </a:txBody>
                  <a:tcPr marL="45720" marR="45720" marT="18288" marB="18288" anchor="ctr">
                    <a:solidFill>
                      <a:srgbClr val="F7F9FB"/>
                    </a:solidFill>
                  </a:tcPr>
                </a:tc>
                <a:tc>
                  <a:txBody>
                    <a:bodyPr wrap="square"/>
                    <a:lstStyle/>
                    <a:p>
                      <a:pPr algn="ctr"/>
                      <a:r>
                        <a:rPr sz="850" b="0" i="0">
                          <a:solidFill>
                            <a:srgbClr val="1A1A1A"/>
                          </a:solidFill>
                          <a:latin typeface="Montserrat"/>
                        </a:rPr>
                        <a:t>Hurt badly: drawdown above 15%</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ATR (feature and stops)</a:t>
                      </a:r>
                    </a:p>
                  </a:txBody>
                  <a:tcPr marL="45720" marR="45720" marT="18288" marB="18288" anchor="ctr">
                    <a:solidFill>
                      <a:srgbClr val="FFFFFF"/>
                    </a:solidFill>
                  </a:tcPr>
                </a:tc>
                <a:tc>
                  <a:txBody>
                    <a:bodyPr wrap="square"/>
                    <a:lstStyle/>
                    <a:p>
                      <a:pPr algn="ctr"/>
                      <a:r>
                        <a:rPr sz="850" b="0" i="0">
                          <a:solidFill>
                            <a:srgbClr val="1A1A1A"/>
                          </a:solidFill>
                          <a:latin typeface="Montserrat"/>
                        </a:rPr>
                        <a:t>No</a:t>
                      </a:r>
                    </a:p>
                  </a:txBody>
                  <a:tcPr marL="45720" marR="45720" marT="18288" marB="18288" anchor="ctr">
                    <a:solidFill>
                      <a:srgbClr val="FFFFFF"/>
                    </a:solidFill>
                  </a:tcPr>
                </a:tc>
                <a:tc>
                  <a:txBody>
                    <a:bodyPr wrap="square"/>
                    <a:lstStyle/>
                    <a:p>
                      <a:pPr algn="ctr"/>
                      <a:r>
                        <a:rPr sz="850" b="0" i="0">
                          <a:solidFill>
                            <a:srgbClr val="1A1A1A"/>
                          </a:solidFill>
                          <a:latin typeface="Montserrat"/>
                        </a:rPr>
                        <a:t>Neutral to harmful</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Higher-timeframe trend</a:t>
                      </a:r>
                    </a:p>
                  </a:txBody>
                  <a:tcPr marL="45720" marR="45720" marT="18288" marB="18288" anchor="ctr">
                    <a:solidFill>
                      <a:srgbClr val="F7F9FB"/>
                    </a:solidFill>
                  </a:tcPr>
                </a:tc>
                <a:tc>
                  <a:txBody>
                    <a:bodyPr wrap="square"/>
                    <a:lstStyle/>
                    <a:p>
                      <a:pPr algn="ctr"/>
                      <a:r>
                        <a:rPr sz="850" b="0" i="0">
                          <a:solidFill>
                            <a:srgbClr val="1A1A1A"/>
                          </a:solidFill>
                          <a:latin typeface="Montserrat"/>
                        </a:rPr>
                        <a:t>No</a:t>
                      </a:r>
                    </a:p>
                  </a:txBody>
                  <a:tcPr marL="45720" marR="45720" marT="18288" marB="18288" anchor="ctr">
                    <a:solidFill>
                      <a:srgbClr val="F7F9FB"/>
                    </a:solidFill>
                  </a:tcPr>
                </a:tc>
                <a:tc>
                  <a:txBody>
                    <a:bodyPr wrap="square"/>
                    <a:lstStyle/>
                    <a:p>
                      <a:pPr algn="ctr"/>
                      <a:r>
                        <a:rPr sz="850" b="0" i="0">
                          <a:solidFill>
                            <a:srgbClr val="1A1A1A"/>
                          </a:solidFill>
                          <a:latin typeface="Montserrat"/>
                        </a:rPr>
                        <a:t>Helped EUR/USD, hurt GBP/USD</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Time-of-day / session</a:t>
                      </a:r>
                    </a:p>
                  </a:txBody>
                  <a:tcPr marL="45720" marR="45720" marT="18288" marB="18288" anchor="ctr">
                    <a:solidFill>
                      <a:srgbClr val="FFFFFF"/>
                    </a:solidFill>
                  </a:tcPr>
                </a:tc>
                <a:tc>
                  <a:txBody>
                    <a:bodyPr wrap="square"/>
                    <a:lstStyle/>
                    <a:p>
                      <a:pPr algn="ctr"/>
                      <a:r>
                        <a:rPr sz="850" b="0" i="0">
                          <a:solidFill>
                            <a:srgbClr val="1A1A1A"/>
                          </a:solidFill>
                          <a:latin typeface="Montserrat"/>
                        </a:rPr>
                        <a:t>No</a:t>
                      </a:r>
                    </a:p>
                  </a:txBody>
                  <a:tcPr marL="45720" marR="45720" marT="18288" marB="18288" anchor="ctr">
                    <a:solidFill>
                      <a:srgbClr val="FFFFFF"/>
                    </a:solidFill>
                  </a:tcPr>
                </a:tc>
                <a:tc>
                  <a:txBody>
                    <a:bodyPr wrap="square"/>
                    <a:lstStyle/>
                    <a:p>
                      <a:pPr algn="ctr"/>
                      <a:r>
                        <a:rPr sz="850" b="0" i="0">
                          <a:solidFill>
                            <a:srgbClr val="1A1A1A"/>
                          </a:solidFill>
                          <a:latin typeface="Montserrat"/>
                        </a:rPr>
                        <a:t>Helped EUR/USD, hurt GBP/USD</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Order blocks (SMC zones)</a:t>
                      </a:r>
                    </a:p>
                  </a:txBody>
                  <a:tcPr marL="45720" marR="45720" marT="18288" marB="18288" anchor="ctr">
                    <a:solidFill>
                      <a:srgbClr val="F7F9FB"/>
                    </a:solidFill>
                  </a:tcPr>
                </a:tc>
                <a:tc>
                  <a:txBody>
                    <a:bodyPr wrap="square"/>
                    <a:lstStyle/>
                    <a:p>
                      <a:pPr algn="ctr"/>
                      <a:r>
                        <a:rPr sz="850" b="0" i="0">
                          <a:solidFill>
                            <a:srgbClr val="1A1A1A"/>
                          </a:solidFill>
                          <a:latin typeface="Montserrat"/>
                        </a:rPr>
                        <a:t>Yes (Sirignano &amp; Cont)</a:t>
                      </a:r>
                    </a:p>
                  </a:txBody>
                  <a:tcPr marL="45720" marR="45720" marT="18288" marB="18288" anchor="ctr">
                    <a:solidFill>
                      <a:srgbClr val="F7F9FB"/>
                    </a:solidFill>
                  </a:tcPr>
                </a:tc>
                <a:tc>
                  <a:txBody>
                    <a:bodyPr wrap="square"/>
                    <a:lstStyle/>
                    <a:p>
                      <a:pPr algn="ctr"/>
                      <a:r>
                        <a:rPr sz="850" b="0" i="0">
                          <a:solidFill>
                            <a:srgbClr val="1A1A1A"/>
                          </a:solidFill>
                          <a:latin typeface="Montserrat"/>
                        </a:rPr>
                        <a:t>Helped GBP/USD only: 1 of 4 configurations</a:t>
                      </a:r>
                    </a:p>
                  </a:txBody>
                  <a:tcPr marL="45720" marR="45720" marT="18288" marB="18288" anchor="ctr">
                    <a:solidFill>
                      <a:srgbClr val="F7F9FB"/>
                    </a:solidFill>
                  </a:tcPr>
                </a:tc>
              </a:tr>
            </a:tbl>
          </a:graphicData>
        </a:graphic>
      </p:graphicFrame>
      <p:sp>
        <p:nvSpPr>
          <p:cNvPr id="7" name="TextBox 6"/>
          <p:cNvSpPr txBox="1"/>
          <p:nvPr/>
        </p:nvSpPr>
        <p:spPr>
          <a:xfrm>
            <a:off x="411480" y="3538728"/>
            <a:ext cx="8321040" cy="502920"/>
          </a:xfrm>
          <a:prstGeom prst="rect">
            <a:avLst/>
          </a:prstGeom>
          <a:noFill/>
        </p:spPr>
        <p:txBody>
          <a:bodyPr wrap="square" lIns="0" rIns="0" tIns="0" bIns="0" anchor="t">
            <a:spAutoFit/>
          </a:bodyPr>
          <a:lstStyle/>
          <a:p>
            <a:pPr algn="l"/>
            <a:r>
              <a:rPr sz="990" b="0" i="1">
                <a:solidFill>
                  <a:srgbClr val="1F3A5F"/>
                </a:solidFill>
                <a:latin typeface="Montserrat"/>
              </a:rPr>
              <a:t>Reporting these is a deliberate contribution: the widely-taught indicators did not generalise across two closely related currency pairs, which is evidence about the method, not a failure of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Case Study: Order Blocks, Tested Properly</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24</a:t>
            </a:r>
          </a:p>
        </p:txBody>
      </p:sp>
      <p:sp>
        <p:nvSpPr>
          <p:cNvPr id="5" name="TextBox 4"/>
          <p:cNvSpPr txBox="1"/>
          <p:nvPr/>
        </p:nvSpPr>
        <p:spPr>
          <a:xfrm>
            <a:off x="411480" y="932688"/>
            <a:ext cx="8321040" cy="1051560"/>
          </a:xfrm>
          <a:prstGeom prst="rect">
            <a:avLst/>
          </a:prstGeom>
          <a:noFill/>
        </p:spPr>
        <p:txBody>
          <a:bodyPr wrap="square" lIns="0" rIns="0" tIns="0" bIns="0">
            <a:spAutoFit/>
          </a:bodyPr>
          <a:lstStyle/>
          <a:p>
            <a:pPr>
              <a:spcAft>
                <a:spcPts val="400"/>
              </a:spcAft>
            </a:pPr>
            <a:r>
              <a:rPr sz="1080" b="0" i="0">
                <a:solidFill>
                  <a:srgbClr val="1A1A1A"/>
                </a:solidFill>
                <a:latin typeface="Montserrat"/>
              </a:rPr>
              <a:t>•  Order blocks are the core of the sibling live product, so the concept was implemented here and measured rather than asserted.</a:t>
            </a:r>
          </a:p>
          <a:p>
            <a:pPr lvl="1">
              <a:spcAft>
                <a:spcPts val="400"/>
              </a:spcAft>
            </a:pPr>
            <a:r>
              <a:rPr sz="990" b="0" i="0">
                <a:solidFill>
                  <a:srgbClr val="333333"/>
                </a:solidFill>
                <a:latin typeface="Montserrat"/>
              </a:rPr>
              <a:t>–  A zone is created when a candle CLOSES beyond the recent swing (a break of structure, not a wick), filtered by ATR size, and consumed when price trades back into it. The model receives distance-to-zone and an inside-zone flag.</a:t>
            </a:r>
          </a:p>
        </p:txBody>
      </p:sp>
      <p:graphicFrame>
        <p:nvGraphicFramePr>
          <p:cNvPr id="6" name="Table 5"/>
          <p:cNvGraphicFramePr>
            <a:graphicFrameLocks noGrp="1"/>
          </p:cNvGraphicFramePr>
          <p:nvPr/>
        </p:nvGraphicFramePr>
        <p:xfrm>
          <a:off x="411480" y="2029968"/>
          <a:ext cx="8321040" cy="1188720"/>
        </p:xfrm>
        <a:graphic>
          <a:graphicData uri="http://schemas.openxmlformats.org/drawingml/2006/table">
            <a:tbl>
              <a:tblPr firstRow="1" bandRow="1">
                <a:tableStyleId>{5C22544A-7EE6-4342-B048-85BDC9FD1C3A}</a:tableStyleId>
              </a:tblPr>
              <a:tblGrid>
                <a:gridCol w="2011680"/>
                <a:gridCol w="1234440"/>
                <a:gridCol w="1828800"/>
                <a:gridCol w="1828800"/>
                <a:gridCol w="1417320"/>
              </a:tblGrid>
              <a:tr h="237744">
                <a:tc>
                  <a:txBody>
                    <a:bodyPr wrap="square"/>
                    <a:lstStyle/>
                    <a:p>
                      <a:pPr algn="l"/>
                      <a:r>
                        <a:rPr sz="850" b="1" i="0">
                          <a:solidFill>
                            <a:srgbClr val="FFFFFF"/>
                          </a:solidFill>
                          <a:latin typeface="Montserrat"/>
                        </a:rPr>
                        <a:t>Configuration</a:t>
                      </a:r>
                    </a:p>
                  </a:txBody>
                  <a:tcPr marL="45720" marR="45720" marT="18288" marB="18288" anchor="ctr">
                    <a:solidFill>
                      <a:srgbClr val="1F3A5F"/>
                    </a:solidFill>
                  </a:tcPr>
                </a:tc>
                <a:tc>
                  <a:txBody>
                    <a:bodyPr wrap="square"/>
                    <a:lstStyle/>
                    <a:p>
                      <a:pPr algn="ctr"/>
                      <a:r>
                        <a:rPr sz="850" b="1" i="0">
                          <a:solidFill>
                            <a:srgbClr val="FFFFFF"/>
                          </a:solidFill>
                          <a:latin typeface="Montserrat"/>
                        </a:rPr>
                        <a:t>Pair</a:t>
                      </a:r>
                    </a:p>
                  </a:txBody>
                  <a:tcPr marL="45720" marR="45720" marT="18288" marB="18288" anchor="ctr">
                    <a:solidFill>
                      <a:srgbClr val="1F3A5F"/>
                    </a:solidFill>
                  </a:tcPr>
                </a:tc>
                <a:tc>
                  <a:txBody>
                    <a:bodyPr wrap="square"/>
                    <a:lstStyle/>
                    <a:p>
                      <a:pPr algn="ctr"/>
                      <a:r>
                        <a:rPr sz="850" b="1" i="0">
                          <a:solidFill>
                            <a:srgbClr val="FFFFFF"/>
                          </a:solidFill>
                          <a:latin typeface="Montserrat"/>
                        </a:rPr>
                        <a:t>Win rate</a:t>
                      </a:r>
                    </a:p>
                  </a:txBody>
                  <a:tcPr marL="45720" marR="45720" marT="18288" marB="18288" anchor="ctr">
                    <a:solidFill>
                      <a:srgbClr val="1F3A5F"/>
                    </a:solidFill>
                  </a:tcPr>
                </a:tc>
                <a:tc>
                  <a:txBody>
                    <a:bodyPr wrap="square"/>
                    <a:lstStyle/>
                    <a:p>
                      <a:pPr algn="ctr"/>
                      <a:r>
                        <a:rPr sz="850" b="1" i="0">
                          <a:solidFill>
                            <a:srgbClr val="FFFFFF"/>
                          </a:solidFill>
                          <a:latin typeface="Montserrat"/>
                        </a:rPr>
                        <a:t>Profit factor</a:t>
                      </a:r>
                    </a:p>
                  </a:txBody>
                  <a:tcPr marL="45720" marR="45720" marT="18288" marB="18288" anchor="ctr">
                    <a:solidFill>
                      <a:srgbClr val="1F3A5F"/>
                    </a:solidFill>
                  </a:tcPr>
                </a:tc>
                <a:tc>
                  <a:txBody>
                    <a:bodyPr wrap="square"/>
                    <a:lstStyle/>
                    <a:p>
                      <a:pPr algn="ctr"/>
                      <a:r>
                        <a:rPr sz="850" b="1" i="0">
                          <a:solidFill>
                            <a:srgbClr val="FFFFFF"/>
                          </a:solidFill>
                          <a:latin typeface="Montserrat"/>
                        </a:rPr>
                        <a:t>Verdict</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Default exits</a:t>
                      </a:r>
                    </a:p>
                  </a:txBody>
                  <a:tcPr marL="45720" marR="45720" marT="18288" marB="18288" anchor="ctr">
                    <a:solidFill>
                      <a:srgbClr val="FFFFFF"/>
                    </a:solidFill>
                  </a:tcPr>
                </a:tc>
                <a:tc>
                  <a:txBody>
                    <a:bodyPr wrap="square"/>
                    <a:lstStyle/>
                    <a:p>
                      <a:pPr algn="ctr"/>
                      <a:r>
                        <a:rPr sz="850" b="0" i="0">
                          <a:solidFill>
                            <a:srgbClr val="1A1A1A"/>
                          </a:solidFill>
                          <a:latin typeface="Montserrat"/>
                        </a:rPr>
                        <a:t>EUR/USD</a:t>
                      </a:r>
                    </a:p>
                  </a:txBody>
                  <a:tcPr marL="45720" marR="45720" marT="18288" marB="18288" anchor="ctr">
                    <a:solidFill>
                      <a:srgbClr val="FFFFFF"/>
                    </a:solidFill>
                  </a:tcPr>
                </a:tc>
                <a:tc>
                  <a:txBody>
                    <a:bodyPr wrap="square"/>
                    <a:lstStyle/>
                    <a:p>
                      <a:pPr algn="ctr"/>
                      <a:r>
                        <a:rPr sz="850" b="0" i="0">
                          <a:solidFill>
                            <a:srgbClr val="1A1A1A"/>
                          </a:solidFill>
                          <a:latin typeface="Montserrat"/>
                        </a:rPr>
                        <a:t>73.3% → 71.0%</a:t>
                      </a:r>
                    </a:p>
                  </a:txBody>
                  <a:tcPr marL="45720" marR="45720" marT="18288" marB="18288" anchor="ctr">
                    <a:solidFill>
                      <a:srgbClr val="FFFFFF"/>
                    </a:solidFill>
                  </a:tcPr>
                </a:tc>
                <a:tc>
                  <a:txBody>
                    <a:bodyPr wrap="square"/>
                    <a:lstStyle/>
                    <a:p>
                      <a:pPr algn="ctr"/>
                      <a:r>
                        <a:rPr sz="850" b="0" i="0">
                          <a:solidFill>
                            <a:srgbClr val="1A1A1A"/>
                          </a:solidFill>
                          <a:latin typeface="Montserrat"/>
                        </a:rPr>
                        <a:t>1.34 → 1.21</a:t>
                      </a:r>
                    </a:p>
                  </a:txBody>
                  <a:tcPr marL="45720" marR="45720" marT="18288" marB="18288" anchor="ctr">
                    <a:solidFill>
                      <a:srgbClr val="FFFFFF"/>
                    </a:solidFill>
                  </a:tcPr>
                </a:tc>
                <a:tc>
                  <a:txBody>
                    <a:bodyPr wrap="square"/>
                    <a:lstStyle/>
                    <a:p>
                      <a:pPr algn="ctr"/>
                      <a:r>
                        <a:rPr sz="850" b="0" i="0">
                          <a:solidFill>
                            <a:srgbClr val="1A1A1A"/>
                          </a:solidFill>
                          <a:latin typeface="Montserrat"/>
                        </a:rPr>
                        <a:t>worse</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Default exits</a:t>
                      </a:r>
                    </a:p>
                  </a:txBody>
                  <a:tcPr marL="45720" marR="45720" marT="18288" marB="18288" anchor="ctr">
                    <a:solidFill>
                      <a:srgbClr val="F7F9FB"/>
                    </a:solidFill>
                  </a:tcPr>
                </a:tc>
                <a:tc>
                  <a:txBody>
                    <a:bodyPr wrap="square"/>
                    <a:lstStyle/>
                    <a:p>
                      <a:pPr algn="ctr"/>
                      <a:r>
                        <a:rPr sz="850" b="0" i="0">
                          <a:solidFill>
                            <a:srgbClr val="1A1A1A"/>
                          </a:solidFill>
                          <a:latin typeface="Montserrat"/>
                        </a:rPr>
                        <a:t>GBP/USD</a:t>
                      </a:r>
                    </a:p>
                  </a:txBody>
                  <a:tcPr marL="45720" marR="45720" marT="18288" marB="18288" anchor="ctr">
                    <a:solidFill>
                      <a:srgbClr val="F7F9FB"/>
                    </a:solidFill>
                  </a:tcPr>
                </a:tc>
                <a:tc>
                  <a:txBody>
                    <a:bodyPr wrap="square"/>
                    <a:lstStyle/>
                    <a:p>
                      <a:pPr algn="ctr"/>
                      <a:r>
                        <a:rPr sz="850" b="0" i="0">
                          <a:solidFill>
                            <a:srgbClr val="1A1A1A"/>
                          </a:solidFill>
                          <a:latin typeface="Montserrat"/>
                        </a:rPr>
                        <a:t>78.4% → 79.1%</a:t>
                      </a:r>
                    </a:p>
                  </a:txBody>
                  <a:tcPr marL="45720" marR="45720" marT="18288" marB="18288" anchor="ctr">
                    <a:solidFill>
                      <a:srgbClr val="F7F9FB"/>
                    </a:solidFill>
                  </a:tcPr>
                </a:tc>
                <a:tc>
                  <a:txBody>
                    <a:bodyPr wrap="square"/>
                    <a:lstStyle/>
                    <a:p>
                      <a:pPr algn="ctr"/>
                      <a:r>
                        <a:rPr sz="850" b="0" i="0">
                          <a:solidFill>
                            <a:srgbClr val="1A1A1A"/>
                          </a:solidFill>
                          <a:latin typeface="Montserrat"/>
                        </a:rPr>
                        <a:t>1.62 → 1.77</a:t>
                      </a:r>
                    </a:p>
                  </a:txBody>
                  <a:tcPr marL="45720" marR="45720" marT="18288" marB="18288" anchor="ctr">
                    <a:solidFill>
                      <a:srgbClr val="F7F9FB"/>
                    </a:solidFill>
                  </a:tcPr>
                </a:tc>
                <a:tc>
                  <a:txBody>
                    <a:bodyPr wrap="square"/>
                    <a:lstStyle/>
                    <a:p>
                      <a:pPr algn="ctr"/>
                      <a:r>
                        <a:rPr sz="850" b="0" i="0">
                          <a:solidFill>
                            <a:srgbClr val="1A1A1A"/>
                          </a:solidFill>
                          <a:latin typeface="Montserrat"/>
                        </a:rPr>
                        <a:t>better</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Far take-profit</a:t>
                      </a:r>
                    </a:p>
                  </a:txBody>
                  <a:tcPr marL="45720" marR="45720" marT="18288" marB="18288" anchor="ctr">
                    <a:solidFill>
                      <a:srgbClr val="FFFFFF"/>
                    </a:solidFill>
                  </a:tcPr>
                </a:tc>
                <a:tc>
                  <a:txBody>
                    <a:bodyPr wrap="square"/>
                    <a:lstStyle/>
                    <a:p>
                      <a:pPr algn="ctr"/>
                      <a:r>
                        <a:rPr sz="850" b="0" i="0">
                          <a:solidFill>
                            <a:srgbClr val="1A1A1A"/>
                          </a:solidFill>
                          <a:latin typeface="Montserrat"/>
                        </a:rPr>
                        <a:t>EUR/USD</a:t>
                      </a:r>
                    </a:p>
                  </a:txBody>
                  <a:tcPr marL="45720" marR="45720" marT="18288" marB="18288" anchor="ctr">
                    <a:solidFill>
                      <a:srgbClr val="FFFFFF"/>
                    </a:solidFill>
                  </a:tcPr>
                </a:tc>
                <a:tc>
                  <a:txBody>
                    <a:bodyPr wrap="square"/>
                    <a:lstStyle/>
                    <a:p>
                      <a:pPr algn="ctr"/>
                      <a:r>
                        <a:rPr sz="850" b="0" i="0">
                          <a:solidFill>
                            <a:srgbClr val="1A1A1A"/>
                          </a:solidFill>
                          <a:latin typeface="Montserrat"/>
                        </a:rPr>
                        <a:t>36.8% → 30.0%</a:t>
                      </a:r>
                    </a:p>
                  </a:txBody>
                  <a:tcPr marL="45720" marR="45720" marT="18288" marB="18288" anchor="ctr">
                    <a:solidFill>
                      <a:srgbClr val="FFFFFF"/>
                    </a:solidFill>
                  </a:tcPr>
                </a:tc>
                <a:tc>
                  <a:txBody>
                    <a:bodyPr wrap="square"/>
                    <a:lstStyle/>
                    <a:p>
                      <a:pPr algn="ctr"/>
                      <a:r>
                        <a:rPr sz="850" b="0" i="0">
                          <a:solidFill>
                            <a:srgbClr val="1A1A1A"/>
                          </a:solidFill>
                          <a:latin typeface="Montserrat"/>
                        </a:rPr>
                        <a:t>1.42 → 1.09</a:t>
                      </a:r>
                    </a:p>
                  </a:txBody>
                  <a:tcPr marL="45720" marR="45720" marT="18288" marB="18288" anchor="ctr">
                    <a:solidFill>
                      <a:srgbClr val="FFFFFF"/>
                    </a:solidFill>
                  </a:tcPr>
                </a:tc>
                <a:tc>
                  <a:txBody>
                    <a:bodyPr wrap="square"/>
                    <a:lstStyle/>
                    <a:p>
                      <a:pPr algn="ctr"/>
                      <a:r>
                        <a:rPr sz="850" b="0" i="0">
                          <a:solidFill>
                            <a:srgbClr val="1A1A1A"/>
                          </a:solidFill>
                          <a:latin typeface="Montserrat"/>
                        </a:rPr>
                        <a:t>worse</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Far take-profit</a:t>
                      </a:r>
                    </a:p>
                  </a:txBody>
                  <a:tcPr marL="45720" marR="45720" marT="18288" marB="18288" anchor="ctr">
                    <a:solidFill>
                      <a:srgbClr val="F7F9FB"/>
                    </a:solidFill>
                  </a:tcPr>
                </a:tc>
                <a:tc>
                  <a:txBody>
                    <a:bodyPr wrap="square"/>
                    <a:lstStyle/>
                    <a:p>
                      <a:pPr algn="ctr"/>
                      <a:r>
                        <a:rPr sz="850" b="0" i="0">
                          <a:solidFill>
                            <a:srgbClr val="1A1A1A"/>
                          </a:solidFill>
                          <a:latin typeface="Montserrat"/>
                        </a:rPr>
                        <a:t>GBP/USD</a:t>
                      </a:r>
                    </a:p>
                  </a:txBody>
                  <a:tcPr marL="45720" marR="45720" marT="18288" marB="18288" anchor="ctr">
                    <a:solidFill>
                      <a:srgbClr val="F7F9FB"/>
                    </a:solidFill>
                  </a:tcPr>
                </a:tc>
                <a:tc>
                  <a:txBody>
                    <a:bodyPr wrap="square"/>
                    <a:lstStyle/>
                    <a:p>
                      <a:pPr algn="ctr"/>
                      <a:r>
                        <a:rPr sz="850" b="0" i="0">
                          <a:solidFill>
                            <a:srgbClr val="1A1A1A"/>
                          </a:solidFill>
                          <a:latin typeface="Montserrat"/>
                        </a:rPr>
                        <a:t>50.0% → 36.8%</a:t>
                      </a:r>
                    </a:p>
                  </a:txBody>
                  <a:tcPr marL="45720" marR="45720" marT="18288" marB="18288" anchor="ctr">
                    <a:solidFill>
                      <a:srgbClr val="F7F9FB"/>
                    </a:solidFill>
                  </a:tcPr>
                </a:tc>
                <a:tc>
                  <a:txBody>
                    <a:bodyPr wrap="square"/>
                    <a:lstStyle/>
                    <a:p>
                      <a:pPr algn="ctr"/>
                      <a:r>
                        <a:rPr sz="850" b="0" i="0">
                          <a:solidFill>
                            <a:srgbClr val="1A1A1A"/>
                          </a:solidFill>
                          <a:latin typeface="Montserrat"/>
                        </a:rPr>
                        <a:t>2.42 → 1.78</a:t>
                      </a:r>
                    </a:p>
                  </a:txBody>
                  <a:tcPr marL="45720" marR="45720" marT="18288" marB="18288" anchor="ctr">
                    <a:solidFill>
                      <a:srgbClr val="F7F9FB"/>
                    </a:solidFill>
                  </a:tcPr>
                </a:tc>
                <a:tc>
                  <a:txBody>
                    <a:bodyPr wrap="square"/>
                    <a:lstStyle/>
                    <a:p>
                      <a:pPr algn="ctr"/>
                      <a:r>
                        <a:rPr sz="850" b="0" i="0">
                          <a:solidFill>
                            <a:srgbClr val="1A1A1A"/>
                          </a:solidFill>
                          <a:latin typeface="Montserrat"/>
                        </a:rPr>
                        <a:t>worse</a:t>
                      </a:r>
                    </a:p>
                  </a:txBody>
                  <a:tcPr marL="45720" marR="45720" marT="18288" marB="18288" anchor="ctr">
                    <a:solidFill>
                      <a:srgbClr val="F7F9FB"/>
                    </a:solidFill>
                  </a:tcPr>
                </a:tc>
              </a:tr>
            </a:tbl>
          </a:graphicData>
        </a:graphic>
      </p:graphicFrame>
      <p:sp>
        <p:nvSpPr>
          <p:cNvPr id="7" name="TextBox 6"/>
          <p:cNvSpPr txBox="1"/>
          <p:nvPr/>
        </p:nvSpPr>
        <p:spPr>
          <a:xfrm>
            <a:off x="411480" y="3538728"/>
            <a:ext cx="8321040" cy="1330452"/>
          </a:xfrm>
          <a:prstGeom prst="rect">
            <a:avLst/>
          </a:prstGeom>
          <a:noFill/>
        </p:spPr>
        <p:txBody>
          <a:bodyPr wrap="square" lIns="0" rIns="0" tIns="0" bIns="0">
            <a:spAutoFit/>
          </a:bodyPr>
          <a:lstStyle/>
          <a:p>
            <a:pPr>
              <a:spcAft>
                <a:spcPts val="400"/>
              </a:spcAft>
            </a:pPr>
            <a:r>
              <a:rPr sz="1030" b="0" i="0">
                <a:solidFill>
                  <a:srgbClr val="1A1A1A"/>
                </a:solidFill>
                <a:latin typeface="Montserrat"/>
              </a:rPr>
              <a:t>•  The model DID use them; the order-block features carry about 20% of total feature importance. This was not an ignored input.</a:t>
            </a:r>
          </a:p>
          <a:p>
            <a:pPr>
              <a:spcAft>
                <a:spcPts val="400"/>
              </a:spcAft>
            </a:pPr>
            <a:r>
              <a:rPr sz="1030" b="0" i="0">
                <a:solidFill>
                  <a:srgbClr val="1A1A1A"/>
                </a:solidFill>
                <a:latin typeface="Montserrat"/>
              </a:rPr>
              <a:t>•  But the textbook part was the useless part: the 'price is inside a zone' flag scored 0.001 importance, because price is inside a live zone on only 3.5% of candles. What the model used was proximity, not the zone as a trigger.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Evidence: Backtest Run and Dashboard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25</a:t>
            </a:r>
          </a:p>
        </p:txBody>
      </p:sp>
      <p:sp>
        <p:nvSpPr>
          <p:cNvPr id="5" name="Rectangle 4"/>
          <p:cNvSpPr/>
          <p:nvPr/>
        </p:nvSpPr>
        <p:spPr>
          <a:xfrm>
            <a:off x="41148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TextBox 5"/>
          <p:cNvSpPr txBox="1"/>
          <p:nvPr/>
        </p:nvSpPr>
        <p:spPr>
          <a:xfrm>
            <a:off x="41148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7" name="TextBox 6"/>
          <p:cNvSpPr txBox="1"/>
          <p:nvPr/>
        </p:nvSpPr>
        <p:spPr>
          <a:xfrm>
            <a:off x="54864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Terminal output of:
scripts/run_backtest.py EURUSD 1h
Show the metrics block and the PASS/FAIL lines against targets.</a:t>
            </a:r>
          </a:p>
        </p:txBody>
      </p:sp>
      <p:sp>
        <p:nvSpPr>
          <p:cNvPr id="8" name="Rectangle 7"/>
          <p:cNvSpPr/>
          <p:nvPr/>
        </p:nvSpPr>
        <p:spPr>
          <a:xfrm>
            <a:off x="470916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9" name="TextBox 8"/>
          <p:cNvSpPr txBox="1"/>
          <p:nvPr/>
        </p:nvSpPr>
        <p:spPr>
          <a:xfrm>
            <a:off x="470916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10" name="TextBox 9"/>
          <p:cNvSpPr txBox="1"/>
          <p:nvPr/>
        </p:nvSpPr>
        <p:spPr>
          <a:xfrm>
            <a:off x="484632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Streamlit dashboard at localhost:8501
Show the metric cards, the equity curve and the trade table.</a:t>
            </a:r>
          </a:p>
        </p:txBody>
      </p:sp>
      <p:sp>
        <p:nvSpPr>
          <p:cNvPr id="11" name="TextBox 10"/>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7: Reproducible backtest output (left) and the monitoring dashboard (right)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Deployment: A Documented Engineering Finding</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26</a:t>
            </a:r>
          </a:p>
        </p:txBody>
      </p:sp>
      <p:sp>
        <p:nvSpPr>
          <p:cNvPr id="5" name="TextBox 4"/>
          <p:cNvSpPr txBox="1"/>
          <p:nvPr/>
        </p:nvSpPr>
        <p:spPr>
          <a:xfrm>
            <a:off x="411480" y="932688"/>
            <a:ext cx="8321040" cy="2286000"/>
          </a:xfrm>
          <a:prstGeom prst="rect">
            <a:avLst/>
          </a:prstGeom>
          <a:noFill/>
        </p:spPr>
        <p:txBody>
          <a:bodyPr wrap="square" lIns="0" rIns="0" tIns="0" bIns="0">
            <a:spAutoFit/>
          </a:bodyPr>
          <a:lstStyle/>
          <a:p>
            <a:pPr>
              <a:spcAft>
                <a:spcPts val="400"/>
              </a:spcAft>
            </a:pPr>
            <a:r>
              <a:rPr sz="1080" b="1" i="0">
                <a:solidFill>
                  <a:srgbClr val="1A1A1A"/>
                </a:solidFill>
                <a:latin typeface="Montserrat"/>
              </a:rPr>
              <a:t>•  The plan was to run MetaTrader 5 headless in a Linux Docker container under Wine.</a:t>
            </a:r>
          </a:p>
          <a:p>
            <a:pPr lvl="1">
              <a:spcAft>
                <a:spcPts val="400"/>
              </a:spcAft>
            </a:pPr>
            <a:r>
              <a:rPr sz="990" b="0" i="0">
                <a:solidFill>
                  <a:srgbClr val="333333"/>
                </a:solidFill>
                <a:latin typeface="Montserrat"/>
              </a:rPr>
              <a:t>–  It cannot work. MetaTrader's Python API fails to initialise under Wine with error -10005 (an inter-process communication timeout), reproduced across three environments, including native x86 with no emulation, and including a byte-for-byte copy of a published working reference.</a:t>
            </a:r>
          </a:p>
          <a:p>
            <a:pPr>
              <a:spcAft>
                <a:spcPts val="400"/>
              </a:spcAft>
            </a:pPr>
            <a:r>
              <a:rPr sz="1080" b="1" i="0">
                <a:solidFill>
                  <a:srgbClr val="1A1A1A"/>
                </a:solidFill>
                <a:latin typeface="Montserrat"/>
              </a:rPr>
              <a:t>•  The resolution:</a:t>
            </a:r>
          </a:p>
          <a:p>
            <a:pPr lvl="1">
              <a:spcAft>
                <a:spcPts val="400"/>
              </a:spcAft>
            </a:pPr>
            <a:r>
              <a:rPr sz="990" b="0" i="0">
                <a:solidFill>
                  <a:srgbClr val="333333"/>
                </a:solidFill>
                <a:latin typeface="Montserrat"/>
              </a:rPr>
              <a:t>–  A native Windows host runs the terminal and a small RPC service; the analytical engine runs unchanged on macOS or Linux and reaches it over TCP. On Windows the same API initialises on the first attempt.</a:t>
            </a:r>
          </a:p>
          <a:p>
            <a:pPr>
              <a:spcAft>
                <a:spcPts val="400"/>
              </a:spcAft>
            </a:pPr>
            <a:r>
              <a:rPr sz="1080" b="1" i="0">
                <a:solidFill>
                  <a:srgbClr val="1A1A1A"/>
                </a:solidFill>
                <a:latin typeface="Montserrat"/>
              </a:rPr>
              <a:t>•  Why this belongs in the report:</a:t>
            </a:r>
          </a:p>
          <a:p>
            <a:pPr lvl="1">
              <a:spcAft>
                <a:spcPts val="400"/>
              </a:spcAft>
            </a:pPr>
            <a:r>
              <a:rPr sz="990" b="0" i="0">
                <a:solidFill>
                  <a:srgbClr val="333333"/>
                </a:solidFill>
                <a:latin typeface="Montserrat"/>
              </a:rPr>
              <a:t>–  It is a negative engineering result with a clear cause, a reproduction, and a working alternative, and it is exactly the kind of finding that saves the next person weeks.</a:t>
            </a:r>
          </a:p>
        </p:txBody>
      </p:sp>
      <p:sp>
        <p:nvSpPr>
          <p:cNvPr id="6" name="Rounded Rectangle 5"/>
          <p:cNvSpPr/>
          <p:nvPr/>
        </p:nvSpPr>
        <p:spPr>
          <a:xfrm>
            <a:off x="502920" y="3429000"/>
            <a:ext cx="2011680" cy="50292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Engine</a:t>
            </a:r>
          </a:p>
          <a:p>
            <a:pPr algn="ctr"/>
            <a:r>
              <a:rPr sz="800" b="0" i="0">
                <a:solidFill>
                  <a:srgbClr val="1A1A1A"/>
                </a:solidFill>
                <a:latin typeface="Montserrat"/>
              </a:rPr>
              <a:t>(macOS / Linux)</a:t>
            </a:r>
          </a:p>
        </p:txBody>
      </p:sp>
      <p:sp>
        <p:nvSpPr>
          <p:cNvPr id="7" name="Rounded Rectangle 6"/>
          <p:cNvSpPr/>
          <p:nvPr/>
        </p:nvSpPr>
        <p:spPr>
          <a:xfrm>
            <a:off x="3154680" y="3429000"/>
            <a:ext cx="2011680" cy="50292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RPC Service</a:t>
            </a:r>
          </a:p>
          <a:p>
            <a:pPr algn="ctr"/>
            <a:r>
              <a:rPr sz="800" b="0" i="0">
                <a:solidFill>
                  <a:srgbClr val="1A1A1A"/>
                </a:solidFill>
                <a:latin typeface="Montserrat"/>
              </a:rPr>
              <a:t>(Windows host)</a:t>
            </a:r>
          </a:p>
        </p:txBody>
      </p:sp>
      <p:sp>
        <p:nvSpPr>
          <p:cNvPr id="8" name="Rounded Rectangle 7"/>
          <p:cNvSpPr/>
          <p:nvPr/>
        </p:nvSpPr>
        <p:spPr>
          <a:xfrm>
            <a:off x="5806440" y="3429000"/>
            <a:ext cx="2011680" cy="50292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MetaTrader 5</a:t>
            </a:r>
          </a:p>
          <a:p>
            <a:pPr algn="ctr"/>
            <a:r>
              <a:rPr sz="800" b="0" i="0">
                <a:solidFill>
                  <a:srgbClr val="1A1A1A"/>
                </a:solidFill>
                <a:latin typeface="Montserrat"/>
              </a:rPr>
              <a:t>(demo account)</a:t>
            </a:r>
          </a:p>
        </p:txBody>
      </p:sp>
      <p:cxnSp>
        <p:nvCxnSpPr>
          <p:cNvPr id="9" name="Connector 8"/>
          <p:cNvCxnSpPr/>
          <p:nvPr/>
        </p:nvCxnSpPr>
        <p:spPr>
          <a:xfrm>
            <a:off x="2514600" y="3675888"/>
            <a:ext cx="640080" cy="0"/>
          </a:xfrm>
          <a:prstGeom prst="line">
            <a:avLst/>
          </a:prstGeom>
          <a:ln w="12700">
            <a:solidFill>
              <a:srgbClr val="1A1A1A"/>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166360" y="3675888"/>
            <a:ext cx="640080" cy="0"/>
          </a:xfrm>
          <a:prstGeom prst="line">
            <a:avLst/>
          </a:prstGeom>
          <a:ln w="12700">
            <a:solidFill>
              <a:srgbClr val="1A1A1A"/>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423160" y="3246120"/>
            <a:ext cx="822960" cy="182880"/>
          </a:xfrm>
          <a:prstGeom prst="rect">
            <a:avLst/>
          </a:prstGeom>
          <a:noFill/>
        </p:spPr>
        <p:txBody>
          <a:bodyPr wrap="square" lIns="0" rIns="0" tIns="0" bIns="0" anchor="t">
            <a:spAutoFit/>
          </a:bodyPr>
          <a:lstStyle/>
          <a:p>
            <a:pPr algn="ctr"/>
            <a:r>
              <a:rPr sz="700" b="0" i="0">
                <a:solidFill>
                  <a:srgbClr val="333333"/>
                </a:solidFill>
                <a:latin typeface="Montserrat"/>
              </a:rPr>
              <a:t>JSON over TCP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From Research to a Live Product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27</a:t>
            </a:r>
          </a:p>
        </p:txBody>
      </p:sp>
      <p:sp>
        <p:nvSpPr>
          <p:cNvPr id="5" name="TextBox 4"/>
          <p:cNvSpPr txBox="1"/>
          <p:nvPr/>
        </p:nvSpPr>
        <p:spPr>
          <a:xfrm>
            <a:off x="411480" y="932688"/>
            <a:ext cx="8321040" cy="320040"/>
          </a:xfrm>
          <a:prstGeom prst="rect">
            <a:avLst/>
          </a:prstGeom>
          <a:noFill/>
        </p:spPr>
        <p:txBody>
          <a:bodyPr wrap="square" lIns="0" rIns="0" tIns="0" bIns="0" anchor="t">
            <a:spAutoFit/>
          </a:bodyPr>
          <a:lstStyle/>
          <a:p>
            <a:pPr algn="l"/>
            <a:r>
              <a:rPr sz="1130" b="1" i="0">
                <a:solidFill>
                  <a:srgbClr val="1F3A5F"/>
                </a:solidFill>
                <a:latin typeface="Montserrat"/>
              </a:rPr>
              <a:t>The execution architecture developed in this research is the same architecture now running in a live production trading system (Gadel).</a:t>
            </a:r>
          </a:p>
        </p:txBody>
      </p:sp>
      <p:sp>
        <p:nvSpPr>
          <p:cNvPr id="6" name="Rectangle 5"/>
          <p:cNvSpPr/>
          <p:nvPr/>
        </p:nvSpPr>
        <p:spPr>
          <a:xfrm>
            <a:off x="411480" y="1371600"/>
            <a:ext cx="4023360" cy="29260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40" b="1" i="0">
                <a:solidFill>
                  <a:srgbClr val="FFFFFF"/>
                </a:solidFill>
                <a:latin typeface="Montserrat"/>
              </a:rPr>
              <a:t>THIS PROJECT  (research)</a:t>
            </a:r>
          </a:p>
        </p:txBody>
      </p:sp>
      <p:sp>
        <p:nvSpPr>
          <p:cNvPr id="7" name="Rectangle 6"/>
          <p:cNvSpPr/>
          <p:nvPr/>
        </p:nvSpPr>
        <p:spPr>
          <a:xfrm>
            <a:off x="411480" y="1737360"/>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Streamlit dashboard</a:t>
            </a:r>
          </a:p>
        </p:txBody>
      </p:sp>
      <p:cxnSp>
        <p:nvCxnSpPr>
          <p:cNvPr id="8" name="Connector 7"/>
          <p:cNvCxnSpPr/>
          <p:nvPr/>
        </p:nvCxnSpPr>
        <p:spPr>
          <a:xfrm>
            <a:off x="2423160" y="2066544"/>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11480" y="2121408"/>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Signal Generator (Z-Score AND Random Forest)</a:t>
            </a:r>
          </a:p>
        </p:txBody>
      </p:sp>
      <p:cxnSp>
        <p:nvCxnSpPr>
          <p:cNvPr id="10" name="Connector 9"/>
          <p:cNvCxnSpPr/>
          <p:nvPr/>
        </p:nvCxnSpPr>
        <p:spPr>
          <a:xfrm>
            <a:off x="2423160" y="2450592"/>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11480" y="2505456"/>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Risk Manager</a:t>
            </a:r>
          </a:p>
        </p:txBody>
      </p:sp>
      <p:cxnSp>
        <p:nvCxnSpPr>
          <p:cNvPr id="12" name="Connector 11"/>
          <p:cNvCxnSpPr/>
          <p:nvPr/>
        </p:nvCxnSpPr>
        <p:spPr>
          <a:xfrm>
            <a:off x="2423160" y="2834640"/>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11480" y="2889504"/>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Abstract ExecutionHandler</a:t>
            </a:r>
          </a:p>
        </p:txBody>
      </p:sp>
      <p:cxnSp>
        <p:nvCxnSpPr>
          <p:cNvPr id="14" name="Connector 13"/>
          <p:cNvCxnSpPr/>
          <p:nvPr/>
        </p:nvCxnSpPr>
        <p:spPr>
          <a:xfrm>
            <a:off x="2423160" y="3218688"/>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11480" y="3273552"/>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RPC service</a:t>
            </a:r>
          </a:p>
        </p:txBody>
      </p:sp>
      <p:cxnSp>
        <p:nvCxnSpPr>
          <p:cNvPr id="16" name="Connector 15"/>
          <p:cNvCxnSpPr/>
          <p:nvPr/>
        </p:nvCxnSpPr>
        <p:spPr>
          <a:xfrm>
            <a:off x="2423160" y="3602736"/>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11480" y="3657600"/>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MetaTrader 5  (demo)</a:t>
            </a:r>
          </a:p>
        </p:txBody>
      </p:sp>
      <p:sp>
        <p:nvSpPr>
          <p:cNvPr id="18" name="Rectangle 17"/>
          <p:cNvSpPr/>
          <p:nvPr/>
        </p:nvSpPr>
        <p:spPr>
          <a:xfrm>
            <a:off x="4709160" y="1371600"/>
            <a:ext cx="4023360" cy="29260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40" b="1" i="0">
                <a:solidFill>
                  <a:srgbClr val="FFFFFF"/>
                </a:solidFill>
                <a:latin typeface="Montserrat"/>
              </a:rPr>
              <a:t>GADEL  (live production)</a:t>
            </a:r>
          </a:p>
        </p:txBody>
      </p:sp>
      <p:sp>
        <p:nvSpPr>
          <p:cNvPr id="19" name="Rectangle 18"/>
          <p:cNvSpPr/>
          <p:nvPr/>
        </p:nvSpPr>
        <p:spPr>
          <a:xfrm>
            <a:off x="4709160" y="1737360"/>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Web dashboard</a:t>
            </a:r>
          </a:p>
        </p:txBody>
      </p:sp>
      <p:cxnSp>
        <p:nvCxnSpPr>
          <p:cNvPr id="20" name="Connector 19"/>
          <p:cNvCxnSpPr/>
          <p:nvPr/>
        </p:nvCxnSpPr>
        <p:spPr>
          <a:xfrm>
            <a:off x="6720840" y="2066544"/>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709160" y="2121408"/>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MQL5 Expert Advisor (EMA cross AND order blocks)</a:t>
            </a:r>
          </a:p>
        </p:txBody>
      </p:sp>
      <p:cxnSp>
        <p:nvCxnSpPr>
          <p:cNvPr id="22" name="Connector 21"/>
          <p:cNvCxnSpPr/>
          <p:nvPr/>
        </p:nvCxnSpPr>
        <p:spPr>
          <a:xfrm>
            <a:off x="6720840" y="2450592"/>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4709160" y="2505456"/>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Risk / position manager</a:t>
            </a:r>
          </a:p>
        </p:txBody>
      </p:sp>
      <p:cxnSp>
        <p:nvCxnSpPr>
          <p:cNvPr id="24" name="Connector 23"/>
          <p:cNvCxnSpPr/>
          <p:nvPr/>
        </p:nvCxnSpPr>
        <p:spPr>
          <a:xfrm>
            <a:off x="6720840" y="2834640"/>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4709160" y="2889504"/>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Abstract execution layer</a:t>
            </a:r>
          </a:p>
        </p:txBody>
      </p:sp>
      <p:cxnSp>
        <p:nvCxnSpPr>
          <p:cNvPr id="26" name="Connector 25"/>
          <p:cNvCxnSpPr/>
          <p:nvPr/>
        </p:nvCxnSpPr>
        <p:spPr>
          <a:xfrm>
            <a:off x="6720840" y="3218688"/>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4709160" y="3273552"/>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RPC service</a:t>
            </a:r>
          </a:p>
        </p:txBody>
      </p:sp>
      <p:cxnSp>
        <p:nvCxnSpPr>
          <p:cNvPr id="28" name="Connector 27"/>
          <p:cNvCxnSpPr/>
          <p:nvPr/>
        </p:nvCxnSpPr>
        <p:spPr>
          <a:xfrm>
            <a:off x="6720840" y="3602736"/>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709160" y="3657600"/>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MetaTrader 5  (live)</a:t>
            </a:r>
          </a:p>
        </p:txBody>
      </p:sp>
      <p:sp>
        <p:nvSpPr>
          <p:cNvPr id="30" name="TextBox 29"/>
          <p:cNvSpPr txBox="1"/>
          <p:nvPr/>
        </p:nvSpPr>
        <p:spPr>
          <a:xfrm>
            <a:off x="411480" y="4315968"/>
            <a:ext cx="8321040" cy="365760"/>
          </a:xfrm>
          <a:prstGeom prst="rect">
            <a:avLst/>
          </a:prstGeom>
          <a:noFill/>
        </p:spPr>
        <p:txBody>
          <a:bodyPr wrap="square" lIns="0" rIns="0" tIns="0" bIns="0" anchor="t">
            <a:spAutoFit/>
          </a:bodyPr>
          <a:lstStyle/>
          <a:p>
            <a:pPr algn="ctr"/>
            <a:r>
              <a:rPr sz="890" b="0" i="1">
                <a:solidFill>
                  <a:srgbClr val="1F3A5F"/>
                </a:solidFill>
                <a:latin typeface="Montserrat"/>
              </a:rPr>
              <a:t>Shared (highlighted): the abstract execution interface and the RPC boundary, the two components this research designed and proved.</a:t>
            </a:r>
          </a:p>
        </p:txBody>
      </p:sp>
      <p:sp>
        <p:nvSpPr>
          <p:cNvPr id="31" name="TextBox 30"/>
          <p:cNvSpPr txBox="1"/>
          <p:nvPr/>
        </p:nvSpPr>
        <p:spPr>
          <a:xfrm>
            <a:off x="411480" y="4832604"/>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8: Architectural correspondence between the research system and the live product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What the Live Product Does and Does Not Prove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28</a:t>
            </a:r>
          </a:p>
        </p:txBody>
      </p:sp>
      <p:sp>
        <p:nvSpPr>
          <p:cNvPr id="5" name="Rectangle 4"/>
          <p:cNvSpPr/>
          <p:nvPr/>
        </p:nvSpPr>
        <p:spPr>
          <a:xfrm>
            <a:off x="411480" y="978408"/>
            <a:ext cx="4023360" cy="310896"/>
          </a:xfrm>
          <a:prstGeom prst="rect">
            <a:avLst/>
          </a:prstGeom>
          <a:solidFill>
            <a:srgbClr val="1B6B3A"/>
          </a:solidFill>
          <a:ln w="12700">
            <a:solidFill>
              <a:srgbClr val="1B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90" b="1" i="0">
                <a:solidFill>
                  <a:srgbClr val="FFFFFF"/>
                </a:solidFill>
                <a:latin typeface="Montserrat"/>
              </a:rPr>
              <a:t>IT SUPPORTS</a:t>
            </a:r>
          </a:p>
        </p:txBody>
      </p:sp>
      <p:sp>
        <p:nvSpPr>
          <p:cNvPr id="6" name="TextBox 5"/>
          <p:cNvSpPr txBox="1"/>
          <p:nvPr/>
        </p:nvSpPr>
        <p:spPr>
          <a:xfrm>
            <a:off x="521208" y="1408176"/>
            <a:ext cx="3794760" cy="2377440"/>
          </a:xfrm>
          <a:prstGeom prst="rect">
            <a:avLst/>
          </a:prstGeom>
          <a:noFill/>
        </p:spPr>
        <p:txBody>
          <a:bodyPr wrap="square">
            <a:spAutoFit/>
          </a:bodyPr>
          <a:lstStyle/>
          <a:p>
            <a:pPr>
              <a:spcAft>
                <a:spcPts val="800"/>
              </a:spcAft>
            </a:pPr>
            <a:r>
              <a:rPr sz="940" b="0" i="0">
                <a:solidFill>
                  <a:srgbClr val="1A1A1A"/>
                </a:solidFill>
                <a:latin typeface="Montserrat"/>
              </a:rPr>
              <a:t>•  That the execution architecture works in production, under real conditions.</a:t>
            </a:r>
          </a:p>
          <a:p>
            <a:pPr>
              <a:spcAft>
                <a:spcPts val="800"/>
              </a:spcAft>
            </a:pPr>
            <a:r>
              <a:rPr sz="940" b="0" i="0">
                <a:solidFill>
                  <a:srgbClr val="1A1A1A"/>
                </a:solidFill>
                <a:latin typeface="Montserrat"/>
              </a:rPr>
              <a:t>•  That Wine is a dead end and native Windows is the correct deployment route.</a:t>
            </a:r>
          </a:p>
          <a:p>
            <a:pPr>
              <a:spcAft>
                <a:spcPts val="800"/>
              </a:spcAft>
            </a:pPr>
            <a:r>
              <a:rPr sz="940" b="0" i="0">
                <a:solidFill>
                  <a:srgbClr val="1A1A1A"/>
                </a:solidFill>
                <a:latin typeface="Montserrat"/>
              </a:rPr>
              <a:t>•  Five defects in this project's live-order path that only real trading exposes: fill modes, thread affinity, magic numbers, lot rounding, whitespace in server names, and all have since been fixed here.</a:t>
            </a:r>
          </a:p>
        </p:txBody>
      </p:sp>
      <p:sp>
        <p:nvSpPr>
          <p:cNvPr id="7" name="Rectangle 6"/>
          <p:cNvSpPr/>
          <p:nvPr/>
        </p:nvSpPr>
        <p:spPr>
          <a:xfrm>
            <a:off x="4709160" y="978408"/>
            <a:ext cx="4023360" cy="310896"/>
          </a:xfrm>
          <a:prstGeom prst="rect">
            <a:avLst/>
          </a:prstGeom>
          <a:solidFill>
            <a:srgbClr val="A31D1D"/>
          </a:solidFill>
          <a:ln w="12700">
            <a:solidFill>
              <a:srgbClr val="A31D1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90" b="1" i="0">
                <a:solidFill>
                  <a:srgbClr val="FFFFFF"/>
                </a:solidFill>
                <a:latin typeface="Montserrat"/>
              </a:rPr>
              <a:t>IT DOES NOT SUPPORT</a:t>
            </a:r>
          </a:p>
        </p:txBody>
      </p:sp>
      <p:sp>
        <p:nvSpPr>
          <p:cNvPr id="8" name="TextBox 7"/>
          <p:cNvSpPr txBox="1"/>
          <p:nvPr/>
        </p:nvSpPr>
        <p:spPr>
          <a:xfrm>
            <a:off x="4818888" y="1408176"/>
            <a:ext cx="3794760" cy="2377440"/>
          </a:xfrm>
          <a:prstGeom prst="rect">
            <a:avLst/>
          </a:prstGeom>
          <a:noFill/>
        </p:spPr>
        <p:txBody>
          <a:bodyPr wrap="square">
            <a:spAutoFit/>
          </a:bodyPr>
          <a:lstStyle/>
          <a:p>
            <a:pPr>
              <a:spcAft>
                <a:spcPts val="800"/>
              </a:spcAft>
            </a:pPr>
            <a:r>
              <a:rPr sz="940" b="0" i="0">
                <a:solidFill>
                  <a:srgbClr val="1A1A1A"/>
                </a:solidFill>
                <a:latin typeface="Montserrat"/>
              </a:rPr>
              <a:t>•  Any trading claim in this report. It contains NO machine learning, verified by a repository-wide search.</a:t>
            </a:r>
          </a:p>
          <a:p>
            <a:pPr>
              <a:spcAft>
                <a:spcPts val="800"/>
              </a:spcAft>
            </a:pPr>
            <a:r>
              <a:rPr sz="940" b="0" i="0">
                <a:solidFill>
                  <a:srgbClr val="1A1A1A"/>
                </a:solidFill>
                <a:latin typeface="Montserrat"/>
              </a:rPr>
              <a:t>•  It trades gold on hand-written rules; it has never run this project's model, volume gate, labelling method, currency pairs or timeframe.</a:t>
            </a:r>
          </a:p>
          <a:p>
            <a:pPr>
              <a:spcAft>
                <a:spcPts val="800"/>
              </a:spcAft>
            </a:pPr>
            <a:r>
              <a:rPr sz="940" b="0" i="0">
                <a:solidFill>
                  <a:srgbClr val="1A1A1A"/>
                </a:solidFill>
                <a:latin typeface="Montserrat"/>
              </a:rPr>
              <a:t>•  Therefore the win rate, profit factor, drawdown and Sharpe in this report remain backtested results, which is an honest and defensible basis.</a:t>
            </a:r>
          </a:p>
        </p:txBody>
      </p:sp>
      <p:sp>
        <p:nvSpPr>
          <p:cNvPr id="9" name="TextBox 8"/>
          <p:cNvSpPr txBox="1"/>
          <p:nvPr/>
        </p:nvSpPr>
        <p:spPr>
          <a:xfrm>
            <a:off x="411480" y="3977639"/>
            <a:ext cx="8321040" cy="640080"/>
          </a:xfrm>
          <a:prstGeom prst="rect">
            <a:avLst/>
          </a:prstGeom>
          <a:noFill/>
        </p:spPr>
        <p:txBody>
          <a:bodyPr wrap="square" lIns="0" rIns="0" tIns="0" bIns="0" anchor="t">
            <a:spAutoFit/>
          </a:bodyPr>
          <a:lstStyle/>
          <a:p>
            <a:pPr algn="l"/>
            <a:r>
              <a:rPr sz="940" b="0" i="1">
                <a:solidFill>
                  <a:srgbClr val="1F3A5F"/>
                </a:solidFill>
                <a:latin typeface="Montserrat"/>
              </a:rPr>
              <a:t>Defensible statement: "The Linux/Wine deployment route was shown to be unworkable, and the native-Windows route was verified end to end in a sibling production deployment using the same execution architecture. The strategy results reported here are obtained by backtesting on held-out data with modelled transaction costs."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Evidence: The Live Deployment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29</a:t>
            </a:r>
          </a:p>
        </p:txBody>
      </p:sp>
      <p:sp>
        <p:nvSpPr>
          <p:cNvPr id="5" name="Rectangle 4"/>
          <p:cNvSpPr/>
          <p:nvPr/>
        </p:nvSpPr>
        <p:spPr>
          <a:xfrm>
            <a:off x="41148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TextBox 5"/>
          <p:cNvSpPr txBox="1"/>
          <p:nvPr/>
        </p:nvSpPr>
        <p:spPr>
          <a:xfrm>
            <a:off x="41148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7" name="TextBox 6"/>
          <p:cNvSpPr txBox="1"/>
          <p:nvPr/>
        </p:nvSpPr>
        <p:spPr>
          <a:xfrm>
            <a:off x="54864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MetaTrader 5 on the Windows host:
Trade / History tab showing positions placed by this system
REDACT: account number, balance, server name</a:t>
            </a:r>
          </a:p>
        </p:txBody>
      </p:sp>
      <p:sp>
        <p:nvSpPr>
          <p:cNvPr id="8" name="Rectangle 7"/>
          <p:cNvSpPr/>
          <p:nvPr/>
        </p:nvSpPr>
        <p:spPr>
          <a:xfrm>
            <a:off x="470916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9" name="TextBox 8"/>
          <p:cNvSpPr txBox="1"/>
          <p:nvPr/>
        </p:nvSpPr>
        <p:spPr>
          <a:xfrm>
            <a:off x="470916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10" name="TextBox 9"/>
          <p:cNvSpPr txBox="1"/>
          <p:nvPr/>
        </p:nvSpPr>
        <p:spPr>
          <a:xfrm>
            <a:off x="484632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Gadel dashboard or terminal
showing the shared execution layer running in production
REDACT: account numbers, balances, API keys</a:t>
            </a:r>
          </a:p>
        </p:txBody>
      </p:sp>
      <p:sp>
        <p:nvSpPr>
          <p:cNvPr id="11" name="TextBox 10"/>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9: Live execution evidence (identifying details redacted)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Relevance and Potential Impact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30</a:t>
            </a:r>
          </a:p>
        </p:txBody>
      </p:sp>
      <p:sp>
        <p:nvSpPr>
          <p:cNvPr id="5" name="TextBox 4"/>
          <p:cNvSpPr txBox="1"/>
          <p:nvPr/>
        </p:nvSpPr>
        <p:spPr>
          <a:xfrm>
            <a:off x="411480" y="932688"/>
            <a:ext cx="8321040" cy="1737360"/>
          </a:xfrm>
          <a:prstGeom prst="rect">
            <a:avLst/>
          </a:prstGeom>
          <a:noFill/>
        </p:spPr>
        <p:txBody>
          <a:bodyPr wrap="square" lIns="0" rIns="0" tIns="0" bIns="0">
            <a:spAutoFit/>
          </a:bodyPr>
          <a:lstStyle/>
          <a:p>
            <a:pPr>
              <a:spcAft>
                <a:spcPts val="400"/>
              </a:spcAft>
            </a:pPr>
            <a:r>
              <a:rPr sz="1080" b="1" i="0">
                <a:solidFill>
                  <a:srgbClr val="1A1A1A"/>
                </a:solidFill>
                <a:latin typeface="Montserrat"/>
              </a:rPr>
              <a:t>•  Who benefits:</a:t>
            </a:r>
          </a:p>
          <a:p>
            <a:pPr lvl="1">
              <a:spcAft>
                <a:spcPts val="400"/>
              </a:spcAft>
            </a:pPr>
            <a:r>
              <a:rPr sz="990" b="0" i="0">
                <a:solidFill>
                  <a:srgbClr val="333333"/>
                </a:solidFill>
                <a:latin typeface="Montserrat"/>
              </a:rPr>
              <a:t>–  Retail traders, who gain consistent rule execution and enforced risk limits instead of emotional decisions.</a:t>
            </a:r>
          </a:p>
          <a:p>
            <a:pPr lvl="1">
              <a:spcAft>
                <a:spcPts val="400"/>
              </a:spcAft>
            </a:pPr>
            <a:r>
              <a:rPr sz="990" b="0" i="0">
                <a:solidFill>
                  <a:srgbClr val="333333"/>
                </a:solidFill>
                <a:latin typeface="Montserrat"/>
              </a:rPr>
              <a:t>–  Students and researchers, who gain a fully reproducible evaluation method: every number in this project has a command that regenerates it.</a:t>
            </a:r>
          </a:p>
          <a:p>
            <a:pPr lvl="1">
              <a:spcAft>
                <a:spcPts val="400"/>
              </a:spcAft>
            </a:pPr>
            <a:r>
              <a:rPr sz="990" b="0" i="0">
                <a:solidFill>
                  <a:srgbClr val="333333"/>
                </a:solidFill>
                <a:latin typeface="Montserrat"/>
              </a:rPr>
              <a:t>–  Practitioners, who gain a documented negative result on deployment and on five widely-taught indicators.</a:t>
            </a:r>
          </a:p>
          <a:p>
            <a:pPr>
              <a:spcAft>
                <a:spcPts val="400"/>
              </a:spcAft>
            </a:pPr>
            <a:r>
              <a:rPr sz="1080" b="1" i="0">
                <a:solidFill>
                  <a:srgbClr val="1A1A1A"/>
                </a:solidFill>
                <a:latin typeface="Montserrat"/>
              </a:rPr>
              <a:t>•  Evidence of demand:</a:t>
            </a:r>
          </a:p>
        </p:txBody>
      </p:sp>
      <p:sp>
        <p:nvSpPr>
          <p:cNvPr id="6" name="Rectangle 5"/>
          <p:cNvSpPr/>
          <p:nvPr/>
        </p:nvSpPr>
        <p:spPr>
          <a:xfrm>
            <a:off x="411480" y="2715768"/>
            <a:ext cx="3931920" cy="173736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7" name="TextBox 6"/>
          <p:cNvSpPr txBox="1"/>
          <p:nvPr/>
        </p:nvSpPr>
        <p:spPr>
          <a:xfrm>
            <a:off x="411480" y="3328416"/>
            <a:ext cx="393192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8" name="TextBox 7"/>
          <p:cNvSpPr txBox="1"/>
          <p:nvPr/>
        </p:nvSpPr>
        <p:spPr>
          <a:xfrm>
            <a:off x="548640" y="3602736"/>
            <a:ext cx="3657600" cy="457200"/>
          </a:xfrm>
          <a:prstGeom prst="rect">
            <a:avLst/>
          </a:prstGeom>
          <a:noFill/>
        </p:spPr>
        <p:txBody>
          <a:bodyPr wrap="square" lIns="0" rIns="0" tIns="0" bIns="0" anchor="t">
            <a:spAutoFit/>
          </a:bodyPr>
          <a:lstStyle/>
          <a:p>
            <a:pPr algn="ctr"/>
            <a:r>
              <a:rPr sz="850" b="0" i="0">
                <a:solidFill>
                  <a:srgbClr val="8A8A8A"/>
                </a:solidFill>
                <a:latin typeface="Montserrat"/>
              </a:rPr>
              <a:t>Gadel waiting-list registrations
Show the count and the signup list (REDACT names and email addresses)</a:t>
            </a:r>
          </a:p>
        </p:txBody>
      </p:sp>
      <p:sp>
        <p:nvSpPr>
          <p:cNvPr id="9" name="TextBox 8"/>
          <p:cNvSpPr txBox="1"/>
          <p:nvPr/>
        </p:nvSpPr>
        <p:spPr>
          <a:xfrm>
            <a:off x="4572000" y="2715768"/>
            <a:ext cx="4160520" cy="2153412"/>
          </a:xfrm>
          <a:prstGeom prst="rect">
            <a:avLst/>
          </a:prstGeom>
          <a:noFill/>
        </p:spPr>
        <p:txBody>
          <a:bodyPr wrap="square" lIns="0" rIns="0" tIns="0" bIns="0">
            <a:spAutoFit/>
          </a:bodyPr>
          <a:lstStyle/>
          <a:p>
            <a:pPr>
              <a:spcAft>
                <a:spcPts val="500"/>
              </a:spcAft>
            </a:pPr>
            <a:r>
              <a:rPr sz="990" b="0" i="0">
                <a:solidFill>
                  <a:srgbClr val="1A1A1A"/>
                </a:solidFill>
                <a:latin typeface="Montserrat"/>
              </a:rPr>
              <a:t>•  Over 30 registrations on the live product's waiting list, with no paid advertising.</a:t>
            </a:r>
          </a:p>
          <a:p>
            <a:pPr>
              <a:spcAft>
                <a:spcPts val="500"/>
              </a:spcAft>
            </a:pPr>
            <a:r>
              <a:rPr sz="990" b="0" i="0">
                <a:solidFill>
                  <a:srgbClr val="1A1A1A"/>
                </a:solidFill>
                <a:latin typeface="Montserrat"/>
              </a:rPr>
              <a:t>•  This is expressed interest, not revenue, and is described as such.</a:t>
            </a:r>
          </a:p>
          <a:p>
            <a:pPr>
              <a:spcAft>
                <a:spcPts val="500"/>
              </a:spcAft>
            </a:pPr>
            <a:r>
              <a:rPr sz="990" b="0" i="0">
                <a:solidFill>
                  <a:srgbClr val="1A1A1A"/>
                </a:solidFill>
                <a:latin typeface="Montserrat"/>
              </a:rPr>
              <a:t>•  The academic contribution stands independently of any commercial outcome.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Contribution to Knowledge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31</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500"/>
              </a:spcAft>
            </a:pPr>
            <a:r>
              <a:rPr sz="1080" b="0" i="0">
                <a:solidFill>
                  <a:srgbClr val="1A1A1A"/>
                </a:solidFill>
                <a:latin typeface="Montserrat"/>
              </a:rPr>
              <a:t>•  A hybrid decision architecture in which a statistical volume filter and a Random Forest must agree, giving every trade both a statistical reason and a model probability, a directly auditable design.</a:t>
            </a:r>
          </a:p>
          <a:p>
            <a:pPr>
              <a:spcAft>
                <a:spcPts val="500"/>
              </a:spcAft>
            </a:pPr>
            <a:r>
              <a:rPr sz="1080" b="0" i="0">
                <a:solidFill>
                  <a:srgbClr val="1A1A1A"/>
                </a:solidFill>
                <a:latin typeface="Montserrat"/>
              </a:rPr>
              <a:t>•  Empirical evidence that triple-barrier labelling, aligning the training target with how a trade actually closes, is more consequential than any indicator tested here, turning both pairs from loss to profit.</a:t>
            </a:r>
          </a:p>
          <a:p>
            <a:pPr>
              <a:spcAft>
                <a:spcPts val="500"/>
              </a:spcAft>
            </a:pPr>
            <a:r>
              <a:rPr sz="1080" b="0" i="0">
                <a:solidFill>
                  <a:srgbClr val="1A1A1A"/>
                </a:solidFill>
                <a:latin typeface="Montserrat"/>
              </a:rPr>
              <a:t>•  Six documented negative results: RSI, MACD, ATR, higher-timeframe trend, time-of-day and order blocks each failed to generalise across two closely related currency pairs.</a:t>
            </a:r>
          </a:p>
          <a:p>
            <a:pPr>
              <a:spcAft>
                <a:spcPts val="500"/>
              </a:spcAft>
            </a:pPr>
            <a:r>
              <a:rPr sz="1080" b="0" i="0">
                <a:solidFill>
                  <a:srgbClr val="1A1A1A"/>
                </a:solidFill>
                <a:latin typeface="Montserrat"/>
              </a:rPr>
              <a:t>•  A demonstration that a headline win rate can be produced by exit geometry alone, with a no-skill baseline showing how to separate geometry from genuine skill, a method other studies can reuse.</a:t>
            </a:r>
          </a:p>
          <a:p>
            <a:pPr>
              <a:spcAft>
                <a:spcPts val="500"/>
              </a:spcAft>
            </a:pPr>
            <a:r>
              <a:rPr sz="1080" b="0" i="0">
                <a:solidFill>
                  <a:srgbClr val="1A1A1A"/>
                </a:solidFill>
                <a:latin typeface="Montserrat"/>
              </a:rPr>
              <a:t>•  A reproducible, costed evaluation protocol: sealed chronological test set, confidence intervals on every rate, and a published command for every number.</a:t>
            </a:r>
          </a:p>
          <a:p>
            <a:pPr>
              <a:spcAft>
                <a:spcPts val="500"/>
              </a:spcAft>
            </a:pPr>
            <a:r>
              <a:rPr sz="1080" b="0" i="0">
                <a:solidFill>
                  <a:srgbClr val="1A1A1A"/>
                </a:solidFill>
                <a:latin typeface="Montserrat"/>
              </a:rPr>
              <a:t>•  A documented deployment finding: MetaTrader 5's Python API cannot initialise under Wine, with the working native-Windows alternative and its architecture.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Work Left Undone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32</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080" b="1" i="0">
                <a:solidFill>
                  <a:srgbClr val="1A1A1A"/>
                </a:solidFill>
                <a:latin typeface="Montserrat"/>
              </a:rPr>
              <a:t>•  In progress:</a:t>
            </a:r>
          </a:p>
          <a:p>
            <a:pPr lvl="1">
              <a:spcAft>
                <a:spcPts val="400"/>
              </a:spcAft>
            </a:pPr>
            <a:r>
              <a:rPr sz="990" b="0" i="0">
                <a:solidFill>
                  <a:srgbClr val="333333"/>
                </a:solidFill>
                <a:latin typeface="Montserrat"/>
              </a:rPr>
              <a:t>–  A live execution session on a broker demo account, running on a Windows host, to record signal-to-fill latency against the 500 ms target. The system and the protocol are complete; the session needs calendar time because the volume gate fires roughly once or twice per pair per week.</a:t>
            </a:r>
          </a:p>
          <a:p>
            <a:pPr>
              <a:spcAft>
                <a:spcPts val="400"/>
              </a:spcAft>
            </a:pPr>
            <a:r>
              <a:rPr sz="1080" b="1" i="0">
                <a:solidFill>
                  <a:srgbClr val="1A1A1A"/>
                </a:solidFill>
                <a:latin typeface="Montserrat"/>
              </a:rPr>
              <a:t>•  Remaining:</a:t>
            </a:r>
          </a:p>
          <a:p>
            <a:pPr lvl="1">
              <a:spcAft>
                <a:spcPts val="400"/>
              </a:spcAft>
            </a:pPr>
            <a:r>
              <a:rPr sz="990" b="0" i="0">
                <a:solidFill>
                  <a:srgbClr val="333333"/>
                </a:solidFill>
                <a:latin typeface="Montserrat"/>
              </a:rPr>
              <a:t>–  Chapters 4 and 5 of the report: the measured material and figures already exist in the project documentation.</a:t>
            </a:r>
          </a:p>
          <a:p>
            <a:pPr lvl="1">
              <a:spcAft>
                <a:spcPts val="400"/>
              </a:spcAft>
            </a:pPr>
            <a:r>
              <a:rPr sz="990" b="0" i="0">
                <a:solidFill>
                  <a:srgbClr val="333333"/>
                </a:solidFill>
                <a:latin typeface="Montserrat"/>
              </a:rPr>
              <a:t>–  Applying the documented factual corrections to Chapters 1–3.</a:t>
            </a:r>
          </a:p>
          <a:p>
            <a:pPr>
              <a:spcAft>
                <a:spcPts val="400"/>
              </a:spcAft>
            </a:pPr>
            <a:r>
              <a:rPr sz="1080" b="1" i="0">
                <a:solidFill>
                  <a:srgbClr val="1A1A1A"/>
                </a:solidFill>
                <a:latin typeface="Montserrat"/>
              </a:rPr>
              <a:t>•  Identified for future work:</a:t>
            </a:r>
          </a:p>
          <a:p>
            <a:pPr lvl="1">
              <a:spcAft>
                <a:spcPts val="400"/>
              </a:spcAft>
            </a:pPr>
            <a:r>
              <a:rPr sz="990" b="0" i="0">
                <a:solidFill>
                  <a:srgbClr val="333333"/>
                </a:solidFill>
                <a:latin typeface="Montserrat"/>
              </a:rPr>
              <a:t>–  Aligning the training label fully with the executed trade, most likely through separate long-side and short-side models.</a:t>
            </a:r>
          </a:p>
          <a:p>
            <a:pPr lvl="1">
              <a:spcAft>
                <a:spcPts val="400"/>
              </a:spcAft>
            </a:pPr>
            <a:r>
              <a:rPr sz="990" b="0" i="0">
                <a:solidFill>
                  <a:srgbClr val="333333"/>
                </a:solidFill>
                <a:latin typeface="Montserrat"/>
              </a:rPr>
              <a:t>–  Meta-labelling: a second model deciding whether to accept each primary signal, and the standard route to raising precision at fixed risk-reward.</a:t>
            </a:r>
          </a:p>
          <a:p>
            <a:pPr lvl="1">
              <a:spcAft>
                <a:spcPts val="400"/>
              </a:spcAft>
            </a:pPr>
            <a:r>
              <a:rPr sz="990" b="0" i="0">
                <a:solidFill>
                  <a:srgbClr val="333333"/>
                </a:solidFill>
                <a:latin typeface="Montserrat"/>
              </a:rPr>
              <a:t>–  Extending beyond two pairs and one timeframe to test generalisation properly.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Conclusion</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33</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700"/>
              </a:spcAft>
            </a:pPr>
            <a:r>
              <a:rPr sz="1130" b="0" i="0">
                <a:solidFill>
                  <a:srgbClr val="1A1A1A"/>
                </a:solidFill>
                <a:latin typeface="Montserrat"/>
              </a:rPr>
              <a:t>•  A complete automated trading system was designed, implemented and evaluated: 13 modules, 231 automated tests, a dashboard, a containerised deployment and a live broker execution path.</a:t>
            </a:r>
          </a:p>
          <a:p>
            <a:pPr>
              <a:spcAft>
                <a:spcPts val="700"/>
              </a:spcAft>
            </a:pPr>
            <a:r>
              <a:rPr sz="1130" b="0" i="0">
                <a:solidFill>
                  <a:srgbClr val="1A1A1A"/>
                </a:solidFill>
                <a:latin typeface="Montserrat"/>
              </a:rPr>
              <a:t>•  On held-out data with transaction costs charged, it meets the win-rate and drawdown targets on both currency pairs and the profit-factor target on one; the Sharpe target is not met, and that is reported rather than adjusted away.</a:t>
            </a:r>
          </a:p>
          <a:p>
            <a:pPr>
              <a:spcAft>
                <a:spcPts val="700"/>
              </a:spcAft>
            </a:pPr>
            <a:r>
              <a:rPr sz="1130" b="0" i="0">
                <a:solidFill>
                  <a:srgbClr val="1A1A1A"/>
                </a:solidFill>
                <a:latin typeface="Montserrat"/>
              </a:rPr>
              <a:t>•  The most valuable outcomes are methodological: the labelling insight, the no-skill baseline that separates exit geometry from genuine skill, and six negative results reported in full.</a:t>
            </a:r>
          </a:p>
          <a:p>
            <a:pPr>
              <a:spcAft>
                <a:spcPts val="700"/>
              </a:spcAft>
            </a:pPr>
            <a:r>
              <a:rPr sz="1130" b="0" i="0">
                <a:solidFill>
                  <a:srgbClr val="1A1A1A"/>
                </a:solidFill>
                <a:latin typeface="Montserrat"/>
              </a:rPr>
              <a:t>•  The execution architecture designed here is already running in a live production system, while the trading results reported remain, correctly, backtested results.</a:t>
            </a:r>
          </a:p>
          <a:p>
            <a:pPr>
              <a:spcAft>
                <a:spcPts val="700"/>
              </a:spcAft>
            </a:pPr>
            <a:r>
              <a:rPr sz="1130" b="1" i="0">
                <a:solidFill>
                  <a:srgbClr val="1A1A1A"/>
                </a:solidFill>
                <a:latin typeface="Montserrat"/>
              </a:rPr>
              <a:t>•  Every claim in this presentation is reproducible from the project repository with a single documented command.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References (1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34</a:t>
            </a:r>
          </a:p>
        </p:txBody>
      </p:sp>
      <p:sp>
        <p:nvSpPr>
          <p:cNvPr id="5" name="TextBox 4"/>
          <p:cNvSpPr txBox="1"/>
          <p:nvPr/>
        </p:nvSpPr>
        <p:spPr>
          <a:xfrm>
            <a:off x="411480" y="978408"/>
            <a:ext cx="8321040" cy="3566160"/>
          </a:xfrm>
          <a:prstGeom prst="rect">
            <a:avLst/>
          </a:prstGeom>
          <a:noFill/>
        </p:spPr>
        <p:txBody>
          <a:bodyPr wrap="square">
            <a:spAutoFit/>
          </a:bodyPr>
          <a:lstStyle/>
          <a:p>
            <a:pPr>
              <a:spcAft>
                <a:spcPts val="900"/>
              </a:spcAft>
            </a:pPr>
            <a:r>
              <a:rPr sz="940" b="0" i="0">
                <a:solidFill>
                  <a:srgbClr val="1A1A1A"/>
                </a:solidFill>
                <a:latin typeface="Montserrat"/>
              </a:rPr>
              <a:t>Bailey, D.H., Borwein, J., Lopez de Prado, M. and Zhu, Q.J. (2014). "Pseudo-mathematics and financial charlatanism: the effects of backtest overfitting on out-of-sample performance". Notices of the AMS, 61(5), pp. 458–471.</a:t>
            </a:r>
          </a:p>
          <a:p>
            <a:pPr>
              <a:spcAft>
                <a:spcPts val="900"/>
              </a:spcAft>
            </a:pPr>
            <a:r>
              <a:rPr sz="940" b="0" i="0">
                <a:solidFill>
                  <a:srgbClr val="1A1A1A"/>
                </a:solidFill>
                <a:latin typeface="Montserrat"/>
              </a:rPr>
              <a:t>Barber, B.M. and Odean, T. (2000). "Trading is hazardous to your wealth: the common stock investment performance of individual investors". Journal of Finance, 55(2), pp. 773–806.</a:t>
            </a:r>
          </a:p>
          <a:p>
            <a:pPr>
              <a:spcAft>
                <a:spcPts val="900"/>
              </a:spcAft>
            </a:pPr>
            <a:r>
              <a:rPr sz="940" b="0" i="0">
                <a:solidFill>
                  <a:srgbClr val="1A1A1A"/>
                </a:solidFill>
                <a:latin typeface="Montserrat"/>
              </a:rPr>
              <a:t>Chong, E., Han, C. and Park, F.C. (2017). "Deep learning networks for stock market analysis and prediction". Expert Systems with Applications, 83, pp. 187–205.</a:t>
            </a:r>
          </a:p>
          <a:p>
            <a:pPr>
              <a:spcAft>
                <a:spcPts val="900"/>
              </a:spcAft>
            </a:pPr>
            <a:r>
              <a:rPr sz="940" b="0" i="0">
                <a:solidFill>
                  <a:srgbClr val="1A1A1A"/>
                </a:solidFill>
                <a:latin typeface="Montserrat"/>
              </a:rPr>
              <a:t>European Securities and Markets Authority (2018). Product Intervention Measures relating to Contracts for Differences. ESMA35-43-1135.</a:t>
            </a:r>
          </a:p>
          <a:p>
            <a:pPr>
              <a:spcAft>
                <a:spcPts val="900"/>
              </a:spcAft>
            </a:pPr>
            <a:r>
              <a:rPr sz="940" b="0" i="0">
                <a:solidFill>
                  <a:srgbClr val="1A1A1A"/>
                </a:solidFill>
                <a:latin typeface="Montserrat"/>
              </a:rPr>
              <a:t>Hu, Z., Zhao, Y. and Khushi, M. (2021). "A survey of forex and stock price prediction using deep learning". Applied System Innovation, 4(1), 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References (2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35</a:t>
            </a:r>
          </a:p>
        </p:txBody>
      </p:sp>
      <p:sp>
        <p:nvSpPr>
          <p:cNvPr id="5" name="TextBox 4"/>
          <p:cNvSpPr txBox="1"/>
          <p:nvPr/>
        </p:nvSpPr>
        <p:spPr>
          <a:xfrm>
            <a:off x="411480" y="978408"/>
            <a:ext cx="8321040" cy="3566160"/>
          </a:xfrm>
          <a:prstGeom prst="rect">
            <a:avLst/>
          </a:prstGeom>
          <a:noFill/>
        </p:spPr>
        <p:txBody>
          <a:bodyPr wrap="square">
            <a:spAutoFit/>
          </a:bodyPr>
          <a:lstStyle/>
          <a:p>
            <a:pPr>
              <a:spcAft>
                <a:spcPts val="900"/>
              </a:spcAft>
            </a:pPr>
            <a:r>
              <a:rPr sz="940" b="0" i="0">
                <a:solidFill>
                  <a:srgbClr val="1A1A1A"/>
                </a:solidFill>
                <a:latin typeface="Montserrat"/>
              </a:rPr>
              <a:t>Lopez de Prado, M. (2018). Advances in Financial Machine Learning. Hoboken, New Jersey: John Wiley &amp; Sons.</a:t>
            </a:r>
          </a:p>
          <a:p>
            <a:pPr>
              <a:spcAft>
                <a:spcPts val="900"/>
              </a:spcAft>
            </a:pPr>
            <a:r>
              <a:rPr sz="940" b="0" i="0">
                <a:solidFill>
                  <a:srgbClr val="1A1A1A"/>
                </a:solidFill>
                <a:latin typeface="Montserrat"/>
              </a:rPr>
              <a:t>Pedregosa, F. et al. (2011). "Scikit-learn: machine learning in Python". Journal of Machine Learning Research, 12, pp. 2825–2830.</a:t>
            </a:r>
          </a:p>
          <a:p>
            <a:pPr>
              <a:spcAft>
                <a:spcPts val="900"/>
              </a:spcAft>
            </a:pPr>
            <a:r>
              <a:rPr sz="940" b="0" i="0">
                <a:solidFill>
                  <a:srgbClr val="1A1A1A"/>
                </a:solidFill>
                <a:latin typeface="Montserrat"/>
              </a:rPr>
              <a:t>Sirignano, J. and Cont, R. (2019). "Universal features of price formation in financial markets: perspectives from deep learning". Quantitative Finance, 19(9), pp. 1449–1459.</a:t>
            </a:r>
          </a:p>
          <a:p>
            <a:pPr>
              <a:spcAft>
                <a:spcPts val="900"/>
              </a:spcAft>
            </a:pPr>
            <a:r>
              <a:rPr sz="940" b="0" i="0">
                <a:solidFill>
                  <a:srgbClr val="1A1A1A"/>
                </a:solidFill>
                <a:latin typeface="Montserrat"/>
              </a:rPr>
              <a:t>Wilson, E.B. (1927). "Probable inference, the law of succession, and statistical inference". Journal of the American Statistical Association, 22(158), pp. 209–212.</a:t>
            </a:r>
          </a:p>
          <a:p>
            <a:pPr>
              <a:spcAft>
                <a:spcPts val="900"/>
              </a:spcAft>
            </a:pPr>
            <a:r>
              <a:rPr sz="940" b="0" i="0">
                <a:solidFill>
                  <a:srgbClr val="1A1A1A"/>
                </a:solidFill>
                <a:latin typeface="Montserrat"/>
              </a:rPr>
              <a:t>Yildirim, D.C., Toroslu, I.H. and Fiore, U. (2021). "Forecasting directional movement of Forex data using LSTM with technical and macroeconomic indicators". Financial Innovation, 7(1), 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0972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3" name="TextBox 2"/>
          <p:cNvSpPr txBox="1"/>
          <p:nvPr/>
        </p:nvSpPr>
        <p:spPr>
          <a:xfrm>
            <a:off x="411480" y="1965960"/>
            <a:ext cx="8321040" cy="548640"/>
          </a:xfrm>
          <a:prstGeom prst="rect">
            <a:avLst/>
          </a:prstGeom>
          <a:noFill/>
        </p:spPr>
        <p:txBody>
          <a:bodyPr wrap="square" lIns="0" rIns="0" tIns="0" bIns="0" anchor="t">
            <a:spAutoFit/>
          </a:bodyPr>
          <a:lstStyle/>
          <a:p>
            <a:pPr algn="ctr"/>
            <a:r>
              <a:rPr sz="3400" b="1" i="0">
                <a:solidFill>
                  <a:srgbClr val="1F3A5F"/>
                </a:solidFill>
                <a:latin typeface="Montserrat"/>
              </a:rPr>
              <a:t>Thank You</a:t>
            </a:r>
          </a:p>
        </p:txBody>
      </p:sp>
      <p:sp>
        <p:nvSpPr>
          <p:cNvPr id="4" name="TextBox 3"/>
          <p:cNvSpPr txBox="1"/>
          <p:nvPr/>
        </p:nvSpPr>
        <p:spPr>
          <a:xfrm>
            <a:off x="411480" y="2697480"/>
            <a:ext cx="8321040" cy="365760"/>
          </a:xfrm>
          <a:prstGeom prst="rect">
            <a:avLst/>
          </a:prstGeom>
          <a:noFill/>
        </p:spPr>
        <p:txBody>
          <a:bodyPr wrap="square" lIns="0" rIns="0" tIns="0" bIns="0" anchor="t">
            <a:spAutoFit/>
          </a:bodyPr>
          <a:lstStyle/>
          <a:p>
            <a:pPr algn="ctr"/>
            <a:r>
              <a:rPr sz="1400" b="0" i="0">
                <a:solidFill>
                  <a:srgbClr val="555555"/>
                </a:solidFill>
                <a:latin typeface="Montserrat"/>
              </a:rPr>
              <a:t>Questions are welcome.</a:t>
            </a:r>
          </a:p>
        </p:txBody>
      </p:sp>
      <p:sp>
        <p:nvSpPr>
          <p:cNvPr id="5" name="TextBox 4"/>
          <p:cNvSpPr txBox="1"/>
          <p:nvPr/>
        </p:nvSpPr>
        <p:spPr>
          <a:xfrm>
            <a:off x="411480" y="3429000"/>
            <a:ext cx="8321040" cy="457200"/>
          </a:xfrm>
          <a:prstGeom prst="rect">
            <a:avLst/>
          </a:prstGeom>
          <a:noFill/>
        </p:spPr>
        <p:txBody>
          <a:bodyPr wrap="square" lIns="0" rIns="0" tIns="0" bIns="0" anchor="t">
            <a:spAutoFit/>
          </a:bodyPr>
          <a:lstStyle/>
          <a:p>
            <a:pPr algn="ctr"/>
            <a:r>
              <a:rPr sz="1030" b="0" i="0">
                <a:solidFill>
                  <a:srgbClr val="8A8A8A"/>
                </a:solidFill>
                <a:latin typeface="Montserrat"/>
              </a:rPr>
              <a:t>AWOSUSI GABRIEL AYOMIDE   •   CSC/2019/079   •   CSC 504</a:t>
            </a:r>
          </a:p>
        </p:txBody>
      </p:sp>
    </p:spTree>
  </p:cSld>
  <p:clrMapOvr>
    <a:masterClrMapping/>
  </p:clrMapOvr>
</p:sld>
</file>

<file path=ppt/theme/theme1.xml><?xml version="1.0" encoding="utf-8"?>
<a:theme xmlns:a="http://schemas.openxmlformats.org/drawingml/2006/main" name="Modern Writer">
  <a:themeElements>
    <a:clrScheme name="Modern Writer">
      <a:dk1>
        <a:srgbClr val="E91D63"/>
      </a:dk1>
      <a:lt1>
        <a:srgbClr val="FFFFFF"/>
      </a:lt1>
      <a:dk2>
        <a:srgbClr val="424242"/>
      </a:dk2>
      <a:lt2>
        <a:srgbClr val="999999"/>
      </a:lt2>
      <a:accent1>
        <a:srgbClr val="607D8B"/>
      </a:accent1>
      <a:accent2>
        <a:srgbClr val="673AB7"/>
      </a:accent2>
      <a:accent3>
        <a:srgbClr val="9C26B0"/>
      </a:accent3>
      <a:accent4>
        <a:srgbClr val="0090AC"/>
      </a:accent4>
      <a:accent5>
        <a:srgbClr val="01AFD1"/>
      </a:accent5>
      <a:accent6>
        <a:srgbClr val="F8E71C"/>
      </a:accent6>
      <a:hlink>
        <a:srgbClr val="01AFD1"/>
      </a:hlink>
      <a:folHlink>
        <a:srgbClr val="01AFD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odern Writer">
  <a:themeElements>
    <a:clrScheme name="Modern Writer">
      <a:dk1>
        <a:srgbClr val="E91D63"/>
      </a:dk1>
      <a:lt1>
        <a:srgbClr val="FFFFFF"/>
      </a:lt1>
      <a:dk2>
        <a:srgbClr val="424242"/>
      </a:dk2>
      <a:lt2>
        <a:srgbClr val="999999"/>
      </a:lt2>
      <a:accent1>
        <a:srgbClr val="607D8B"/>
      </a:accent1>
      <a:accent2>
        <a:srgbClr val="673AB7"/>
      </a:accent2>
      <a:accent3>
        <a:srgbClr val="9C26B0"/>
      </a:accent3>
      <a:accent4>
        <a:srgbClr val="0090AC"/>
      </a:accent4>
      <a:accent5>
        <a:srgbClr val="01AFD1"/>
      </a:accent5>
      <a:accent6>
        <a:srgbClr val="F8E71C"/>
      </a:accent6>
      <a:hlink>
        <a:srgbClr val="01AFD1"/>
      </a:hlink>
      <a:folHlink>
        <a:srgbClr val="01AFD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97</TotalTime>
  <Words>2411</Words>
  <Application>Microsoft Macintosh PowerPoint</Application>
  <PresentationFormat>On-screen Show (16:9)</PresentationFormat>
  <Paragraphs>227</Paragraphs>
  <Slides>30</Slides>
  <Notes>30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30</vt:i4>
      </vt:variant>
    </vt:vector>
  </HeadingPairs>
  <TitlesOfParts>
    <vt:vector size="37" baseType="lpstr">
      <vt:lpstr>Source Code Pro</vt:lpstr>
      <vt:lpstr>Courier New</vt:lpstr>
      <vt:lpstr>Oswald</vt:lpstr>
      <vt:lpstr>Arial</vt:lpstr>
      <vt:lpstr>Times New Roman</vt:lpstr>
      <vt:lpstr>Modern Writer</vt:lpstr>
      <vt:lpstr>Modern Writer</vt:lpstr>
      <vt:lpstr>CPE 503 PRESENTATION  ON  Development of an mHealth System to Improve Antenatal Care </vt:lpstr>
      <vt:lpstr>Presentation Outline</vt:lpstr>
      <vt:lpstr>INTRODUCTION</vt:lpstr>
      <vt:lpstr>INTRODUCTION(CONT’D)</vt:lpstr>
      <vt:lpstr>LITERATURE REVIEW TABLE</vt:lpstr>
      <vt:lpstr>LITERATURE REVIEW TABLE</vt:lpstr>
      <vt:lpstr>LITERATURE REVIEW TABLE</vt:lpstr>
      <vt:lpstr>LITERATURE REVIEW TABLE</vt:lpstr>
      <vt:lpstr>STATEMENT OF PROBLEMS</vt:lpstr>
      <vt:lpstr>AIM AND OBJECTIVES </vt:lpstr>
      <vt:lpstr>METHODOLOGY</vt:lpstr>
      <vt:lpstr>JUSTIFICATION</vt:lpstr>
      <vt:lpstr>SCOPE OF THE PROJECT</vt:lpstr>
      <vt:lpstr>Work Done</vt:lpstr>
      <vt:lpstr>Work Done</vt:lpstr>
      <vt:lpstr>Work Done: Design Specification</vt:lpstr>
      <vt:lpstr>Design Specification(Contd.)</vt:lpstr>
      <vt:lpstr>Design Specification(Contd.)</vt:lpstr>
      <vt:lpstr>Design Specification(Contd.)</vt:lpstr>
      <vt:lpstr>Design Specification(Condt.)</vt:lpstr>
      <vt:lpstr>Design Specification(Condt.)</vt:lpstr>
      <vt:lpstr>Activity Diagram</vt:lpstr>
      <vt:lpstr>Class Diagram</vt:lpstr>
      <vt:lpstr>Work Left Undone</vt:lpstr>
      <vt:lpstr>EXPECTED CONTRIBUTION TO KNOWLEDGE</vt:lpstr>
      <vt:lpstr>CONCLUSION</vt:lpstr>
      <vt:lpstr>REFERENCES</vt:lpstr>
      <vt:lpstr>REFERENCES</vt:lpstr>
      <vt:lpstr>REFERENCES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CPE 503 PRESENTATION  ON  Development of an mHealth System to Improve Antenatal Care </dc:title>
  <cp:lastModifiedBy>Ishaya Peni Gambo</cp:lastModifiedBy>
  <cp:revision>11</cp:revision>
  <dcterms:modified xsi:type="dcterms:W3CDTF">2023-03-23T10:20:03Z</dcterms:modified>
</cp:coreProperties>
</file>